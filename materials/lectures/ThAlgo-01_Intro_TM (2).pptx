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7"/>
  </p:notesMasterIdLst>
  <p:sldIdLst>
    <p:sldId id="256" r:id="rId2"/>
    <p:sldId id="257" r:id="rId3"/>
    <p:sldId id="260" r:id="rId4"/>
    <p:sldId id="259" r:id="rId5"/>
    <p:sldId id="258" r:id="rId6"/>
    <p:sldId id="272" r:id="rId7"/>
    <p:sldId id="261" r:id="rId8"/>
    <p:sldId id="351" r:id="rId9"/>
    <p:sldId id="354" r:id="rId10"/>
    <p:sldId id="352" r:id="rId11"/>
    <p:sldId id="353" r:id="rId12"/>
    <p:sldId id="355" r:id="rId13"/>
    <p:sldId id="356" r:id="rId14"/>
    <p:sldId id="357" r:id="rId15"/>
    <p:sldId id="350" r:id="rId16"/>
    <p:sldId id="358" r:id="rId17"/>
    <p:sldId id="340" r:id="rId18"/>
    <p:sldId id="361" r:id="rId19"/>
    <p:sldId id="266" r:id="rId20"/>
    <p:sldId id="267" r:id="rId21"/>
    <p:sldId id="264" r:id="rId22"/>
    <p:sldId id="341" r:id="rId23"/>
    <p:sldId id="268" r:id="rId24"/>
    <p:sldId id="342" r:id="rId25"/>
    <p:sldId id="271" r:id="rId26"/>
    <p:sldId id="344" r:id="rId27"/>
    <p:sldId id="274" r:id="rId28"/>
    <p:sldId id="275" r:id="rId29"/>
    <p:sldId id="276" r:id="rId30"/>
    <p:sldId id="277" r:id="rId31"/>
    <p:sldId id="278" r:id="rId32"/>
    <p:sldId id="279" r:id="rId33"/>
    <p:sldId id="336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0" r:id="rId65"/>
    <p:sldId id="311" r:id="rId66"/>
    <p:sldId id="312" r:id="rId67"/>
    <p:sldId id="313" r:id="rId68"/>
    <p:sldId id="314" r:id="rId69"/>
    <p:sldId id="315" r:id="rId70"/>
    <p:sldId id="316" r:id="rId71"/>
    <p:sldId id="317" r:id="rId72"/>
    <p:sldId id="318" r:id="rId73"/>
    <p:sldId id="319" r:id="rId74"/>
    <p:sldId id="320" r:id="rId75"/>
    <p:sldId id="321" r:id="rId76"/>
    <p:sldId id="322" r:id="rId77"/>
    <p:sldId id="323" r:id="rId78"/>
    <p:sldId id="324" r:id="rId79"/>
    <p:sldId id="325" r:id="rId80"/>
    <p:sldId id="326" r:id="rId81"/>
    <p:sldId id="327" r:id="rId82"/>
    <p:sldId id="328" r:id="rId83"/>
    <p:sldId id="337" r:id="rId84"/>
    <p:sldId id="346" r:id="rId85"/>
    <p:sldId id="329" r:id="rId86"/>
    <p:sldId id="330" r:id="rId87"/>
    <p:sldId id="331" r:id="rId88"/>
    <p:sldId id="332" r:id="rId89"/>
    <p:sldId id="333" r:id="rId90"/>
    <p:sldId id="334" r:id="rId91"/>
    <p:sldId id="359" r:id="rId92"/>
    <p:sldId id="269" r:id="rId93"/>
    <p:sldId id="348" r:id="rId94"/>
    <p:sldId id="360" r:id="rId95"/>
    <p:sldId id="270" r:id="rId96"/>
  </p:sldIdLst>
  <p:sldSz cx="12192000" cy="6858000"/>
  <p:notesSz cx="6858000" cy="9144000"/>
  <p:defaultTextStyle>
    <a:defPPr>
      <a:defRPr lang="lv-L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340" autoAdjust="0"/>
  </p:normalViewPr>
  <p:slideViewPr>
    <p:cSldViewPr snapToGrid="0">
      <p:cViewPr varScale="1">
        <p:scale>
          <a:sx n="106" d="100"/>
          <a:sy n="106" d="100"/>
        </p:scale>
        <p:origin x="654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E1E1C3-F5D8-401B-B21D-A24EAB6B660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0958CC-5868-40D4-9028-DE0B5B822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436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DEE73-E479-4337-B8BB-8B98DB40E099}" type="datetimeFigureOut">
              <a:rPr lang="lv-LV" smtClean="0"/>
              <a:t>11.02.2026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3BE73-926B-4E25-A003-FF7098B6D2FF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06221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DEE73-E479-4337-B8BB-8B98DB40E099}" type="datetimeFigureOut">
              <a:rPr lang="lv-LV" smtClean="0"/>
              <a:t>11.02.2026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3BE73-926B-4E25-A003-FF7098B6D2FF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553587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DEE73-E479-4337-B8BB-8B98DB40E099}" type="datetimeFigureOut">
              <a:rPr lang="lv-LV" smtClean="0"/>
              <a:t>11.02.2026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3BE73-926B-4E25-A003-FF7098B6D2FF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607259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DEE73-E479-4337-B8BB-8B98DB40E099}" type="datetimeFigureOut">
              <a:rPr lang="lv-LV" smtClean="0"/>
              <a:t>11.02.2026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3BE73-926B-4E25-A003-FF7098B6D2FF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3892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DEE73-E479-4337-B8BB-8B98DB40E099}" type="datetimeFigureOut">
              <a:rPr lang="lv-LV" smtClean="0"/>
              <a:t>11.02.2026</a:t>
            </a:fld>
            <a:endParaRPr lang="lv-L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3BE73-926B-4E25-A003-FF7098B6D2FF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4267594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DEE73-E479-4337-B8BB-8B98DB40E099}" type="datetimeFigureOut">
              <a:rPr lang="lv-LV" smtClean="0"/>
              <a:t>11.02.2026</a:t>
            </a:fld>
            <a:endParaRPr lang="lv-L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3BE73-926B-4E25-A003-FF7098B6D2FF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4265870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DEE73-E479-4337-B8BB-8B98DB40E099}" type="datetimeFigureOut">
              <a:rPr lang="lv-LV" smtClean="0"/>
              <a:t>11.02.2026</a:t>
            </a:fld>
            <a:endParaRPr lang="lv-L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3BE73-926B-4E25-A003-FF7098B6D2FF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685062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DEE73-E479-4337-B8BB-8B98DB40E099}" type="datetimeFigureOut">
              <a:rPr lang="lv-LV" smtClean="0"/>
              <a:t>11.02.2026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3BE73-926B-4E25-A003-FF7098B6D2FF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258790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v-LV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DEE73-E479-4337-B8BB-8B98DB40E099}" type="datetimeFigureOut">
              <a:rPr lang="lv-LV" smtClean="0"/>
              <a:t>11.02.2026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3BE73-926B-4E25-A003-FF7098B6D2FF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64827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DEE73-E479-4337-B8BB-8B98DB40E099}" type="datetimeFigureOut">
              <a:rPr lang="lv-LV" smtClean="0"/>
              <a:t>11.02.2026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3BE73-926B-4E25-A003-FF7098B6D2FF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59006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DEE73-E479-4337-B8BB-8B98DB40E099}" type="datetimeFigureOut">
              <a:rPr lang="lv-LV" smtClean="0"/>
              <a:t>11.02.2026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3BE73-926B-4E25-A003-FF7098B6D2FF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43529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DEE73-E479-4337-B8BB-8B98DB40E099}" type="datetimeFigureOut">
              <a:rPr lang="lv-LV" smtClean="0"/>
              <a:t>11.02.2026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3BE73-926B-4E25-A003-FF7098B6D2FF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146014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v-LV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studijas.lu.lv/" TargetMode="External"/><Relationship Id="rId2" Type="http://schemas.openxmlformats.org/officeDocument/2006/relationships/hyperlink" Target="http://home.lu.lv/~sd80008/algo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mailto:kravchenko@gmail.com" TargetMode="External"/><Relationship Id="rId4" Type="http://schemas.openxmlformats.org/officeDocument/2006/relationships/hyperlink" Target="mailto:dmitrijs.kravchenko@lu.lv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fontAlgn="base"/>
            <a:r>
              <a:rPr lang="en-US" b="1" noProof="0" dirty="0"/>
              <a:t>Theory of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032246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Wednesdays, 16:30 – 1</a:t>
            </a:r>
            <a:r>
              <a:rPr lang="ru-RU" noProof="0" dirty="0"/>
              <a:t>9</a:t>
            </a:r>
            <a:r>
              <a:rPr lang="en-US" noProof="0" dirty="0"/>
              <a:t>:5</a:t>
            </a:r>
            <a:r>
              <a:rPr lang="ru-RU" dirty="0"/>
              <a:t>0</a:t>
            </a:r>
            <a:endParaRPr lang="en-US" noProof="0" dirty="0"/>
          </a:p>
          <a:p>
            <a:r>
              <a:rPr lang="en-US" noProof="0" dirty="0"/>
              <a:t>Feel free to interrupt and ask questions at any time! (except today)</a:t>
            </a:r>
          </a:p>
          <a:p>
            <a:r>
              <a:rPr lang="en-US" dirty="0"/>
              <a:t>Latvian speakers are advised to join the same course by </a:t>
            </a:r>
            <a:r>
              <a:rPr lang="en-US" dirty="0" err="1"/>
              <a:t>A.Ambainis</a:t>
            </a:r>
            <a:endParaRPr lang="en-US" dirty="0"/>
          </a:p>
          <a:p>
            <a:pPr marL="0" indent="0" algn="r">
              <a:buNone/>
            </a:pPr>
            <a:r>
              <a:rPr lang="en-US" noProof="0" dirty="0"/>
              <a:t>(and all other courses </a:t>
            </a:r>
            <a:r>
              <a:rPr lang="en-US" dirty="0"/>
              <a:t>by him)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91212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Grading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TBA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73367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Useful links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581892" y="1840057"/>
            <a:ext cx="5256212" cy="422680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u="sng" noProof="0" dirty="0"/>
              <a:t>Sources</a:t>
            </a:r>
            <a:endParaRPr lang="en-US" noProof="0" dirty="0"/>
          </a:p>
          <a:p>
            <a:endParaRPr lang="en-US" noProof="0" dirty="0">
              <a:hlinkClick r:id="rId2"/>
            </a:endParaRPr>
          </a:p>
          <a:p>
            <a:r>
              <a:rPr lang="en-US" noProof="0" dirty="0">
                <a:hlinkClick r:id="rId2"/>
              </a:rPr>
              <a:t>http://home.lu.lv/~sd80008/algo</a:t>
            </a:r>
            <a:endParaRPr lang="en-US" noProof="0" dirty="0"/>
          </a:p>
          <a:p>
            <a:r>
              <a:rPr lang="en-US" noProof="0" dirty="0"/>
              <a:t>Michael </a:t>
            </a:r>
            <a:r>
              <a:rPr lang="en-US" noProof="0" dirty="0" err="1"/>
              <a:t>Sipser</a:t>
            </a:r>
            <a:r>
              <a:rPr lang="en-US" noProof="0" dirty="0"/>
              <a:t>. </a:t>
            </a:r>
            <a:r>
              <a:rPr lang="en-US" b="1" noProof="0" dirty="0"/>
              <a:t>Introduction to the Theory of Computation.</a:t>
            </a:r>
            <a:r>
              <a:rPr lang="en-US" noProof="0" dirty="0"/>
              <a:t> </a:t>
            </a:r>
          </a:p>
          <a:p>
            <a:r>
              <a:rPr lang="en-US" noProof="0" dirty="0">
                <a:hlinkClick r:id="rId3"/>
              </a:rPr>
              <a:t>https://estudijas.lu.lv/</a:t>
            </a:r>
            <a:br>
              <a:rPr lang="en-US" noProof="0" dirty="0"/>
            </a:br>
            <a:r>
              <a:rPr lang="en-US" noProof="0" dirty="0"/>
              <a:t>[mostly in Latvian]</a:t>
            </a:r>
          </a:p>
          <a:p>
            <a:r>
              <a:rPr lang="en-US" noProof="0" dirty="0"/>
              <a:t>Slides from previous years (?)</a:t>
            </a:r>
          </a:p>
          <a:p>
            <a:r>
              <a:rPr lang="en-US" dirty="0"/>
              <a:t>Recorded lectures, current slides</a:t>
            </a:r>
            <a:endParaRPr lang="en-US" noProof="0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096000" y="1840057"/>
            <a:ext cx="5437909" cy="368458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u="sng" noProof="0" dirty="0"/>
              <a:t>Contacts</a:t>
            </a:r>
          </a:p>
          <a:p>
            <a:pPr marL="0" indent="0" algn="ctr">
              <a:buNone/>
            </a:pPr>
            <a:endParaRPr lang="en-US" u="sng" noProof="0" dirty="0"/>
          </a:p>
          <a:p>
            <a:r>
              <a:rPr lang="en-US" noProof="0" dirty="0"/>
              <a:t>Dmitry Kravchenko</a:t>
            </a:r>
          </a:p>
          <a:p>
            <a:r>
              <a:rPr lang="en-US" noProof="0" dirty="0"/>
              <a:t>E-mail: </a:t>
            </a:r>
            <a:r>
              <a:rPr lang="en-US" noProof="0" dirty="0">
                <a:hlinkClick r:id="rId4"/>
              </a:rPr>
              <a:t>dmitrijs.kravchenko@lu.lv</a:t>
            </a:r>
            <a:endParaRPr lang="en-US" noProof="0" dirty="0"/>
          </a:p>
          <a:p>
            <a:pPr marL="457200" lvl="1" indent="0" algn="r">
              <a:buNone/>
            </a:pPr>
            <a:r>
              <a:rPr lang="en-US" sz="2800" noProof="0" dirty="0"/>
              <a:t>or </a:t>
            </a:r>
            <a:r>
              <a:rPr lang="en-US" sz="2800" noProof="0" dirty="0">
                <a:hlinkClick r:id="rId5"/>
              </a:rPr>
              <a:t>kravchenko@gmail.com</a:t>
            </a:r>
            <a:endParaRPr lang="en-US" sz="2800" noProof="0" dirty="0"/>
          </a:p>
          <a:p>
            <a:r>
              <a:rPr lang="en-US" noProof="0" dirty="0"/>
              <a:t>E-studies: </a:t>
            </a:r>
            <a:r>
              <a:rPr lang="en-US" noProof="0" dirty="0">
                <a:hlinkClick r:id="rId3"/>
              </a:rPr>
              <a:t>https://estudijas.lu.lv/</a:t>
            </a:r>
            <a:r>
              <a:rPr lang="en-US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8707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Topics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56702"/>
          </a:xfrm>
        </p:spPr>
        <p:txBody>
          <a:bodyPr>
            <a:normAutofit fontScale="85000" lnSpcReduction="20000"/>
          </a:bodyPr>
          <a:lstStyle/>
          <a:p>
            <a:r>
              <a:rPr lang="en-US" noProof="0" dirty="0"/>
              <a:t>Turing machine</a:t>
            </a:r>
            <a:endParaRPr lang="lv-LV" noProof="0" dirty="0"/>
          </a:p>
          <a:p>
            <a:pPr lvl="1"/>
            <a:r>
              <a:rPr lang="lv-LV" dirty="0" err="1"/>
              <a:t>Decision</a:t>
            </a:r>
            <a:r>
              <a:rPr lang="lv-LV" dirty="0"/>
              <a:t> </a:t>
            </a:r>
            <a:r>
              <a:rPr lang="lv-LV" dirty="0" err="1"/>
              <a:t>problems</a:t>
            </a:r>
            <a:endParaRPr lang="en-US" noProof="0" dirty="0"/>
          </a:p>
          <a:p>
            <a:pPr lvl="1"/>
            <a:r>
              <a:rPr lang="lv-LV" noProof="0" dirty="0" err="1"/>
              <a:t>Turing</a:t>
            </a:r>
            <a:r>
              <a:rPr lang="lv-LV" noProof="0" dirty="0"/>
              <a:t> </a:t>
            </a:r>
            <a:r>
              <a:rPr lang="lv-LV" noProof="0" dirty="0" err="1"/>
              <a:t>machine</a:t>
            </a:r>
            <a:r>
              <a:rPr lang="lv-LV" noProof="0" dirty="0"/>
              <a:t> - a</a:t>
            </a:r>
            <a:r>
              <a:rPr lang="en-US" noProof="0" dirty="0"/>
              <a:t> mathematical model for algorithms.</a:t>
            </a:r>
          </a:p>
          <a:p>
            <a:pPr lvl="1"/>
            <a:r>
              <a:rPr lang="en-US" noProof="0" dirty="0" err="1"/>
              <a:t>Recursiveness</a:t>
            </a:r>
            <a:r>
              <a:rPr lang="en-US" noProof="0" dirty="0"/>
              <a:t> and recursive </a:t>
            </a:r>
            <a:r>
              <a:rPr lang="en-US" noProof="0" dirty="0" err="1"/>
              <a:t>enumerability</a:t>
            </a:r>
            <a:r>
              <a:rPr lang="en-US" noProof="0" dirty="0"/>
              <a:t>.</a:t>
            </a:r>
          </a:p>
          <a:p>
            <a:pPr lvl="1"/>
            <a:r>
              <a:rPr lang="en-US" noProof="0" dirty="0"/>
              <a:t>Halting problem and computational </a:t>
            </a:r>
            <a:r>
              <a:rPr lang="en-US" noProof="0" dirty="0" err="1"/>
              <a:t>undecidability</a:t>
            </a:r>
            <a:r>
              <a:rPr lang="en-US" noProof="0" dirty="0"/>
              <a:t>.</a:t>
            </a:r>
          </a:p>
          <a:p>
            <a:pPr lvl="1"/>
            <a:r>
              <a:rPr lang="en-US" noProof="0" dirty="0"/>
              <a:t>Reductions between computational problems.</a:t>
            </a:r>
          </a:p>
          <a:p>
            <a:endParaRPr lang="en-US" noProof="0" dirty="0"/>
          </a:p>
          <a:p>
            <a:r>
              <a:rPr lang="en-US" noProof="0" dirty="0"/>
              <a:t>Computational complexity</a:t>
            </a:r>
            <a:endParaRPr lang="lv-LV" noProof="0" dirty="0"/>
          </a:p>
          <a:p>
            <a:pPr lvl="1"/>
            <a:r>
              <a:rPr lang="lv-LV" noProof="0" dirty="0" err="1"/>
              <a:t>Big</a:t>
            </a:r>
            <a:r>
              <a:rPr lang="lv-LV" noProof="0" dirty="0"/>
              <a:t> O </a:t>
            </a:r>
            <a:r>
              <a:rPr lang="lv-LV" noProof="0" dirty="0" err="1"/>
              <a:t>notation</a:t>
            </a:r>
            <a:endParaRPr lang="lv-LV" dirty="0"/>
          </a:p>
          <a:p>
            <a:pPr lvl="1"/>
            <a:r>
              <a:rPr lang="lv-LV" noProof="0" dirty="0" err="1"/>
              <a:t>Complexity</a:t>
            </a:r>
            <a:r>
              <a:rPr lang="lv-LV" noProof="0" dirty="0"/>
              <a:t> </a:t>
            </a:r>
            <a:r>
              <a:rPr lang="lv-LV" noProof="0" dirty="0" err="1"/>
              <a:t>classes</a:t>
            </a:r>
            <a:endParaRPr lang="en-US" noProof="0" dirty="0"/>
          </a:p>
          <a:p>
            <a:pPr lvl="1"/>
            <a:r>
              <a:rPr lang="en-US" noProof="0" dirty="0"/>
              <a:t>Polynomial time - model for efficient computability</a:t>
            </a:r>
          </a:p>
          <a:p>
            <a:pPr lvl="1"/>
            <a:r>
              <a:rPr lang="en-US" noProof="0" dirty="0"/>
              <a:t>Class NP - model for efficient checkability</a:t>
            </a:r>
          </a:p>
          <a:p>
            <a:pPr lvl="1"/>
            <a:r>
              <a:rPr lang="en-US" noProof="0" dirty="0"/>
              <a:t>NP-complete problems, reductions between them</a:t>
            </a:r>
          </a:p>
          <a:p>
            <a:pPr lvl="1"/>
            <a:r>
              <a:rPr lang="en-US" noProof="0" dirty="0"/>
              <a:t>Space complexity classes and the connections with time complexity</a:t>
            </a:r>
          </a:p>
        </p:txBody>
      </p:sp>
    </p:spTree>
    <p:extLst>
      <p:ext uri="{BB962C8B-B14F-4D97-AF65-F5344CB8AC3E}">
        <p14:creationId xmlns:p14="http://schemas.microsoft.com/office/powerpoint/2010/main" val="802747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err="1"/>
              <a:t>Some</a:t>
            </a:r>
            <a:r>
              <a:rPr lang="lv-LV" dirty="0"/>
              <a:t> </a:t>
            </a:r>
            <a:r>
              <a:rPr lang="lv-LV" dirty="0" err="1"/>
              <a:t>examples</a:t>
            </a:r>
            <a:r>
              <a:rPr lang="lv-LV" dirty="0"/>
              <a:t> </a:t>
            </a:r>
            <a:r>
              <a:rPr lang="lv-LV" dirty="0" err="1"/>
              <a:t>of</a:t>
            </a:r>
            <a:r>
              <a:rPr lang="lv-LV" dirty="0"/>
              <a:t> </a:t>
            </a:r>
            <a:r>
              <a:rPr lang="lv-LV" dirty="0" err="1"/>
              <a:t>problems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lv-LV" dirty="0"/>
                  <a:t>Given a </a:t>
                </a:r>
                <a:r>
                  <a:rPr lang="lv-LV" dirty="0" err="1"/>
                  <a:t>string</a:t>
                </a:r>
                <a:r>
                  <a:rPr lang="lv-LV" dirty="0"/>
                  <a:t>, </a:t>
                </a:r>
                <a:r>
                  <a:rPr lang="lv-LV" dirty="0" err="1"/>
                  <a:t>determine</a:t>
                </a:r>
                <a:r>
                  <a:rPr lang="lv-LV" dirty="0"/>
                  <a:t> </a:t>
                </a:r>
                <a:r>
                  <a:rPr lang="lv-LV" dirty="0" err="1"/>
                  <a:t>if</a:t>
                </a:r>
                <a:r>
                  <a:rPr lang="lv-LV" dirty="0"/>
                  <a:t> it </a:t>
                </a:r>
                <a:r>
                  <a:rPr lang="lv-LV" dirty="0" err="1"/>
                  <a:t>contains</a:t>
                </a:r>
                <a:r>
                  <a:rPr lang="lv-LV" dirty="0"/>
                  <a:t> </a:t>
                </a:r>
                <a:r>
                  <a:rPr lang="lv-LV" dirty="0" err="1"/>
                  <a:t>substring</a:t>
                </a:r>
                <a:r>
                  <a:rPr lang="lv-LV" dirty="0"/>
                  <a:t> «LU DF»</a:t>
                </a:r>
              </a:p>
              <a:p>
                <a:r>
                  <a:rPr lang="lv-LV" dirty="0" err="1"/>
                  <a:t>Given</a:t>
                </a:r>
                <a:r>
                  <a:rPr lang="lv-LV" dirty="0"/>
                  <a:t> a </a:t>
                </a:r>
                <a:r>
                  <a:rPr lang="lv-LV" dirty="0" err="1"/>
                  <a:t>graph</a:t>
                </a:r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a:rPr lang="lv-LV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lv-LV" dirty="0"/>
                  <a:t> </a:t>
                </a:r>
                <a:r>
                  <a:rPr lang="lv-LV" dirty="0" err="1"/>
                  <a:t>and</a:t>
                </a:r>
                <a:r>
                  <a:rPr lang="lv-LV" dirty="0"/>
                  <a:t> </a:t>
                </a:r>
                <a:r>
                  <a:rPr lang="lv-LV" dirty="0" err="1"/>
                  <a:t>two</a:t>
                </a:r>
                <a:r>
                  <a:rPr lang="lv-LV" dirty="0"/>
                  <a:t> </a:t>
                </a:r>
                <a:r>
                  <a:rPr lang="lv-LV" dirty="0" err="1"/>
                  <a:t>vertices</a:t>
                </a:r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lv-LV" dirty="0"/>
                  <a:t>, </a:t>
                </a:r>
                <a:r>
                  <a:rPr lang="lv-LV" dirty="0" err="1"/>
                  <a:t>determine</a:t>
                </a:r>
                <a:r>
                  <a:rPr lang="lv-LV" dirty="0"/>
                  <a:t> </a:t>
                </a:r>
                <a:r>
                  <a:rPr lang="lv-LV" dirty="0" err="1"/>
                  <a:t>if</a:t>
                </a:r>
                <a:r>
                  <a:rPr lang="lv-LV" dirty="0"/>
                  <a:t> </a:t>
                </a:r>
                <a:r>
                  <a:rPr lang="lv-LV" dirty="0" err="1"/>
                  <a:t>there</a:t>
                </a:r>
                <a:r>
                  <a:rPr lang="lv-LV" dirty="0"/>
                  <a:t> </a:t>
                </a:r>
                <a:r>
                  <a:rPr lang="lv-LV" dirty="0" err="1"/>
                  <a:t>is</a:t>
                </a:r>
                <a:r>
                  <a:rPr lang="lv-LV" dirty="0"/>
                  <a:t> a </a:t>
                </a:r>
                <a:r>
                  <a:rPr lang="lv-LV" dirty="0" err="1"/>
                  <a:t>path</a:t>
                </a:r>
                <a:r>
                  <a:rPr lang="lv-LV" dirty="0"/>
                  <a:t> </a:t>
                </a:r>
                <a:r>
                  <a:rPr lang="lv-LV" dirty="0" err="1"/>
                  <a:t>from</a:t>
                </a:r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lv-LV" dirty="0"/>
                  <a:t> to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lv-LV" dirty="0"/>
              </a:p>
              <a:p>
                <a:r>
                  <a:rPr lang="lv-LV" dirty="0" err="1"/>
                  <a:t>Given</a:t>
                </a:r>
                <a:r>
                  <a:rPr lang="lv-LV" dirty="0"/>
                  <a:t> a </a:t>
                </a:r>
                <a:r>
                  <a:rPr lang="lv-LV" dirty="0" err="1"/>
                  <a:t>number</a:t>
                </a:r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lv-LV" dirty="0"/>
                  <a:t>, </a:t>
                </a:r>
                <a:r>
                  <a:rPr lang="lv-LV" dirty="0" err="1"/>
                  <a:t>determine</a:t>
                </a:r>
                <a:r>
                  <a:rPr lang="lv-LV" dirty="0"/>
                  <a:t> </a:t>
                </a:r>
                <a:r>
                  <a:rPr lang="lv-LV" dirty="0" err="1"/>
                  <a:t>if</a:t>
                </a:r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lv-LV" dirty="0"/>
                  <a:t> </a:t>
                </a:r>
                <a:r>
                  <a:rPr lang="lv-LV" dirty="0" err="1"/>
                  <a:t>is</a:t>
                </a:r>
                <a:r>
                  <a:rPr lang="lv-LV" dirty="0"/>
                  <a:t> a </a:t>
                </a:r>
                <a:r>
                  <a:rPr lang="lv-LV" dirty="0" err="1"/>
                  <a:t>prime</a:t>
                </a:r>
                <a:endParaRPr lang="lv-LV" dirty="0"/>
              </a:p>
              <a:p>
                <a:endParaRPr lang="lv-LV" dirty="0"/>
              </a:p>
              <a:p>
                <a:endParaRPr lang="lv-LV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5345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9959"/>
            <a:ext cx="10515600" cy="869594"/>
          </a:xfrm>
        </p:spPr>
        <p:txBody>
          <a:bodyPr/>
          <a:lstStyle/>
          <a:p>
            <a:r>
              <a:rPr lang="en-US" noProof="0" dirty="0"/>
              <a:t>Alphabets, words, languages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09553"/>
                <a:ext cx="10515600" cy="5605851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lv-LV" b="1" dirty="0"/>
                  <a:t>Alphabet</a:t>
                </a:r>
                <a:r>
                  <a:rPr lang="lv-LV" dirty="0">
                    <a:solidFill>
                      <a:schemeClr val="bg1"/>
                    </a:solidFill>
                  </a:rPr>
                  <a:t> – a </a:t>
                </a:r>
                <a:r>
                  <a:rPr lang="lv-LV" dirty="0" err="1">
                    <a:solidFill>
                      <a:schemeClr val="bg1"/>
                    </a:solidFill>
                  </a:rPr>
                  <a:t>finite</a:t>
                </a:r>
                <a:r>
                  <a:rPr lang="lv-LV" dirty="0">
                    <a:solidFill>
                      <a:schemeClr val="bg1"/>
                    </a:solidFill>
                  </a:rPr>
                  <a:t> non-</a:t>
                </a:r>
                <a:r>
                  <a:rPr lang="lv-LV" dirty="0" err="1">
                    <a:solidFill>
                      <a:schemeClr val="bg1"/>
                    </a:solidFill>
                  </a:rPr>
                  <a:t>empty</a:t>
                </a:r>
                <a:r>
                  <a:rPr lang="lv-LV" dirty="0">
                    <a:solidFill>
                      <a:schemeClr val="bg1"/>
                    </a:solidFill>
                  </a:rPr>
                  <a:t> set </a:t>
                </a:r>
                <a:r>
                  <a:rPr lang="lv-LV" dirty="0" err="1">
                    <a:solidFill>
                      <a:schemeClr val="bg1"/>
                    </a:solidFill>
                  </a:rPr>
                  <a:t>of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symbols</a:t>
                </a:r>
                <a:r>
                  <a:rPr lang="lv-LV" dirty="0">
                    <a:solidFill>
                      <a:schemeClr val="bg1"/>
                    </a:solidFill>
                  </a:rPr>
                  <a:t> (</a:t>
                </a:r>
                <a:r>
                  <a:rPr lang="lv-LV" dirty="0" err="1">
                    <a:solidFill>
                      <a:schemeClr val="bg1"/>
                    </a:solidFill>
                  </a:rPr>
                  <a:t>letters</a:t>
                </a:r>
                <a:r>
                  <a:rPr lang="lv-LV" dirty="0">
                    <a:solidFill>
                      <a:schemeClr val="bg1"/>
                    </a:solidFill>
                  </a:rPr>
                  <a:t>).</a:t>
                </a:r>
              </a:p>
              <a:p>
                <a:r>
                  <a:rPr lang="lv-LV" b="1" dirty="0"/>
                  <a:t>Word</a:t>
                </a:r>
                <a:r>
                  <a:rPr lang="lv-LV" dirty="0">
                    <a:solidFill>
                      <a:schemeClr val="bg1"/>
                    </a:solidFill>
                  </a:rPr>
                  <a:t> – a </a:t>
                </a:r>
                <a:r>
                  <a:rPr lang="lv-LV" dirty="0" err="1">
                    <a:solidFill>
                      <a:schemeClr val="bg1"/>
                    </a:solidFill>
                  </a:rPr>
                  <a:t>finite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string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of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letters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from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an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alphabet</a:t>
                </a:r>
                <a:endParaRPr lang="lv-LV" dirty="0">
                  <a:solidFill>
                    <a:schemeClr val="bg1"/>
                  </a:solidFill>
                </a:endParaRPr>
              </a:p>
              <a:p>
                <a:r>
                  <a:rPr lang="lv-LV" dirty="0" err="1"/>
                  <a:t>Operations</a:t>
                </a:r>
                <a:endParaRPr lang="lv-LV" dirty="0"/>
              </a:p>
              <a:p>
                <a:pPr lvl="1"/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𝑎𝑎𝑏𝑐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𝑏𝑏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 – </a:t>
                </a:r>
                <a:r>
                  <a:rPr lang="lv-LV" dirty="0" err="1">
                    <a:solidFill>
                      <a:schemeClr val="bg1"/>
                    </a:solidFill>
                  </a:rPr>
                  <a:t>words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in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alphabet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lv-LV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 (also </a:t>
                </a:r>
                <a:r>
                  <a:rPr lang="lv-LV" dirty="0" err="1">
                    <a:solidFill>
                      <a:schemeClr val="bg1"/>
                    </a:solidFill>
                  </a:rPr>
                  <a:t>in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)</a:t>
                </a:r>
              </a:p>
              <a:p>
                <a:pPr lvl="1"/>
                <a:r>
                  <a:rPr lang="lv-LV" b="1" dirty="0">
                    <a:solidFill>
                      <a:schemeClr val="bg1"/>
                    </a:solidFill>
                  </a:rPr>
                  <a:t>Concatenation</a:t>
                </a:r>
                <a:r>
                  <a:rPr lang="lv-LV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𝑎𝑎𝑏𝑐𝑏𝑏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b="1" dirty="0">
                    <a:solidFill>
                      <a:schemeClr val="bg1"/>
                    </a:solidFill>
                  </a:rPr>
                  <a:t>Iteration</a:t>
                </a:r>
                <a:r>
                  <a:rPr lang="en-US" dirty="0">
                    <a:solidFill>
                      <a:schemeClr val="bg1"/>
                    </a:solidFill>
                  </a:rPr>
                  <a:t>: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lv-LV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𝑥𝑥</m:t>
                            </m:r>
                            <m: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lv-LV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a:rPr lang="lv-LV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groupChr>
                      </m:e>
                      <m:lim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lv-LV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times</m:t>
                        </m:r>
                      </m:lim>
                    </m:limLow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lv-LV" b="1" dirty="0">
                    <a:solidFill>
                      <a:schemeClr val="bg1"/>
                    </a:solidFill>
                  </a:rPr>
                  <a:t>Length</a:t>
                </a:r>
                <a:r>
                  <a:rPr lang="lv-LV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lv-LV" b="1" dirty="0" err="1">
                    <a:solidFill>
                      <a:schemeClr val="bg1"/>
                    </a:solidFill>
                  </a:rPr>
                  <a:t>Number</a:t>
                </a:r>
                <a:r>
                  <a:rPr lang="lv-LV" b="1" dirty="0">
                    <a:solidFill>
                      <a:schemeClr val="bg1"/>
                    </a:solidFill>
                  </a:rPr>
                  <a:t> of</a:t>
                </a:r>
                <a:r>
                  <a:rPr lang="en-US" b="1" dirty="0">
                    <a:solidFill>
                      <a:schemeClr val="bg1"/>
                    </a:solidFill>
                  </a:rPr>
                  <a:t> </a:t>
                </a:r>
                <a:r>
                  <a:rPr lang="lv-LV" b="1" dirty="0" err="1">
                    <a:solidFill>
                      <a:schemeClr val="bg1"/>
                    </a:solidFill>
                  </a:rPr>
                  <a:t>occurences</a:t>
                </a:r>
                <a:r>
                  <a:rPr lang="en-US" dirty="0">
                    <a:solidFill>
                      <a:schemeClr val="bg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lv-LV" dirty="0">
                    <a:solidFill>
                      <a:schemeClr val="bg1"/>
                    </a:solidFill>
                  </a:rPr>
                  <a:t>in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  <m: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chemeClr val="bg1"/>
                    </a:solidFill>
                  </a:rPr>
                  <a:t>Indexing</a:t>
                </a:r>
                <a:r>
                  <a:rPr lang="en-US" b="0" dirty="0">
                    <a:solidFill>
                      <a:schemeClr val="bg1"/>
                    </a:solidFill>
                  </a:rPr>
                  <a:t>: </a:t>
                </a:r>
                <a:r>
                  <a:rPr lang="en-US" b="0" dirty="0" err="1">
                    <a:solidFill>
                      <a:schemeClr val="bg1"/>
                    </a:solidFill>
                  </a:rPr>
                  <a:t>i</a:t>
                </a:r>
                <a:r>
                  <a:rPr lang="lv-LV" b="0" dirty="0">
                    <a:solidFill>
                      <a:schemeClr val="bg1"/>
                    </a:solidFill>
                  </a:rPr>
                  <a:t>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:r>
                  <a:rPr lang="lv-LV" dirty="0" err="1">
                    <a:solidFill>
                      <a:schemeClr val="bg1"/>
                    </a:solidFill>
                  </a:rPr>
                  <a:t>then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lv-LV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lv-LV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lv-LV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lv-LV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)</a:t>
                </a:r>
              </a:p>
              <a:p>
                <a:r>
                  <a:rPr lang="lv-LV" dirty="0" err="1"/>
                  <a:t>The</a:t>
                </a:r>
                <a:r>
                  <a:rPr lang="lv-LV" dirty="0"/>
                  <a:t> </a:t>
                </a:r>
                <a:r>
                  <a:rPr lang="lv-LV" b="1" dirty="0" err="1"/>
                  <a:t>empty</a:t>
                </a:r>
                <a:r>
                  <a:rPr lang="lv-LV" b="1" dirty="0"/>
                  <a:t> </a:t>
                </a:r>
                <a:r>
                  <a:rPr lang="lv-LV" b="1" dirty="0" err="1"/>
                  <a:t>word</a:t>
                </a:r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lv-LV" b="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lv-LV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lv-LV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is</a:t>
                </a:r>
                <a:r>
                  <a:rPr lang="lv-LV" dirty="0">
                    <a:solidFill>
                      <a:schemeClr val="bg1"/>
                    </a:solidFill>
                  </a:rPr>
                  <a:t> a </a:t>
                </a:r>
                <a:r>
                  <a:rPr lang="lv-LV" dirty="0" err="1">
                    <a:solidFill>
                      <a:schemeClr val="bg1"/>
                    </a:solidFill>
                  </a:rPr>
                  <a:t>word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in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every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alphabet</a:t>
                </a:r>
                <a:endParaRPr lang="lv-LV" dirty="0">
                  <a:solidFill>
                    <a:schemeClr val="bg1"/>
                  </a:solidFill>
                </a:endParaRPr>
              </a:p>
              <a:p>
                <a:r>
                  <a:rPr lang="lv-LV" dirty="0">
                    <a:solidFill>
                      <a:schemeClr val="bg1"/>
                    </a:solidFill>
                  </a:rPr>
                  <a:t>The set of all </a:t>
                </a:r>
                <a:r>
                  <a:rPr lang="lv-LV" dirty="0" err="1">
                    <a:solidFill>
                      <a:schemeClr val="bg1"/>
                    </a:solidFill>
                  </a:rPr>
                  <a:t>finite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words</a:t>
                </a:r>
                <a:r>
                  <a:rPr lang="lv-LV" dirty="0">
                    <a:solidFill>
                      <a:schemeClr val="bg1"/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is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denoted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by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l-GR" dirty="0">
                    <a:solidFill>
                      <a:schemeClr val="bg1"/>
                    </a:solidFill>
                  </a:rPr>
                  <a:t>.</a:t>
                </a:r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lv-LV" dirty="0" err="1">
                    <a:solidFill>
                      <a:schemeClr val="bg1"/>
                    </a:solidFill>
                  </a:rPr>
                  <a:t>For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example</a:t>
                </a:r>
                <a:r>
                  <a:rPr lang="en-US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,0,1,00,01,10,11,000,001,010,011,100,…</m:t>
                        </m:r>
                      </m:e>
                    </m:d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lv-LV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lv-LV" dirty="0">
                    <a:solidFill>
                      <a:schemeClr val="bg1"/>
                    </a:solidFill>
                  </a:rPr>
                  <a:t>denotes the set of all words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with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length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lv-LV" b="1" dirty="0" err="1"/>
                  <a:t>Language</a:t>
                </a:r>
                <a:r>
                  <a:rPr lang="lv-LV" b="1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is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lv-LV" dirty="0">
                    <a:solidFill>
                      <a:schemeClr val="bg1"/>
                    </a:solidFill>
                  </a:rPr>
                  <a:t>a set </a:t>
                </a:r>
                <a:r>
                  <a:rPr lang="lv-LV" dirty="0" err="1">
                    <a:solidFill>
                      <a:schemeClr val="bg1"/>
                    </a:solidFill>
                  </a:rPr>
                  <a:t>of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words</a:t>
                </a:r>
                <a:r>
                  <a:rPr lang="en-US" dirty="0">
                    <a:solidFill>
                      <a:schemeClr val="bg1"/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l-GR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l-GR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denotes</a:t>
                </a:r>
                <a:r>
                  <a:rPr lang="lv-LV" dirty="0">
                    <a:solidFill>
                      <a:schemeClr val="bg1"/>
                    </a:solidFill>
                  </a:rPr>
                  <a:t> a </a:t>
                </a:r>
                <a:r>
                  <a:rPr lang="lv-LV" dirty="0" err="1">
                    <a:solidFill>
                      <a:schemeClr val="bg1"/>
                    </a:solidFill>
                  </a:rPr>
                  <a:t>language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</a:rPr>
                  <a:t>over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alphabet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endParaRPr lang="el-GR" dirty="0">
                  <a:solidFill>
                    <a:schemeClr val="bg1"/>
                  </a:solidFill>
                </a:endParaRPr>
              </a:p>
              <a:p>
                <a:pPr lvl="1"/>
                <a:endParaRPr lang="lv-LV" dirty="0"/>
              </a:p>
              <a:p>
                <a:endParaRPr lang="lv-LV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09553"/>
                <a:ext cx="10515600" cy="5605851"/>
              </a:xfrm>
              <a:blipFill>
                <a:blip r:embed="rId2"/>
                <a:stretch>
                  <a:fillRect l="-812" t="-2503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9298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9959"/>
            <a:ext cx="10515600" cy="869594"/>
          </a:xfrm>
        </p:spPr>
        <p:txBody>
          <a:bodyPr/>
          <a:lstStyle/>
          <a:p>
            <a:r>
              <a:rPr lang="en-US" noProof="0" dirty="0"/>
              <a:t>Alphabets, words, languages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09553"/>
                <a:ext cx="10515600" cy="5605851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lv-LV" b="1" dirty="0"/>
                  <a:t>Alphabet</a:t>
                </a:r>
                <a:r>
                  <a:rPr lang="lv-LV" dirty="0"/>
                  <a:t> – a </a:t>
                </a:r>
                <a:r>
                  <a:rPr lang="lv-LV" dirty="0" err="1"/>
                  <a:t>finite</a:t>
                </a:r>
                <a:r>
                  <a:rPr lang="lv-LV" dirty="0"/>
                  <a:t> non-</a:t>
                </a:r>
                <a:r>
                  <a:rPr lang="lv-LV" dirty="0" err="1"/>
                  <a:t>empty</a:t>
                </a:r>
                <a:r>
                  <a:rPr lang="lv-LV" dirty="0"/>
                  <a:t> set </a:t>
                </a:r>
                <a:r>
                  <a:rPr lang="lv-LV" dirty="0" err="1"/>
                  <a:t>of</a:t>
                </a:r>
                <a:r>
                  <a:rPr lang="lv-LV" dirty="0"/>
                  <a:t> </a:t>
                </a:r>
                <a:r>
                  <a:rPr lang="lv-LV" dirty="0" err="1"/>
                  <a:t>symbols</a:t>
                </a:r>
                <a:r>
                  <a:rPr lang="lv-LV" dirty="0"/>
                  <a:t> (</a:t>
                </a:r>
                <a:r>
                  <a:rPr lang="lv-LV" dirty="0" err="1"/>
                  <a:t>letters</a:t>
                </a:r>
                <a:r>
                  <a:rPr lang="lv-LV" dirty="0"/>
                  <a:t>).</a:t>
                </a:r>
              </a:p>
              <a:p>
                <a:r>
                  <a:rPr lang="lv-LV" b="1" dirty="0"/>
                  <a:t>Word</a:t>
                </a:r>
                <a:r>
                  <a:rPr lang="lv-LV" dirty="0">
                    <a:solidFill>
                      <a:schemeClr val="bg1"/>
                    </a:solidFill>
                  </a:rPr>
                  <a:t> – a </a:t>
                </a:r>
                <a:r>
                  <a:rPr lang="lv-LV" dirty="0" err="1">
                    <a:solidFill>
                      <a:schemeClr val="bg1"/>
                    </a:solidFill>
                  </a:rPr>
                  <a:t>finite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string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of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letters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from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an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alphabet</a:t>
                </a:r>
                <a:endParaRPr lang="lv-LV" dirty="0">
                  <a:solidFill>
                    <a:schemeClr val="bg1"/>
                  </a:solidFill>
                </a:endParaRPr>
              </a:p>
              <a:p>
                <a:r>
                  <a:rPr lang="lv-LV" dirty="0" err="1"/>
                  <a:t>Operations</a:t>
                </a:r>
                <a:endParaRPr lang="lv-LV" dirty="0"/>
              </a:p>
              <a:p>
                <a:pPr lvl="1"/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𝑎𝑎𝑏𝑐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𝑏𝑏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 – </a:t>
                </a:r>
                <a:r>
                  <a:rPr lang="lv-LV" dirty="0" err="1">
                    <a:solidFill>
                      <a:schemeClr val="bg1"/>
                    </a:solidFill>
                  </a:rPr>
                  <a:t>words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in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alphabet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lv-LV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 (also </a:t>
                </a:r>
                <a:r>
                  <a:rPr lang="lv-LV" dirty="0" err="1">
                    <a:solidFill>
                      <a:schemeClr val="bg1"/>
                    </a:solidFill>
                  </a:rPr>
                  <a:t>in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)</a:t>
                </a:r>
              </a:p>
              <a:p>
                <a:pPr lvl="1"/>
                <a:r>
                  <a:rPr lang="lv-LV" b="1" dirty="0">
                    <a:solidFill>
                      <a:schemeClr val="bg1"/>
                    </a:solidFill>
                  </a:rPr>
                  <a:t>Concatenation</a:t>
                </a:r>
                <a:r>
                  <a:rPr lang="lv-LV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𝑎𝑎𝑏𝑐𝑏𝑏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b="1" dirty="0">
                    <a:solidFill>
                      <a:schemeClr val="bg1"/>
                    </a:solidFill>
                  </a:rPr>
                  <a:t>Iteration</a:t>
                </a:r>
                <a:r>
                  <a:rPr lang="en-US" dirty="0">
                    <a:solidFill>
                      <a:schemeClr val="bg1"/>
                    </a:solidFill>
                  </a:rPr>
                  <a:t>: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lv-LV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𝑥𝑥</m:t>
                            </m:r>
                            <m: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lv-LV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a:rPr lang="lv-LV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groupChr>
                      </m:e>
                      <m:lim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lv-LV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times</m:t>
                        </m:r>
                      </m:lim>
                    </m:limLow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lv-LV" b="1" dirty="0">
                    <a:solidFill>
                      <a:schemeClr val="bg1"/>
                    </a:solidFill>
                  </a:rPr>
                  <a:t>Length</a:t>
                </a:r>
                <a:r>
                  <a:rPr lang="lv-LV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lv-LV" b="1" dirty="0" err="1">
                    <a:solidFill>
                      <a:schemeClr val="bg1"/>
                    </a:solidFill>
                  </a:rPr>
                  <a:t>Number</a:t>
                </a:r>
                <a:r>
                  <a:rPr lang="lv-LV" b="1" dirty="0">
                    <a:solidFill>
                      <a:schemeClr val="bg1"/>
                    </a:solidFill>
                  </a:rPr>
                  <a:t> of</a:t>
                </a:r>
                <a:r>
                  <a:rPr lang="en-US" b="1" dirty="0">
                    <a:solidFill>
                      <a:schemeClr val="bg1"/>
                    </a:solidFill>
                  </a:rPr>
                  <a:t> </a:t>
                </a:r>
                <a:r>
                  <a:rPr lang="lv-LV" b="1" dirty="0" err="1">
                    <a:solidFill>
                      <a:schemeClr val="bg1"/>
                    </a:solidFill>
                  </a:rPr>
                  <a:t>occurences</a:t>
                </a:r>
                <a:r>
                  <a:rPr lang="en-US" dirty="0">
                    <a:solidFill>
                      <a:schemeClr val="bg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lv-LV" dirty="0">
                    <a:solidFill>
                      <a:schemeClr val="bg1"/>
                    </a:solidFill>
                  </a:rPr>
                  <a:t>in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  <m: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chemeClr val="bg1"/>
                    </a:solidFill>
                  </a:rPr>
                  <a:t>Indexing</a:t>
                </a:r>
                <a:r>
                  <a:rPr lang="en-US" b="0" dirty="0">
                    <a:solidFill>
                      <a:schemeClr val="bg1"/>
                    </a:solidFill>
                  </a:rPr>
                  <a:t>: </a:t>
                </a:r>
                <a:r>
                  <a:rPr lang="en-US" b="0" dirty="0" err="1">
                    <a:solidFill>
                      <a:schemeClr val="bg1"/>
                    </a:solidFill>
                  </a:rPr>
                  <a:t>i</a:t>
                </a:r>
                <a:r>
                  <a:rPr lang="lv-LV" b="0" dirty="0">
                    <a:solidFill>
                      <a:schemeClr val="bg1"/>
                    </a:solidFill>
                  </a:rPr>
                  <a:t>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:r>
                  <a:rPr lang="lv-LV" dirty="0" err="1">
                    <a:solidFill>
                      <a:schemeClr val="bg1"/>
                    </a:solidFill>
                  </a:rPr>
                  <a:t>then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lv-LV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lv-LV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lv-LV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lv-LV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)</a:t>
                </a:r>
              </a:p>
              <a:p>
                <a:r>
                  <a:rPr lang="lv-LV" dirty="0" err="1"/>
                  <a:t>The</a:t>
                </a:r>
                <a:r>
                  <a:rPr lang="lv-LV" dirty="0"/>
                  <a:t> </a:t>
                </a:r>
                <a:r>
                  <a:rPr lang="lv-LV" b="1" dirty="0" err="1"/>
                  <a:t>empty</a:t>
                </a:r>
                <a:r>
                  <a:rPr lang="lv-LV" b="1" dirty="0"/>
                  <a:t> </a:t>
                </a:r>
                <a:r>
                  <a:rPr lang="lv-LV" b="1" dirty="0" err="1"/>
                  <a:t>word</a:t>
                </a:r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lv-LV" b="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lv-LV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lv-LV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is</a:t>
                </a:r>
                <a:r>
                  <a:rPr lang="lv-LV" dirty="0">
                    <a:solidFill>
                      <a:schemeClr val="bg1"/>
                    </a:solidFill>
                  </a:rPr>
                  <a:t> a </a:t>
                </a:r>
                <a:r>
                  <a:rPr lang="lv-LV" dirty="0" err="1">
                    <a:solidFill>
                      <a:schemeClr val="bg1"/>
                    </a:solidFill>
                  </a:rPr>
                  <a:t>word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in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every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alphabet</a:t>
                </a:r>
                <a:endParaRPr lang="lv-LV" dirty="0">
                  <a:solidFill>
                    <a:schemeClr val="bg1"/>
                  </a:solidFill>
                </a:endParaRPr>
              </a:p>
              <a:p>
                <a:r>
                  <a:rPr lang="lv-LV" dirty="0">
                    <a:solidFill>
                      <a:schemeClr val="bg1"/>
                    </a:solidFill>
                  </a:rPr>
                  <a:t>The set of all </a:t>
                </a:r>
                <a:r>
                  <a:rPr lang="lv-LV" dirty="0" err="1">
                    <a:solidFill>
                      <a:schemeClr val="bg1"/>
                    </a:solidFill>
                  </a:rPr>
                  <a:t>finite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words</a:t>
                </a:r>
                <a:r>
                  <a:rPr lang="lv-LV" dirty="0">
                    <a:solidFill>
                      <a:schemeClr val="bg1"/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is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denoted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by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l-GR" dirty="0">
                    <a:solidFill>
                      <a:schemeClr val="bg1"/>
                    </a:solidFill>
                  </a:rPr>
                  <a:t>.</a:t>
                </a:r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lv-LV" dirty="0" err="1">
                    <a:solidFill>
                      <a:schemeClr val="bg1"/>
                    </a:solidFill>
                  </a:rPr>
                  <a:t>For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example</a:t>
                </a:r>
                <a:r>
                  <a:rPr lang="en-US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,0,1,00,01,10,11,000,001,010,011,100,…</m:t>
                        </m:r>
                      </m:e>
                    </m:d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lv-LV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lv-LV" dirty="0">
                    <a:solidFill>
                      <a:schemeClr val="bg1"/>
                    </a:solidFill>
                  </a:rPr>
                  <a:t>denotes the set of all words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with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length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lv-LV" b="1" dirty="0" err="1"/>
                  <a:t>Language</a:t>
                </a:r>
                <a:r>
                  <a:rPr lang="lv-LV" b="1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is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lv-LV" dirty="0">
                    <a:solidFill>
                      <a:schemeClr val="bg1"/>
                    </a:solidFill>
                  </a:rPr>
                  <a:t>a set </a:t>
                </a:r>
                <a:r>
                  <a:rPr lang="lv-LV" dirty="0" err="1">
                    <a:solidFill>
                      <a:schemeClr val="bg1"/>
                    </a:solidFill>
                  </a:rPr>
                  <a:t>of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words</a:t>
                </a:r>
                <a:r>
                  <a:rPr lang="en-US" dirty="0">
                    <a:solidFill>
                      <a:schemeClr val="bg1"/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l-GR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l-GR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denotes</a:t>
                </a:r>
                <a:r>
                  <a:rPr lang="lv-LV" dirty="0">
                    <a:solidFill>
                      <a:schemeClr val="bg1"/>
                    </a:solidFill>
                  </a:rPr>
                  <a:t> a </a:t>
                </a:r>
                <a:r>
                  <a:rPr lang="lv-LV" dirty="0" err="1">
                    <a:solidFill>
                      <a:schemeClr val="bg1"/>
                    </a:solidFill>
                  </a:rPr>
                  <a:t>language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</a:rPr>
                  <a:t>over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alphabet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endParaRPr lang="el-GR" dirty="0">
                  <a:solidFill>
                    <a:schemeClr val="bg1"/>
                  </a:solidFill>
                </a:endParaRPr>
              </a:p>
              <a:p>
                <a:pPr lvl="1"/>
                <a:endParaRPr lang="lv-LV" dirty="0"/>
              </a:p>
              <a:p>
                <a:endParaRPr lang="lv-LV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09553"/>
                <a:ext cx="10515600" cy="5605851"/>
              </a:xfrm>
              <a:blipFill>
                <a:blip r:embed="rId2"/>
                <a:stretch>
                  <a:fillRect l="-812" t="-2503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4134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9959"/>
            <a:ext cx="10515600" cy="869594"/>
          </a:xfrm>
        </p:spPr>
        <p:txBody>
          <a:bodyPr/>
          <a:lstStyle/>
          <a:p>
            <a:r>
              <a:rPr lang="en-US" noProof="0" dirty="0"/>
              <a:t>Alphabets, words, languages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09553"/>
                <a:ext cx="10515600" cy="5605851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lv-LV" b="1" dirty="0"/>
                  <a:t>Alphabet</a:t>
                </a:r>
                <a:r>
                  <a:rPr lang="lv-LV" dirty="0"/>
                  <a:t> – a </a:t>
                </a:r>
                <a:r>
                  <a:rPr lang="lv-LV" dirty="0" err="1"/>
                  <a:t>finite</a:t>
                </a:r>
                <a:r>
                  <a:rPr lang="lv-LV" dirty="0"/>
                  <a:t> non-</a:t>
                </a:r>
                <a:r>
                  <a:rPr lang="lv-LV" dirty="0" err="1"/>
                  <a:t>empty</a:t>
                </a:r>
                <a:r>
                  <a:rPr lang="lv-LV" dirty="0"/>
                  <a:t> set </a:t>
                </a:r>
                <a:r>
                  <a:rPr lang="lv-LV" dirty="0" err="1"/>
                  <a:t>of</a:t>
                </a:r>
                <a:r>
                  <a:rPr lang="lv-LV" dirty="0"/>
                  <a:t> </a:t>
                </a:r>
                <a:r>
                  <a:rPr lang="lv-LV" dirty="0" err="1"/>
                  <a:t>symbols</a:t>
                </a:r>
                <a:r>
                  <a:rPr lang="lv-LV" dirty="0"/>
                  <a:t> (</a:t>
                </a:r>
                <a:r>
                  <a:rPr lang="lv-LV" dirty="0" err="1"/>
                  <a:t>letters</a:t>
                </a:r>
                <a:r>
                  <a:rPr lang="lv-LV" dirty="0"/>
                  <a:t>).</a:t>
                </a:r>
              </a:p>
              <a:p>
                <a:r>
                  <a:rPr lang="lv-LV" b="1" dirty="0"/>
                  <a:t>Word</a:t>
                </a:r>
                <a:r>
                  <a:rPr lang="lv-LV" dirty="0">
                    <a:solidFill>
                      <a:schemeClr val="bg1"/>
                    </a:solidFill>
                  </a:rPr>
                  <a:t> – a </a:t>
                </a:r>
                <a:r>
                  <a:rPr lang="lv-LV" dirty="0" err="1">
                    <a:solidFill>
                      <a:schemeClr val="bg1"/>
                    </a:solidFill>
                  </a:rPr>
                  <a:t>finite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string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of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letters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from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an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alphabet</a:t>
                </a:r>
                <a:endParaRPr lang="lv-LV" dirty="0">
                  <a:solidFill>
                    <a:schemeClr val="bg1"/>
                  </a:solidFill>
                </a:endParaRPr>
              </a:p>
              <a:p>
                <a:r>
                  <a:rPr lang="lv-LV" dirty="0" err="1"/>
                  <a:t>Operations</a:t>
                </a:r>
                <a:endParaRPr lang="lv-LV" dirty="0"/>
              </a:p>
              <a:p>
                <a:pPr lvl="1"/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𝑎𝑎𝑏𝑐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𝑏𝑏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 – </a:t>
                </a:r>
                <a:r>
                  <a:rPr lang="lv-LV" dirty="0" err="1">
                    <a:solidFill>
                      <a:schemeClr val="bg1"/>
                    </a:solidFill>
                  </a:rPr>
                  <a:t>words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in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alphabet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lv-LV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 (also </a:t>
                </a:r>
                <a:r>
                  <a:rPr lang="lv-LV" dirty="0" err="1">
                    <a:solidFill>
                      <a:schemeClr val="bg1"/>
                    </a:solidFill>
                  </a:rPr>
                  <a:t>in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)</a:t>
                </a:r>
              </a:p>
              <a:p>
                <a:pPr lvl="1"/>
                <a:r>
                  <a:rPr lang="lv-LV" b="1" dirty="0">
                    <a:solidFill>
                      <a:schemeClr val="bg1"/>
                    </a:solidFill>
                  </a:rPr>
                  <a:t>Concatenation</a:t>
                </a:r>
                <a:r>
                  <a:rPr lang="lv-LV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𝑎𝑎𝑏𝑐𝑏𝑏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b="1" dirty="0">
                    <a:solidFill>
                      <a:schemeClr val="bg1"/>
                    </a:solidFill>
                  </a:rPr>
                  <a:t>Iteration</a:t>
                </a:r>
                <a:r>
                  <a:rPr lang="en-US" dirty="0">
                    <a:solidFill>
                      <a:schemeClr val="bg1"/>
                    </a:solidFill>
                  </a:rPr>
                  <a:t>: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lv-LV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𝑥𝑥</m:t>
                            </m:r>
                            <m: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lv-LV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a:rPr lang="lv-LV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groupChr>
                      </m:e>
                      <m:lim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lv-LV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times</m:t>
                        </m:r>
                      </m:lim>
                    </m:limLow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lv-LV" b="1" dirty="0">
                    <a:solidFill>
                      <a:schemeClr val="bg1"/>
                    </a:solidFill>
                  </a:rPr>
                  <a:t>Length</a:t>
                </a:r>
                <a:r>
                  <a:rPr lang="lv-LV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lv-LV" b="1" dirty="0" err="1">
                    <a:solidFill>
                      <a:schemeClr val="bg1"/>
                    </a:solidFill>
                  </a:rPr>
                  <a:t>Number</a:t>
                </a:r>
                <a:r>
                  <a:rPr lang="lv-LV" b="1" dirty="0">
                    <a:solidFill>
                      <a:schemeClr val="bg1"/>
                    </a:solidFill>
                  </a:rPr>
                  <a:t> of</a:t>
                </a:r>
                <a:r>
                  <a:rPr lang="en-US" b="1" dirty="0">
                    <a:solidFill>
                      <a:schemeClr val="bg1"/>
                    </a:solidFill>
                  </a:rPr>
                  <a:t> </a:t>
                </a:r>
                <a:r>
                  <a:rPr lang="lv-LV" b="1" dirty="0" err="1">
                    <a:solidFill>
                      <a:schemeClr val="bg1"/>
                    </a:solidFill>
                  </a:rPr>
                  <a:t>occurences</a:t>
                </a:r>
                <a:r>
                  <a:rPr lang="en-US" dirty="0">
                    <a:solidFill>
                      <a:schemeClr val="bg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lv-LV" dirty="0">
                    <a:solidFill>
                      <a:schemeClr val="bg1"/>
                    </a:solidFill>
                  </a:rPr>
                  <a:t>in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  <m: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chemeClr val="bg1"/>
                    </a:solidFill>
                  </a:rPr>
                  <a:t>Indexing</a:t>
                </a:r>
                <a:r>
                  <a:rPr lang="en-US" b="0" dirty="0">
                    <a:solidFill>
                      <a:schemeClr val="bg1"/>
                    </a:solidFill>
                  </a:rPr>
                  <a:t>: </a:t>
                </a:r>
                <a:r>
                  <a:rPr lang="en-US" b="0" dirty="0" err="1">
                    <a:solidFill>
                      <a:schemeClr val="bg1"/>
                    </a:solidFill>
                  </a:rPr>
                  <a:t>i</a:t>
                </a:r>
                <a:r>
                  <a:rPr lang="lv-LV" b="0" dirty="0">
                    <a:solidFill>
                      <a:schemeClr val="bg1"/>
                    </a:solidFill>
                  </a:rPr>
                  <a:t>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:r>
                  <a:rPr lang="lv-LV" dirty="0" err="1">
                    <a:solidFill>
                      <a:schemeClr val="bg1"/>
                    </a:solidFill>
                  </a:rPr>
                  <a:t>then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lv-LV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lv-LV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lv-LV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lv-LV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)</a:t>
                </a:r>
              </a:p>
              <a:p>
                <a:r>
                  <a:rPr lang="lv-LV" dirty="0" err="1"/>
                  <a:t>The</a:t>
                </a:r>
                <a:r>
                  <a:rPr lang="lv-LV" dirty="0"/>
                  <a:t> </a:t>
                </a:r>
                <a:r>
                  <a:rPr lang="lv-LV" b="1" dirty="0" err="1"/>
                  <a:t>empty</a:t>
                </a:r>
                <a:r>
                  <a:rPr lang="lv-LV" b="1" dirty="0"/>
                  <a:t> </a:t>
                </a:r>
                <a:r>
                  <a:rPr lang="lv-LV" b="1" dirty="0" err="1"/>
                  <a:t>word</a:t>
                </a:r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lv-LV" b="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lv-LV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lv-LV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is</a:t>
                </a:r>
                <a:r>
                  <a:rPr lang="lv-LV" dirty="0">
                    <a:solidFill>
                      <a:schemeClr val="bg1"/>
                    </a:solidFill>
                  </a:rPr>
                  <a:t> a </a:t>
                </a:r>
                <a:r>
                  <a:rPr lang="lv-LV" dirty="0" err="1">
                    <a:solidFill>
                      <a:schemeClr val="bg1"/>
                    </a:solidFill>
                  </a:rPr>
                  <a:t>word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in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every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alphabet</a:t>
                </a:r>
                <a:endParaRPr lang="lv-LV" dirty="0">
                  <a:solidFill>
                    <a:schemeClr val="bg1"/>
                  </a:solidFill>
                </a:endParaRPr>
              </a:p>
              <a:p>
                <a:r>
                  <a:rPr lang="lv-LV" dirty="0">
                    <a:solidFill>
                      <a:schemeClr val="bg1"/>
                    </a:solidFill>
                  </a:rPr>
                  <a:t>The set of all </a:t>
                </a:r>
                <a:r>
                  <a:rPr lang="lv-LV" dirty="0" err="1">
                    <a:solidFill>
                      <a:schemeClr val="bg1"/>
                    </a:solidFill>
                  </a:rPr>
                  <a:t>finite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words</a:t>
                </a:r>
                <a:r>
                  <a:rPr lang="lv-LV" dirty="0">
                    <a:solidFill>
                      <a:schemeClr val="bg1"/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is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denoted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by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l-GR" dirty="0">
                    <a:solidFill>
                      <a:schemeClr val="bg1"/>
                    </a:solidFill>
                  </a:rPr>
                  <a:t>.</a:t>
                </a:r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lv-LV" dirty="0" err="1">
                    <a:solidFill>
                      <a:schemeClr val="bg1"/>
                    </a:solidFill>
                  </a:rPr>
                  <a:t>For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example</a:t>
                </a:r>
                <a:r>
                  <a:rPr lang="en-US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,0,1,00,01,10,11,000,001,010,011,100,…</m:t>
                        </m:r>
                      </m:e>
                    </m:d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lv-LV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lv-LV" dirty="0">
                    <a:solidFill>
                      <a:schemeClr val="bg1"/>
                    </a:solidFill>
                  </a:rPr>
                  <a:t>denotes the set of all words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with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length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lv-LV" b="1" dirty="0" err="1"/>
                  <a:t>Language</a:t>
                </a:r>
                <a:r>
                  <a:rPr lang="lv-LV" b="1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is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lv-LV" dirty="0">
                    <a:solidFill>
                      <a:schemeClr val="bg1"/>
                    </a:solidFill>
                  </a:rPr>
                  <a:t>a set </a:t>
                </a:r>
                <a:r>
                  <a:rPr lang="lv-LV" dirty="0" err="1">
                    <a:solidFill>
                      <a:schemeClr val="bg1"/>
                    </a:solidFill>
                  </a:rPr>
                  <a:t>of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words</a:t>
                </a:r>
                <a:r>
                  <a:rPr lang="en-US" dirty="0">
                    <a:solidFill>
                      <a:schemeClr val="bg1"/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l-GR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l-GR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denotes</a:t>
                </a:r>
                <a:r>
                  <a:rPr lang="lv-LV" dirty="0">
                    <a:solidFill>
                      <a:schemeClr val="bg1"/>
                    </a:solidFill>
                  </a:rPr>
                  <a:t> a </a:t>
                </a:r>
                <a:r>
                  <a:rPr lang="lv-LV" dirty="0" err="1">
                    <a:solidFill>
                      <a:schemeClr val="bg1"/>
                    </a:solidFill>
                  </a:rPr>
                  <a:t>language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</a:rPr>
                  <a:t>over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alphabet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endParaRPr lang="el-GR" dirty="0">
                  <a:solidFill>
                    <a:schemeClr val="bg1"/>
                  </a:solidFill>
                </a:endParaRPr>
              </a:p>
              <a:p>
                <a:pPr lvl="1"/>
                <a:endParaRPr lang="lv-LV" dirty="0"/>
              </a:p>
              <a:p>
                <a:endParaRPr lang="lv-LV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09553"/>
                <a:ext cx="10515600" cy="5605851"/>
              </a:xfrm>
              <a:blipFill>
                <a:blip r:embed="rId2"/>
                <a:stretch>
                  <a:fillRect l="-812" t="-2503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338713-2A69-69C9-64FE-6C4B0B203FC4}"/>
                  </a:ext>
                </a:extLst>
              </p:cNvPr>
              <p:cNvSpPr txBox="1"/>
              <p:nvPr/>
            </p:nvSpPr>
            <p:spPr>
              <a:xfrm>
                <a:off x="7924800" y="477712"/>
                <a:ext cx="4267200" cy="151163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wrap="none" lIns="36000" tIns="36000" rIns="36000" bIns="36000" rtlCol="0">
                <a:spAutoFit/>
              </a:bodyPr>
              <a:lstStyle>
                <a:defPPr>
                  <a:defRPr lang="lv-LV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l-GR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l-GR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ā,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…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ž,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…, Ž,  ␣, ., 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</m:e>
                        </m:d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…, ! 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 ↑ , ↓ , → , ← </m:t>
                        </m:r>
                      </m:e>
                    </m:d>
                  </m:oMath>
                </a14:m>
                <a:endParaRPr lang="el-GR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dirty="0">
                  <a:effectLst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338713-2A69-69C9-64FE-6C4B0B203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800" y="477712"/>
                <a:ext cx="4267200" cy="15116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594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9959"/>
            <a:ext cx="10515600" cy="869594"/>
          </a:xfrm>
        </p:spPr>
        <p:txBody>
          <a:bodyPr/>
          <a:lstStyle/>
          <a:p>
            <a:r>
              <a:rPr lang="en-US" noProof="0" dirty="0"/>
              <a:t>Alphabets, words, languages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09553"/>
                <a:ext cx="10515600" cy="5605851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lv-LV" b="1" dirty="0"/>
                  <a:t>Alphabet</a:t>
                </a:r>
                <a:r>
                  <a:rPr lang="lv-LV" dirty="0"/>
                  <a:t> – a </a:t>
                </a:r>
                <a:r>
                  <a:rPr lang="lv-LV" dirty="0" err="1"/>
                  <a:t>finite</a:t>
                </a:r>
                <a:r>
                  <a:rPr lang="lv-LV" dirty="0"/>
                  <a:t> non-</a:t>
                </a:r>
                <a:r>
                  <a:rPr lang="lv-LV" dirty="0" err="1"/>
                  <a:t>empty</a:t>
                </a:r>
                <a:r>
                  <a:rPr lang="lv-LV" dirty="0"/>
                  <a:t> set </a:t>
                </a:r>
                <a:r>
                  <a:rPr lang="lv-LV" dirty="0" err="1"/>
                  <a:t>of</a:t>
                </a:r>
                <a:r>
                  <a:rPr lang="lv-LV" dirty="0"/>
                  <a:t> </a:t>
                </a:r>
                <a:r>
                  <a:rPr lang="lv-LV" dirty="0" err="1"/>
                  <a:t>symbols</a:t>
                </a:r>
                <a:r>
                  <a:rPr lang="lv-LV" dirty="0"/>
                  <a:t> (</a:t>
                </a:r>
                <a:r>
                  <a:rPr lang="lv-LV" dirty="0" err="1"/>
                  <a:t>letters</a:t>
                </a:r>
                <a:r>
                  <a:rPr lang="lv-LV" dirty="0"/>
                  <a:t>).</a:t>
                </a:r>
              </a:p>
              <a:p>
                <a:r>
                  <a:rPr lang="lv-LV" b="1" dirty="0"/>
                  <a:t>Word</a:t>
                </a:r>
                <a:r>
                  <a:rPr lang="lv-LV" dirty="0"/>
                  <a:t> – a </a:t>
                </a:r>
                <a:r>
                  <a:rPr lang="lv-LV" dirty="0" err="1"/>
                  <a:t>finite</a:t>
                </a:r>
                <a:r>
                  <a:rPr lang="lv-LV" dirty="0"/>
                  <a:t> </a:t>
                </a:r>
                <a:r>
                  <a:rPr lang="lv-LV" dirty="0" err="1"/>
                  <a:t>string</a:t>
                </a:r>
                <a:r>
                  <a:rPr lang="lv-LV" dirty="0"/>
                  <a:t> </a:t>
                </a:r>
                <a:r>
                  <a:rPr lang="lv-LV" dirty="0" err="1"/>
                  <a:t>of</a:t>
                </a:r>
                <a:r>
                  <a:rPr lang="lv-LV" dirty="0"/>
                  <a:t> </a:t>
                </a:r>
                <a:r>
                  <a:rPr lang="lv-LV" dirty="0" err="1"/>
                  <a:t>letters</a:t>
                </a:r>
                <a:r>
                  <a:rPr lang="lv-LV" dirty="0"/>
                  <a:t> </a:t>
                </a:r>
                <a:r>
                  <a:rPr lang="lv-LV" dirty="0" err="1"/>
                  <a:t>from</a:t>
                </a:r>
                <a:r>
                  <a:rPr lang="lv-LV" dirty="0"/>
                  <a:t> </a:t>
                </a:r>
                <a:r>
                  <a:rPr lang="lv-LV" dirty="0" err="1"/>
                  <a:t>an</a:t>
                </a:r>
                <a:r>
                  <a:rPr lang="lv-LV" dirty="0"/>
                  <a:t> </a:t>
                </a:r>
                <a:r>
                  <a:rPr lang="lv-LV" dirty="0" err="1"/>
                  <a:t>alphabet</a:t>
                </a:r>
                <a:endParaRPr lang="lv-LV" dirty="0"/>
              </a:p>
              <a:p>
                <a:r>
                  <a:rPr lang="lv-LV" dirty="0" err="1"/>
                  <a:t>Operations</a:t>
                </a:r>
                <a:endParaRPr lang="lv-LV" dirty="0"/>
              </a:p>
              <a:p>
                <a:pPr lvl="1"/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𝑎𝑎𝑏𝑐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𝑏𝑏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 – </a:t>
                </a:r>
                <a:r>
                  <a:rPr lang="lv-LV" dirty="0" err="1">
                    <a:solidFill>
                      <a:schemeClr val="bg1"/>
                    </a:solidFill>
                  </a:rPr>
                  <a:t>words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in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alphabet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lv-LV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 (also </a:t>
                </a:r>
                <a:r>
                  <a:rPr lang="lv-LV" dirty="0" err="1">
                    <a:solidFill>
                      <a:schemeClr val="bg1"/>
                    </a:solidFill>
                  </a:rPr>
                  <a:t>in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)</a:t>
                </a:r>
              </a:p>
              <a:p>
                <a:pPr lvl="1"/>
                <a:r>
                  <a:rPr lang="lv-LV" b="1" dirty="0">
                    <a:solidFill>
                      <a:schemeClr val="bg1"/>
                    </a:solidFill>
                  </a:rPr>
                  <a:t>Concatenation</a:t>
                </a:r>
                <a:r>
                  <a:rPr lang="lv-LV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𝑎𝑎𝑏𝑐𝑏𝑏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b="1" dirty="0">
                    <a:solidFill>
                      <a:schemeClr val="bg1"/>
                    </a:solidFill>
                  </a:rPr>
                  <a:t>Iteration</a:t>
                </a:r>
                <a:r>
                  <a:rPr lang="en-US" dirty="0">
                    <a:solidFill>
                      <a:schemeClr val="bg1"/>
                    </a:solidFill>
                  </a:rPr>
                  <a:t>: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lv-LV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𝑥𝑥</m:t>
                            </m:r>
                            <m: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lv-LV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a:rPr lang="lv-LV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groupChr>
                      </m:e>
                      <m:lim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lv-LV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times</m:t>
                        </m:r>
                      </m:lim>
                    </m:limLow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lv-LV" b="1" dirty="0">
                    <a:solidFill>
                      <a:schemeClr val="bg1"/>
                    </a:solidFill>
                  </a:rPr>
                  <a:t>Length</a:t>
                </a:r>
                <a:r>
                  <a:rPr lang="lv-LV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lv-LV" b="1" dirty="0" err="1">
                    <a:solidFill>
                      <a:schemeClr val="bg1"/>
                    </a:solidFill>
                  </a:rPr>
                  <a:t>Number</a:t>
                </a:r>
                <a:r>
                  <a:rPr lang="lv-LV" b="1" dirty="0">
                    <a:solidFill>
                      <a:schemeClr val="bg1"/>
                    </a:solidFill>
                  </a:rPr>
                  <a:t> of</a:t>
                </a:r>
                <a:r>
                  <a:rPr lang="en-US" b="1" dirty="0">
                    <a:solidFill>
                      <a:schemeClr val="bg1"/>
                    </a:solidFill>
                  </a:rPr>
                  <a:t> </a:t>
                </a:r>
                <a:r>
                  <a:rPr lang="lv-LV" b="1" dirty="0" err="1">
                    <a:solidFill>
                      <a:schemeClr val="bg1"/>
                    </a:solidFill>
                  </a:rPr>
                  <a:t>occurences</a:t>
                </a:r>
                <a:r>
                  <a:rPr lang="en-US" dirty="0">
                    <a:solidFill>
                      <a:schemeClr val="bg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lv-LV" dirty="0">
                    <a:solidFill>
                      <a:schemeClr val="bg1"/>
                    </a:solidFill>
                  </a:rPr>
                  <a:t>in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  <m: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chemeClr val="bg1"/>
                    </a:solidFill>
                  </a:rPr>
                  <a:t>Indexing</a:t>
                </a:r>
                <a:r>
                  <a:rPr lang="en-US" b="0" dirty="0">
                    <a:solidFill>
                      <a:schemeClr val="bg1"/>
                    </a:solidFill>
                  </a:rPr>
                  <a:t>: </a:t>
                </a:r>
                <a:r>
                  <a:rPr lang="en-US" b="0" dirty="0" err="1">
                    <a:solidFill>
                      <a:schemeClr val="bg1"/>
                    </a:solidFill>
                  </a:rPr>
                  <a:t>i</a:t>
                </a:r>
                <a:r>
                  <a:rPr lang="lv-LV" b="0" dirty="0">
                    <a:solidFill>
                      <a:schemeClr val="bg1"/>
                    </a:solidFill>
                  </a:rPr>
                  <a:t>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, </a:t>
                </a:r>
                <a:r>
                  <a:rPr lang="lv-LV" dirty="0" err="1">
                    <a:solidFill>
                      <a:schemeClr val="bg1"/>
                    </a:solidFill>
                  </a:rPr>
                  <a:t>then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lv-LV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lv-LV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lv-LV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lv-LV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)</a:t>
                </a:r>
              </a:p>
              <a:p>
                <a:r>
                  <a:rPr lang="lv-LV" dirty="0" err="1"/>
                  <a:t>The</a:t>
                </a:r>
                <a:r>
                  <a:rPr lang="lv-LV" dirty="0"/>
                  <a:t> </a:t>
                </a:r>
                <a:r>
                  <a:rPr lang="lv-LV" b="1" dirty="0" err="1"/>
                  <a:t>empty</a:t>
                </a:r>
                <a:r>
                  <a:rPr lang="lv-LV" b="1" dirty="0"/>
                  <a:t> </a:t>
                </a:r>
                <a:r>
                  <a:rPr lang="lv-LV" b="1" dirty="0" err="1"/>
                  <a:t>word</a:t>
                </a:r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lv-LV" b="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lv-LV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lv-LV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is</a:t>
                </a:r>
                <a:r>
                  <a:rPr lang="lv-LV" dirty="0">
                    <a:solidFill>
                      <a:schemeClr val="bg1"/>
                    </a:solidFill>
                  </a:rPr>
                  <a:t> a </a:t>
                </a:r>
                <a:r>
                  <a:rPr lang="lv-LV" dirty="0" err="1">
                    <a:solidFill>
                      <a:schemeClr val="bg1"/>
                    </a:solidFill>
                  </a:rPr>
                  <a:t>word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in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every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alphabet</a:t>
                </a:r>
                <a:endParaRPr lang="lv-LV" dirty="0">
                  <a:solidFill>
                    <a:schemeClr val="bg1"/>
                  </a:solidFill>
                </a:endParaRPr>
              </a:p>
              <a:p>
                <a:r>
                  <a:rPr lang="lv-LV" dirty="0">
                    <a:solidFill>
                      <a:schemeClr val="bg1"/>
                    </a:solidFill>
                  </a:rPr>
                  <a:t>The set of all </a:t>
                </a:r>
                <a:r>
                  <a:rPr lang="lv-LV" dirty="0" err="1">
                    <a:solidFill>
                      <a:schemeClr val="bg1"/>
                    </a:solidFill>
                  </a:rPr>
                  <a:t>finite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words</a:t>
                </a:r>
                <a:r>
                  <a:rPr lang="lv-LV" dirty="0">
                    <a:solidFill>
                      <a:schemeClr val="bg1"/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is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denoted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by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l-GR" dirty="0">
                    <a:solidFill>
                      <a:schemeClr val="bg1"/>
                    </a:solidFill>
                  </a:rPr>
                  <a:t>.</a:t>
                </a:r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lv-LV" dirty="0" err="1">
                    <a:solidFill>
                      <a:schemeClr val="bg1"/>
                    </a:solidFill>
                  </a:rPr>
                  <a:t>For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example</a:t>
                </a:r>
                <a:r>
                  <a:rPr lang="en-US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,0,1,00,01,10,11,000,001,010,011,100,…</m:t>
                        </m:r>
                      </m:e>
                    </m:d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lv-LV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lv-LV" dirty="0">
                    <a:solidFill>
                      <a:schemeClr val="bg1"/>
                    </a:solidFill>
                  </a:rPr>
                  <a:t>denotes the set of all words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with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length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lv-LV" b="1" dirty="0" err="1"/>
                  <a:t>Language</a:t>
                </a:r>
                <a:r>
                  <a:rPr lang="lv-LV" b="1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is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lv-LV" dirty="0">
                    <a:solidFill>
                      <a:schemeClr val="bg1"/>
                    </a:solidFill>
                  </a:rPr>
                  <a:t>a set </a:t>
                </a:r>
                <a:r>
                  <a:rPr lang="lv-LV" dirty="0" err="1">
                    <a:solidFill>
                      <a:schemeClr val="bg1"/>
                    </a:solidFill>
                  </a:rPr>
                  <a:t>of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words</a:t>
                </a:r>
                <a:r>
                  <a:rPr lang="en-US" dirty="0">
                    <a:solidFill>
                      <a:schemeClr val="bg1"/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l-GR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l-GR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denotes</a:t>
                </a:r>
                <a:r>
                  <a:rPr lang="lv-LV" dirty="0">
                    <a:solidFill>
                      <a:schemeClr val="bg1"/>
                    </a:solidFill>
                  </a:rPr>
                  <a:t> a </a:t>
                </a:r>
                <a:r>
                  <a:rPr lang="lv-LV" dirty="0" err="1">
                    <a:solidFill>
                      <a:schemeClr val="bg1"/>
                    </a:solidFill>
                  </a:rPr>
                  <a:t>language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</a:rPr>
                  <a:t>over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alphabet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endParaRPr lang="el-GR" dirty="0">
                  <a:solidFill>
                    <a:schemeClr val="bg1"/>
                  </a:solidFill>
                </a:endParaRPr>
              </a:p>
              <a:p>
                <a:pPr lvl="1"/>
                <a:endParaRPr lang="lv-LV" dirty="0"/>
              </a:p>
              <a:p>
                <a:endParaRPr lang="lv-LV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09553"/>
                <a:ext cx="10515600" cy="5605851"/>
              </a:xfrm>
              <a:blipFill>
                <a:blip r:embed="rId2"/>
                <a:stretch>
                  <a:fillRect l="-812" t="-2503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4E2483-CA81-A3DF-EC7B-7BF05E740879}"/>
                  </a:ext>
                </a:extLst>
              </p:cNvPr>
              <p:cNvSpPr txBox="1"/>
              <p:nvPr/>
            </p:nvSpPr>
            <p:spPr>
              <a:xfrm>
                <a:off x="7924800" y="477712"/>
                <a:ext cx="4267200" cy="151163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wrap="none" lIns="36000" tIns="36000" rIns="36000" bIns="36000" rtlCol="0">
                <a:spAutoFit/>
              </a:bodyPr>
              <a:lstStyle>
                <a:defPPr>
                  <a:defRPr lang="lv-LV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l-GR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l-GR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ā,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…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ž,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…, Ž,  ␣, ., 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</m:e>
                        </m:d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…, ! 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 ↑ , ↓ , → , ← </m:t>
                        </m:r>
                      </m:e>
                    </m:d>
                  </m:oMath>
                </a14:m>
                <a:endParaRPr lang="el-GR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dirty="0">
                  <a:effectLst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4E2483-CA81-A3DF-EC7B-7BF05E740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800" y="477712"/>
                <a:ext cx="4267200" cy="15116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7013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9959"/>
            <a:ext cx="10515600" cy="869594"/>
          </a:xfrm>
        </p:spPr>
        <p:txBody>
          <a:bodyPr/>
          <a:lstStyle/>
          <a:p>
            <a:r>
              <a:rPr lang="en-US" noProof="0" dirty="0"/>
              <a:t>Alphabets, words, languages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09553"/>
                <a:ext cx="10515600" cy="5605851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lv-LV" b="1" dirty="0"/>
                  <a:t>Alphabet</a:t>
                </a:r>
                <a:r>
                  <a:rPr lang="lv-LV" dirty="0"/>
                  <a:t> – a </a:t>
                </a:r>
                <a:r>
                  <a:rPr lang="lv-LV" dirty="0" err="1"/>
                  <a:t>finite</a:t>
                </a:r>
                <a:r>
                  <a:rPr lang="lv-LV" dirty="0"/>
                  <a:t> non-</a:t>
                </a:r>
                <a:r>
                  <a:rPr lang="lv-LV" dirty="0" err="1"/>
                  <a:t>empty</a:t>
                </a:r>
                <a:r>
                  <a:rPr lang="lv-LV" dirty="0"/>
                  <a:t> set </a:t>
                </a:r>
                <a:r>
                  <a:rPr lang="lv-LV" dirty="0" err="1"/>
                  <a:t>of</a:t>
                </a:r>
                <a:r>
                  <a:rPr lang="lv-LV" dirty="0"/>
                  <a:t> </a:t>
                </a:r>
                <a:r>
                  <a:rPr lang="lv-LV" dirty="0" err="1"/>
                  <a:t>symbols</a:t>
                </a:r>
                <a:r>
                  <a:rPr lang="lv-LV" dirty="0"/>
                  <a:t> (</a:t>
                </a:r>
                <a:r>
                  <a:rPr lang="lv-LV" dirty="0" err="1"/>
                  <a:t>letters</a:t>
                </a:r>
                <a:r>
                  <a:rPr lang="lv-LV" dirty="0"/>
                  <a:t>).</a:t>
                </a:r>
              </a:p>
              <a:p>
                <a:r>
                  <a:rPr lang="lv-LV" b="1" dirty="0"/>
                  <a:t>Word</a:t>
                </a:r>
                <a:r>
                  <a:rPr lang="lv-LV" dirty="0"/>
                  <a:t> – a </a:t>
                </a:r>
                <a:r>
                  <a:rPr lang="lv-LV" dirty="0" err="1"/>
                  <a:t>finite</a:t>
                </a:r>
                <a:r>
                  <a:rPr lang="lv-LV" dirty="0"/>
                  <a:t> </a:t>
                </a:r>
                <a:r>
                  <a:rPr lang="lv-LV" dirty="0" err="1"/>
                  <a:t>string</a:t>
                </a:r>
                <a:r>
                  <a:rPr lang="lv-LV" dirty="0"/>
                  <a:t> </a:t>
                </a:r>
                <a:r>
                  <a:rPr lang="lv-LV" dirty="0" err="1"/>
                  <a:t>of</a:t>
                </a:r>
                <a:r>
                  <a:rPr lang="lv-LV" dirty="0"/>
                  <a:t> </a:t>
                </a:r>
                <a:r>
                  <a:rPr lang="lv-LV" dirty="0" err="1"/>
                  <a:t>letters</a:t>
                </a:r>
                <a:r>
                  <a:rPr lang="lv-LV" dirty="0"/>
                  <a:t> </a:t>
                </a:r>
                <a:r>
                  <a:rPr lang="lv-LV" dirty="0" err="1"/>
                  <a:t>from</a:t>
                </a:r>
                <a:r>
                  <a:rPr lang="lv-LV" dirty="0"/>
                  <a:t> </a:t>
                </a:r>
                <a:r>
                  <a:rPr lang="lv-LV" dirty="0" err="1"/>
                  <a:t>an</a:t>
                </a:r>
                <a:r>
                  <a:rPr lang="lv-LV" dirty="0"/>
                  <a:t> </a:t>
                </a:r>
                <a:r>
                  <a:rPr lang="lv-LV" dirty="0" err="1"/>
                  <a:t>alphabet</a:t>
                </a:r>
                <a:endParaRPr lang="lv-LV" dirty="0"/>
              </a:p>
              <a:p>
                <a:r>
                  <a:rPr lang="lv-LV" dirty="0" err="1"/>
                  <a:t>Operations</a:t>
                </a:r>
                <a:endParaRPr lang="lv-LV" dirty="0"/>
              </a:p>
              <a:p>
                <a:pPr lvl="1"/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𝑎𝑎𝑏𝑐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𝑏𝑏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 – </a:t>
                </a:r>
                <a:r>
                  <a:rPr lang="lv-LV" dirty="0" err="1">
                    <a:solidFill>
                      <a:schemeClr val="tx1"/>
                    </a:solidFill>
                  </a:rPr>
                  <a:t>words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in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alphabet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lv-LV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 (also </a:t>
                </a:r>
                <a:r>
                  <a:rPr lang="lv-LV" dirty="0" err="1">
                    <a:solidFill>
                      <a:schemeClr val="tx1"/>
                    </a:solidFill>
                  </a:rPr>
                  <a:t>in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)</a:t>
                </a:r>
              </a:p>
              <a:p>
                <a:pPr lvl="1"/>
                <a:r>
                  <a:rPr lang="lv-LV" b="1" dirty="0">
                    <a:solidFill>
                      <a:schemeClr val="tx1"/>
                    </a:solidFill>
                  </a:rPr>
                  <a:t>Concatenation</a:t>
                </a:r>
                <a:r>
                  <a:rPr lang="lv-LV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𝑎𝑎𝑏𝑐𝑏𝑏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b="1" dirty="0">
                    <a:solidFill>
                      <a:schemeClr val="tx1"/>
                    </a:solidFill>
                  </a:rPr>
                  <a:t>Iteration</a:t>
                </a:r>
                <a:r>
                  <a:rPr lang="en-US" dirty="0">
                    <a:solidFill>
                      <a:schemeClr val="tx1"/>
                    </a:solidFill>
                  </a:rPr>
                  <a:t>: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lv-LV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𝑥𝑥</m:t>
                            </m:r>
                            <m: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lv-LV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a:rPr lang="lv-LV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groupChr>
                      </m:e>
                      <m:lim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lv-LV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times</m:t>
                        </m:r>
                      </m:lim>
                    </m:limLow>
                  </m:oMath>
                </a14:m>
                <a:endParaRPr lang="lv-LV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lv-LV" b="1" dirty="0">
                    <a:solidFill>
                      <a:schemeClr val="tx1"/>
                    </a:solidFill>
                  </a:rPr>
                  <a:t>Length</a:t>
                </a:r>
                <a:r>
                  <a:rPr lang="lv-LV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lv-LV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lv-LV" b="1" dirty="0" err="1">
                    <a:solidFill>
                      <a:schemeClr val="tx1"/>
                    </a:solidFill>
                  </a:rPr>
                  <a:t>Number</a:t>
                </a:r>
                <a:r>
                  <a:rPr lang="lv-LV" b="1" dirty="0">
                    <a:solidFill>
                      <a:schemeClr val="tx1"/>
                    </a:solidFill>
                  </a:rPr>
                  <a:t> of</a:t>
                </a:r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lv-LV" b="1" dirty="0" err="1">
                    <a:solidFill>
                      <a:schemeClr val="tx1"/>
                    </a:solidFill>
                  </a:rPr>
                  <a:t>occurences</a:t>
                </a:r>
                <a:r>
                  <a:rPr lang="en-US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lv-LV" dirty="0">
                    <a:solidFill>
                      <a:schemeClr val="tx1"/>
                    </a:solidFill>
                  </a:rPr>
                  <a:t>in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  <m: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lv-LV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chemeClr val="tx1"/>
                    </a:solidFill>
                  </a:rPr>
                  <a:t>Indexing</a:t>
                </a:r>
                <a:r>
                  <a:rPr lang="en-US" b="0" dirty="0">
                    <a:solidFill>
                      <a:schemeClr val="tx1"/>
                    </a:solidFill>
                  </a:rPr>
                  <a:t>: </a:t>
                </a:r>
                <a:r>
                  <a:rPr lang="en-US" b="0" dirty="0" err="1">
                    <a:solidFill>
                      <a:schemeClr val="tx1"/>
                    </a:solidFill>
                  </a:rPr>
                  <a:t>i</a:t>
                </a:r>
                <a:r>
                  <a:rPr lang="lv-LV" b="0" dirty="0">
                    <a:solidFill>
                      <a:schemeClr val="tx1"/>
                    </a:solidFill>
                  </a:rPr>
                  <a:t>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:r>
                  <a:rPr lang="lv-LV" dirty="0" err="1">
                    <a:solidFill>
                      <a:schemeClr val="tx1"/>
                    </a:solidFill>
                  </a:rPr>
                  <a:t>then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lv-LV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lv-LV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lv-LV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lv-LV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lv-LV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)</a:t>
                </a:r>
              </a:p>
              <a:p>
                <a:r>
                  <a:rPr lang="lv-LV" dirty="0" err="1"/>
                  <a:t>The</a:t>
                </a:r>
                <a:r>
                  <a:rPr lang="lv-LV" dirty="0"/>
                  <a:t> </a:t>
                </a:r>
                <a:r>
                  <a:rPr lang="lv-LV" b="1" dirty="0" err="1"/>
                  <a:t>empty</a:t>
                </a:r>
                <a:r>
                  <a:rPr lang="lv-LV" b="1" dirty="0"/>
                  <a:t> </a:t>
                </a:r>
                <a:r>
                  <a:rPr lang="lv-LV" b="1" dirty="0" err="1"/>
                  <a:t>word</a:t>
                </a:r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lv-LV" b="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lv-LV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lv-LV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is</a:t>
                </a:r>
                <a:r>
                  <a:rPr lang="lv-LV" dirty="0">
                    <a:solidFill>
                      <a:schemeClr val="bg1"/>
                    </a:solidFill>
                  </a:rPr>
                  <a:t> a </a:t>
                </a:r>
                <a:r>
                  <a:rPr lang="lv-LV" dirty="0" err="1">
                    <a:solidFill>
                      <a:schemeClr val="bg1"/>
                    </a:solidFill>
                  </a:rPr>
                  <a:t>word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in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every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alphabet</a:t>
                </a:r>
                <a:endParaRPr lang="lv-LV" dirty="0">
                  <a:solidFill>
                    <a:schemeClr val="bg1"/>
                  </a:solidFill>
                </a:endParaRPr>
              </a:p>
              <a:p>
                <a:r>
                  <a:rPr lang="lv-LV" dirty="0">
                    <a:solidFill>
                      <a:schemeClr val="bg1"/>
                    </a:solidFill>
                  </a:rPr>
                  <a:t>The set of all </a:t>
                </a:r>
                <a:r>
                  <a:rPr lang="lv-LV" dirty="0" err="1">
                    <a:solidFill>
                      <a:schemeClr val="bg1"/>
                    </a:solidFill>
                  </a:rPr>
                  <a:t>finite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words</a:t>
                </a:r>
                <a:r>
                  <a:rPr lang="lv-LV" dirty="0">
                    <a:solidFill>
                      <a:schemeClr val="bg1"/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is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denoted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by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l-GR" dirty="0">
                    <a:solidFill>
                      <a:schemeClr val="bg1"/>
                    </a:solidFill>
                  </a:rPr>
                  <a:t>.</a:t>
                </a:r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lv-LV" dirty="0" err="1">
                    <a:solidFill>
                      <a:schemeClr val="bg1"/>
                    </a:solidFill>
                  </a:rPr>
                  <a:t>For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example</a:t>
                </a:r>
                <a:r>
                  <a:rPr lang="en-US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,0,1,00,01,10,11,000,001,010,011,100,…</m:t>
                        </m:r>
                      </m:e>
                    </m:d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lv-LV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lv-LV" dirty="0">
                    <a:solidFill>
                      <a:schemeClr val="bg1"/>
                    </a:solidFill>
                  </a:rPr>
                  <a:t>denotes the set of all words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with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length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lv-LV" b="1" dirty="0" err="1"/>
                  <a:t>Language</a:t>
                </a:r>
                <a:r>
                  <a:rPr lang="lv-LV" b="1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is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lv-LV" dirty="0">
                    <a:solidFill>
                      <a:schemeClr val="bg1"/>
                    </a:solidFill>
                  </a:rPr>
                  <a:t>a set </a:t>
                </a:r>
                <a:r>
                  <a:rPr lang="lv-LV" dirty="0" err="1">
                    <a:solidFill>
                      <a:schemeClr val="bg1"/>
                    </a:solidFill>
                  </a:rPr>
                  <a:t>of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words</a:t>
                </a:r>
                <a:r>
                  <a:rPr lang="en-US" dirty="0">
                    <a:solidFill>
                      <a:schemeClr val="bg1"/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l-GR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l-GR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denotes</a:t>
                </a:r>
                <a:r>
                  <a:rPr lang="lv-LV" dirty="0">
                    <a:solidFill>
                      <a:schemeClr val="bg1"/>
                    </a:solidFill>
                  </a:rPr>
                  <a:t> a </a:t>
                </a:r>
                <a:r>
                  <a:rPr lang="lv-LV" dirty="0" err="1">
                    <a:solidFill>
                      <a:schemeClr val="bg1"/>
                    </a:solidFill>
                  </a:rPr>
                  <a:t>language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</a:rPr>
                  <a:t>over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alphabet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endParaRPr lang="el-GR" dirty="0">
                  <a:solidFill>
                    <a:schemeClr val="bg1"/>
                  </a:solidFill>
                </a:endParaRPr>
              </a:p>
              <a:p>
                <a:pPr lvl="1"/>
                <a:endParaRPr lang="lv-LV" dirty="0"/>
              </a:p>
              <a:p>
                <a:endParaRPr lang="lv-LV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09553"/>
                <a:ext cx="10515600" cy="5605851"/>
              </a:xfrm>
              <a:blipFill>
                <a:blip r:embed="rId2"/>
                <a:stretch>
                  <a:fillRect l="-812" t="-2503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AE19B5-8831-0E8B-9A94-DF0F5D9214EB}"/>
                  </a:ext>
                </a:extLst>
              </p:cNvPr>
              <p:cNvSpPr txBox="1"/>
              <p:nvPr/>
            </p:nvSpPr>
            <p:spPr>
              <a:xfrm>
                <a:off x="7924800" y="477712"/>
                <a:ext cx="4267200" cy="151163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wrap="none" lIns="36000" tIns="36000" rIns="36000" bIns="36000" rtlCol="0">
                <a:spAutoFit/>
              </a:bodyPr>
              <a:lstStyle>
                <a:defPPr>
                  <a:defRPr lang="lv-LV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l-GR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l-GR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ā,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…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ž,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…, Ž,  ␣, ., 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</m:e>
                        </m:d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…, ! 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 ↑ , ↓ , → , ← </m:t>
                        </m:r>
                      </m:e>
                    </m:d>
                  </m:oMath>
                </a14:m>
                <a:endParaRPr lang="el-GR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dirty="0">
                  <a:effectLst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AE19B5-8831-0E8B-9A94-DF0F5D921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800" y="477712"/>
                <a:ext cx="4267200" cy="15116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2081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9959"/>
            <a:ext cx="10515600" cy="869594"/>
          </a:xfrm>
        </p:spPr>
        <p:txBody>
          <a:bodyPr/>
          <a:lstStyle/>
          <a:p>
            <a:r>
              <a:rPr lang="en-US" noProof="0" dirty="0"/>
              <a:t>Alphabets, words, languages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09553"/>
                <a:ext cx="10515600" cy="5605851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lv-LV" b="1" dirty="0"/>
                  <a:t>Alphabet</a:t>
                </a:r>
                <a:r>
                  <a:rPr lang="lv-LV" dirty="0"/>
                  <a:t> – a </a:t>
                </a:r>
                <a:r>
                  <a:rPr lang="lv-LV" dirty="0" err="1"/>
                  <a:t>finite</a:t>
                </a:r>
                <a:r>
                  <a:rPr lang="lv-LV" dirty="0"/>
                  <a:t> non-</a:t>
                </a:r>
                <a:r>
                  <a:rPr lang="lv-LV" dirty="0" err="1"/>
                  <a:t>empty</a:t>
                </a:r>
                <a:r>
                  <a:rPr lang="lv-LV" dirty="0"/>
                  <a:t> set </a:t>
                </a:r>
                <a:r>
                  <a:rPr lang="lv-LV" dirty="0" err="1"/>
                  <a:t>of</a:t>
                </a:r>
                <a:r>
                  <a:rPr lang="lv-LV" dirty="0"/>
                  <a:t> </a:t>
                </a:r>
                <a:r>
                  <a:rPr lang="lv-LV" dirty="0" err="1"/>
                  <a:t>symbols</a:t>
                </a:r>
                <a:r>
                  <a:rPr lang="lv-LV" dirty="0"/>
                  <a:t> (</a:t>
                </a:r>
                <a:r>
                  <a:rPr lang="lv-LV" dirty="0" err="1"/>
                  <a:t>letters</a:t>
                </a:r>
                <a:r>
                  <a:rPr lang="lv-LV" dirty="0"/>
                  <a:t>).</a:t>
                </a:r>
              </a:p>
              <a:p>
                <a:r>
                  <a:rPr lang="lv-LV" b="1" dirty="0"/>
                  <a:t>Word</a:t>
                </a:r>
                <a:r>
                  <a:rPr lang="lv-LV" dirty="0"/>
                  <a:t> – a </a:t>
                </a:r>
                <a:r>
                  <a:rPr lang="lv-LV" dirty="0" err="1"/>
                  <a:t>finite</a:t>
                </a:r>
                <a:r>
                  <a:rPr lang="lv-LV" dirty="0"/>
                  <a:t> </a:t>
                </a:r>
                <a:r>
                  <a:rPr lang="lv-LV" dirty="0" err="1"/>
                  <a:t>string</a:t>
                </a:r>
                <a:r>
                  <a:rPr lang="lv-LV" dirty="0"/>
                  <a:t> </a:t>
                </a:r>
                <a:r>
                  <a:rPr lang="lv-LV" dirty="0" err="1"/>
                  <a:t>of</a:t>
                </a:r>
                <a:r>
                  <a:rPr lang="lv-LV" dirty="0"/>
                  <a:t> </a:t>
                </a:r>
                <a:r>
                  <a:rPr lang="lv-LV" dirty="0" err="1"/>
                  <a:t>letters</a:t>
                </a:r>
                <a:r>
                  <a:rPr lang="lv-LV" dirty="0"/>
                  <a:t> </a:t>
                </a:r>
                <a:r>
                  <a:rPr lang="lv-LV" dirty="0" err="1"/>
                  <a:t>from</a:t>
                </a:r>
                <a:r>
                  <a:rPr lang="lv-LV" dirty="0"/>
                  <a:t> </a:t>
                </a:r>
                <a:r>
                  <a:rPr lang="lv-LV" dirty="0" err="1"/>
                  <a:t>an</a:t>
                </a:r>
                <a:r>
                  <a:rPr lang="lv-LV" dirty="0"/>
                  <a:t> </a:t>
                </a:r>
                <a:r>
                  <a:rPr lang="lv-LV" dirty="0" err="1"/>
                  <a:t>alphabet</a:t>
                </a:r>
                <a:endParaRPr lang="lv-LV" dirty="0"/>
              </a:p>
              <a:p>
                <a:r>
                  <a:rPr lang="lv-LV" dirty="0" err="1"/>
                  <a:t>Operations</a:t>
                </a:r>
                <a:endParaRPr lang="lv-LV" dirty="0"/>
              </a:p>
              <a:p>
                <a:pPr lvl="1"/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𝑎𝑎𝑏𝑐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𝑏𝑏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 – </a:t>
                </a:r>
                <a:r>
                  <a:rPr lang="lv-LV" dirty="0" err="1">
                    <a:solidFill>
                      <a:schemeClr val="tx1"/>
                    </a:solidFill>
                  </a:rPr>
                  <a:t>words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in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alphabet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lv-LV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 (also </a:t>
                </a:r>
                <a:r>
                  <a:rPr lang="lv-LV" dirty="0" err="1">
                    <a:solidFill>
                      <a:schemeClr val="tx1"/>
                    </a:solidFill>
                  </a:rPr>
                  <a:t>in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)</a:t>
                </a:r>
              </a:p>
              <a:p>
                <a:pPr lvl="1"/>
                <a:r>
                  <a:rPr lang="lv-LV" b="1" dirty="0">
                    <a:solidFill>
                      <a:schemeClr val="tx1"/>
                    </a:solidFill>
                  </a:rPr>
                  <a:t>Concatenation</a:t>
                </a:r>
                <a:r>
                  <a:rPr lang="lv-LV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𝑎𝑎𝑏𝑐𝑏𝑏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b="1" dirty="0">
                    <a:solidFill>
                      <a:schemeClr val="tx1"/>
                    </a:solidFill>
                  </a:rPr>
                  <a:t>Iteration</a:t>
                </a:r>
                <a:r>
                  <a:rPr lang="en-US" dirty="0">
                    <a:solidFill>
                      <a:schemeClr val="tx1"/>
                    </a:solidFill>
                  </a:rPr>
                  <a:t>: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lv-LV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𝑥𝑥</m:t>
                            </m:r>
                            <m: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lv-LV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a:rPr lang="lv-LV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groupChr>
                      </m:e>
                      <m:lim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lv-LV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times</m:t>
                        </m:r>
                      </m:lim>
                    </m:limLow>
                  </m:oMath>
                </a14:m>
                <a:endParaRPr lang="lv-LV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lv-LV" b="1" dirty="0">
                    <a:solidFill>
                      <a:schemeClr val="tx1"/>
                    </a:solidFill>
                  </a:rPr>
                  <a:t>Length</a:t>
                </a:r>
                <a:r>
                  <a:rPr lang="lv-LV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lv-LV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lv-LV" b="1" dirty="0" err="1">
                    <a:solidFill>
                      <a:schemeClr val="tx1"/>
                    </a:solidFill>
                  </a:rPr>
                  <a:t>Number</a:t>
                </a:r>
                <a:r>
                  <a:rPr lang="lv-LV" b="1" dirty="0">
                    <a:solidFill>
                      <a:schemeClr val="tx1"/>
                    </a:solidFill>
                  </a:rPr>
                  <a:t> of</a:t>
                </a:r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lv-LV" b="1" dirty="0" err="1">
                    <a:solidFill>
                      <a:schemeClr val="tx1"/>
                    </a:solidFill>
                  </a:rPr>
                  <a:t>occurences</a:t>
                </a:r>
                <a:r>
                  <a:rPr lang="en-US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lv-LV" dirty="0">
                    <a:solidFill>
                      <a:schemeClr val="tx1"/>
                    </a:solidFill>
                  </a:rPr>
                  <a:t>in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  <m: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lv-LV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chemeClr val="tx1"/>
                    </a:solidFill>
                  </a:rPr>
                  <a:t>Indexing</a:t>
                </a:r>
                <a:r>
                  <a:rPr lang="en-US" b="0" dirty="0">
                    <a:solidFill>
                      <a:schemeClr val="tx1"/>
                    </a:solidFill>
                  </a:rPr>
                  <a:t>: </a:t>
                </a:r>
                <a:r>
                  <a:rPr lang="en-US" b="0" dirty="0" err="1">
                    <a:solidFill>
                      <a:schemeClr val="tx1"/>
                    </a:solidFill>
                  </a:rPr>
                  <a:t>i</a:t>
                </a:r>
                <a:r>
                  <a:rPr lang="lv-LV" b="0" dirty="0">
                    <a:solidFill>
                      <a:schemeClr val="tx1"/>
                    </a:solidFill>
                  </a:rPr>
                  <a:t>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:r>
                  <a:rPr lang="lv-LV" dirty="0" err="1">
                    <a:solidFill>
                      <a:schemeClr val="tx1"/>
                    </a:solidFill>
                  </a:rPr>
                  <a:t>then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lv-LV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lv-LV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lv-LV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lv-LV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lv-LV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)</a:t>
                </a:r>
              </a:p>
              <a:p>
                <a:r>
                  <a:rPr lang="lv-LV" dirty="0" err="1"/>
                  <a:t>The</a:t>
                </a:r>
                <a:r>
                  <a:rPr lang="lv-LV" dirty="0"/>
                  <a:t> </a:t>
                </a:r>
                <a:r>
                  <a:rPr lang="lv-LV" b="1" dirty="0" err="1"/>
                  <a:t>empty</a:t>
                </a:r>
                <a:r>
                  <a:rPr lang="lv-LV" b="1" dirty="0"/>
                  <a:t> </a:t>
                </a:r>
                <a:r>
                  <a:rPr lang="lv-LV" b="1" dirty="0" err="1"/>
                  <a:t>word</a:t>
                </a:r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lv-LV" b="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lv-LV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lv-LV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lv-LV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lv-LV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is</a:t>
                </a:r>
                <a:r>
                  <a:rPr lang="lv-LV" dirty="0">
                    <a:solidFill>
                      <a:schemeClr val="tx1"/>
                    </a:solidFill>
                  </a:rPr>
                  <a:t> a </a:t>
                </a:r>
                <a:r>
                  <a:rPr lang="lv-LV" dirty="0" err="1">
                    <a:solidFill>
                      <a:schemeClr val="tx1"/>
                    </a:solidFill>
                  </a:rPr>
                  <a:t>word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in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every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alphabet</a:t>
                </a:r>
                <a:endParaRPr lang="lv-LV" dirty="0">
                  <a:solidFill>
                    <a:schemeClr val="tx1"/>
                  </a:solidFill>
                </a:endParaRPr>
              </a:p>
              <a:p>
                <a:r>
                  <a:rPr lang="lv-LV" dirty="0">
                    <a:solidFill>
                      <a:schemeClr val="bg1"/>
                    </a:solidFill>
                  </a:rPr>
                  <a:t>The set of all </a:t>
                </a:r>
                <a:r>
                  <a:rPr lang="lv-LV" dirty="0" err="1">
                    <a:solidFill>
                      <a:schemeClr val="bg1"/>
                    </a:solidFill>
                  </a:rPr>
                  <a:t>finite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words</a:t>
                </a:r>
                <a:r>
                  <a:rPr lang="lv-LV" dirty="0">
                    <a:solidFill>
                      <a:schemeClr val="bg1"/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is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denoted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by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l-GR" dirty="0">
                    <a:solidFill>
                      <a:schemeClr val="bg1"/>
                    </a:solidFill>
                  </a:rPr>
                  <a:t>.</a:t>
                </a:r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lv-LV" dirty="0" err="1">
                    <a:solidFill>
                      <a:schemeClr val="bg1"/>
                    </a:solidFill>
                  </a:rPr>
                  <a:t>For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example</a:t>
                </a:r>
                <a:r>
                  <a:rPr lang="en-US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lv-LV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lv-LV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,0,1,00,01,10,11,000,001,010,011,100,…</m:t>
                        </m:r>
                      </m:e>
                    </m:d>
                  </m:oMath>
                </a14:m>
                <a:endParaRPr lang="lv-LV" dirty="0">
                  <a:solidFill>
                    <a:schemeClr val="bg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lv-LV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lv-LV" dirty="0">
                    <a:solidFill>
                      <a:schemeClr val="bg1"/>
                    </a:solidFill>
                  </a:rPr>
                  <a:t>denotes the set of all words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with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length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lv-LV" b="1" dirty="0" err="1"/>
                  <a:t>Language</a:t>
                </a:r>
                <a:r>
                  <a:rPr lang="lv-LV" b="1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is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lv-LV" dirty="0">
                    <a:solidFill>
                      <a:schemeClr val="bg1"/>
                    </a:solidFill>
                  </a:rPr>
                  <a:t>a set </a:t>
                </a:r>
                <a:r>
                  <a:rPr lang="lv-LV" dirty="0" err="1">
                    <a:solidFill>
                      <a:schemeClr val="bg1"/>
                    </a:solidFill>
                  </a:rPr>
                  <a:t>of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words</a:t>
                </a:r>
                <a:r>
                  <a:rPr lang="en-US" dirty="0">
                    <a:solidFill>
                      <a:schemeClr val="bg1"/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l-GR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l-GR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denotes</a:t>
                </a:r>
                <a:r>
                  <a:rPr lang="lv-LV" dirty="0">
                    <a:solidFill>
                      <a:schemeClr val="bg1"/>
                    </a:solidFill>
                  </a:rPr>
                  <a:t> a </a:t>
                </a:r>
                <a:r>
                  <a:rPr lang="lv-LV" dirty="0" err="1">
                    <a:solidFill>
                      <a:schemeClr val="bg1"/>
                    </a:solidFill>
                  </a:rPr>
                  <a:t>language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</a:rPr>
                  <a:t>over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alphabet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endParaRPr lang="el-GR" dirty="0">
                  <a:solidFill>
                    <a:schemeClr val="bg1"/>
                  </a:solidFill>
                </a:endParaRPr>
              </a:p>
              <a:p>
                <a:pPr lvl="1"/>
                <a:endParaRPr lang="lv-LV" dirty="0"/>
              </a:p>
              <a:p>
                <a:endParaRPr lang="lv-LV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09553"/>
                <a:ext cx="10515600" cy="5605851"/>
              </a:xfrm>
              <a:blipFill>
                <a:blip r:embed="rId2"/>
                <a:stretch>
                  <a:fillRect l="-812" t="-2503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AE19B5-8831-0E8B-9A94-DF0F5D9214EB}"/>
                  </a:ext>
                </a:extLst>
              </p:cNvPr>
              <p:cNvSpPr txBox="1"/>
              <p:nvPr/>
            </p:nvSpPr>
            <p:spPr>
              <a:xfrm>
                <a:off x="7924800" y="477712"/>
                <a:ext cx="4267200" cy="151163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wrap="none" lIns="36000" tIns="36000" rIns="36000" bIns="36000" rtlCol="0">
                <a:spAutoFit/>
              </a:bodyPr>
              <a:lstStyle>
                <a:defPPr>
                  <a:defRPr lang="lv-LV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l-GR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l-GR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ā,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…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ž,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…, Ž,  ␣, ., 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</m:e>
                        </m:d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…, ! 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 ↑ , ↓ , → , ← </m:t>
                        </m:r>
                      </m:e>
                    </m:d>
                  </m:oMath>
                </a14:m>
                <a:endParaRPr lang="el-GR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dirty="0">
                  <a:effectLst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AE19B5-8831-0E8B-9A94-DF0F5D921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800" y="477712"/>
                <a:ext cx="4267200" cy="15116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2585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9959"/>
            <a:ext cx="10515600" cy="869594"/>
          </a:xfrm>
        </p:spPr>
        <p:txBody>
          <a:bodyPr/>
          <a:lstStyle/>
          <a:p>
            <a:r>
              <a:rPr lang="en-US" noProof="0" dirty="0"/>
              <a:t>Alphabets, words, languages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09553"/>
                <a:ext cx="10515600" cy="5605851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lv-LV" b="1" dirty="0"/>
                  <a:t>Alphabet</a:t>
                </a:r>
                <a:r>
                  <a:rPr lang="lv-LV" dirty="0"/>
                  <a:t> – a </a:t>
                </a:r>
                <a:r>
                  <a:rPr lang="lv-LV" dirty="0" err="1"/>
                  <a:t>finite</a:t>
                </a:r>
                <a:r>
                  <a:rPr lang="lv-LV" dirty="0"/>
                  <a:t> non-</a:t>
                </a:r>
                <a:r>
                  <a:rPr lang="lv-LV" dirty="0" err="1"/>
                  <a:t>empty</a:t>
                </a:r>
                <a:r>
                  <a:rPr lang="lv-LV" dirty="0"/>
                  <a:t> set </a:t>
                </a:r>
                <a:r>
                  <a:rPr lang="lv-LV" dirty="0" err="1"/>
                  <a:t>of</a:t>
                </a:r>
                <a:r>
                  <a:rPr lang="lv-LV" dirty="0"/>
                  <a:t> </a:t>
                </a:r>
                <a:r>
                  <a:rPr lang="lv-LV" dirty="0" err="1"/>
                  <a:t>symbols</a:t>
                </a:r>
                <a:r>
                  <a:rPr lang="lv-LV" dirty="0"/>
                  <a:t> (</a:t>
                </a:r>
                <a:r>
                  <a:rPr lang="lv-LV" dirty="0" err="1"/>
                  <a:t>letters</a:t>
                </a:r>
                <a:r>
                  <a:rPr lang="lv-LV" dirty="0"/>
                  <a:t>).</a:t>
                </a:r>
              </a:p>
              <a:p>
                <a:r>
                  <a:rPr lang="lv-LV" b="1" dirty="0"/>
                  <a:t>Word</a:t>
                </a:r>
                <a:r>
                  <a:rPr lang="lv-LV" dirty="0"/>
                  <a:t> – a </a:t>
                </a:r>
                <a:r>
                  <a:rPr lang="lv-LV" dirty="0" err="1"/>
                  <a:t>finite</a:t>
                </a:r>
                <a:r>
                  <a:rPr lang="lv-LV" dirty="0"/>
                  <a:t> </a:t>
                </a:r>
                <a:r>
                  <a:rPr lang="lv-LV" dirty="0" err="1"/>
                  <a:t>string</a:t>
                </a:r>
                <a:r>
                  <a:rPr lang="lv-LV" dirty="0"/>
                  <a:t> </a:t>
                </a:r>
                <a:r>
                  <a:rPr lang="lv-LV" dirty="0" err="1"/>
                  <a:t>of</a:t>
                </a:r>
                <a:r>
                  <a:rPr lang="lv-LV" dirty="0"/>
                  <a:t> </a:t>
                </a:r>
                <a:r>
                  <a:rPr lang="lv-LV" dirty="0" err="1"/>
                  <a:t>letters</a:t>
                </a:r>
                <a:r>
                  <a:rPr lang="lv-LV" dirty="0"/>
                  <a:t> </a:t>
                </a:r>
                <a:r>
                  <a:rPr lang="lv-LV" dirty="0" err="1"/>
                  <a:t>from</a:t>
                </a:r>
                <a:r>
                  <a:rPr lang="lv-LV" dirty="0"/>
                  <a:t> </a:t>
                </a:r>
                <a:r>
                  <a:rPr lang="lv-LV" dirty="0" err="1"/>
                  <a:t>an</a:t>
                </a:r>
                <a:r>
                  <a:rPr lang="lv-LV" dirty="0"/>
                  <a:t> </a:t>
                </a:r>
                <a:r>
                  <a:rPr lang="lv-LV" dirty="0" err="1"/>
                  <a:t>alphabet</a:t>
                </a:r>
                <a:endParaRPr lang="lv-LV" dirty="0"/>
              </a:p>
              <a:p>
                <a:r>
                  <a:rPr lang="lv-LV" dirty="0" err="1"/>
                  <a:t>Operations</a:t>
                </a:r>
                <a:endParaRPr lang="lv-LV" dirty="0"/>
              </a:p>
              <a:p>
                <a:pPr lvl="1"/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𝑎𝑎𝑏𝑐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𝑏𝑏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 – </a:t>
                </a:r>
                <a:r>
                  <a:rPr lang="lv-LV" dirty="0" err="1">
                    <a:solidFill>
                      <a:schemeClr val="tx1"/>
                    </a:solidFill>
                  </a:rPr>
                  <a:t>words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in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alphabet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lv-LV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 (also </a:t>
                </a:r>
                <a:r>
                  <a:rPr lang="lv-LV" dirty="0" err="1">
                    <a:solidFill>
                      <a:schemeClr val="tx1"/>
                    </a:solidFill>
                  </a:rPr>
                  <a:t>in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)</a:t>
                </a:r>
              </a:p>
              <a:p>
                <a:pPr lvl="1"/>
                <a:r>
                  <a:rPr lang="lv-LV" b="1" dirty="0">
                    <a:solidFill>
                      <a:schemeClr val="tx1"/>
                    </a:solidFill>
                  </a:rPr>
                  <a:t>Concatenation</a:t>
                </a:r>
                <a:r>
                  <a:rPr lang="lv-LV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𝑎𝑎𝑏𝑐𝑏𝑏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b="1" dirty="0">
                    <a:solidFill>
                      <a:schemeClr val="tx1"/>
                    </a:solidFill>
                  </a:rPr>
                  <a:t>Iteration</a:t>
                </a:r>
                <a:r>
                  <a:rPr lang="en-US" dirty="0">
                    <a:solidFill>
                      <a:schemeClr val="tx1"/>
                    </a:solidFill>
                  </a:rPr>
                  <a:t>: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lv-LV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𝑥𝑥</m:t>
                            </m:r>
                            <m: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lv-LV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a:rPr lang="lv-LV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groupChr>
                      </m:e>
                      <m:lim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lv-LV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times</m:t>
                        </m:r>
                      </m:lim>
                    </m:limLow>
                  </m:oMath>
                </a14:m>
                <a:endParaRPr lang="lv-LV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lv-LV" b="1" dirty="0">
                    <a:solidFill>
                      <a:schemeClr val="tx1"/>
                    </a:solidFill>
                  </a:rPr>
                  <a:t>Length</a:t>
                </a:r>
                <a:r>
                  <a:rPr lang="lv-LV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lv-LV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lv-LV" b="1" dirty="0" err="1">
                    <a:solidFill>
                      <a:schemeClr val="tx1"/>
                    </a:solidFill>
                  </a:rPr>
                  <a:t>Number</a:t>
                </a:r>
                <a:r>
                  <a:rPr lang="lv-LV" b="1" dirty="0">
                    <a:solidFill>
                      <a:schemeClr val="tx1"/>
                    </a:solidFill>
                  </a:rPr>
                  <a:t> of</a:t>
                </a:r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lv-LV" b="1" dirty="0" err="1">
                    <a:solidFill>
                      <a:schemeClr val="tx1"/>
                    </a:solidFill>
                  </a:rPr>
                  <a:t>occurences</a:t>
                </a:r>
                <a:r>
                  <a:rPr lang="en-US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lv-LV" dirty="0">
                    <a:solidFill>
                      <a:schemeClr val="tx1"/>
                    </a:solidFill>
                  </a:rPr>
                  <a:t>in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  <m: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lv-LV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chemeClr val="tx1"/>
                    </a:solidFill>
                  </a:rPr>
                  <a:t>Indexing</a:t>
                </a:r>
                <a:r>
                  <a:rPr lang="en-US" b="0" dirty="0">
                    <a:solidFill>
                      <a:schemeClr val="tx1"/>
                    </a:solidFill>
                  </a:rPr>
                  <a:t>: </a:t>
                </a:r>
                <a:r>
                  <a:rPr lang="en-US" b="0" dirty="0" err="1">
                    <a:solidFill>
                      <a:schemeClr val="tx1"/>
                    </a:solidFill>
                  </a:rPr>
                  <a:t>i</a:t>
                </a:r>
                <a:r>
                  <a:rPr lang="lv-LV" b="0" dirty="0">
                    <a:solidFill>
                      <a:schemeClr val="tx1"/>
                    </a:solidFill>
                  </a:rPr>
                  <a:t>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:r>
                  <a:rPr lang="lv-LV" dirty="0" err="1">
                    <a:solidFill>
                      <a:schemeClr val="tx1"/>
                    </a:solidFill>
                  </a:rPr>
                  <a:t>then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lv-LV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lv-LV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lv-LV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lv-LV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lv-LV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)</a:t>
                </a:r>
              </a:p>
              <a:p>
                <a:r>
                  <a:rPr lang="lv-LV" dirty="0" err="1"/>
                  <a:t>The</a:t>
                </a:r>
                <a:r>
                  <a:rPr lang="lv-LV" dirty="0"/>
                  <a:t> </a:t>
                </a:r>
                <a:r>
                  <a:rPr lang="lv-LV" b="1" dirty="0" err="1"/>
                  <a:t>empty</a:t>
                </a:r>
                <a:r>
                  <a:rPr lang="lv-LV" b="1" dirty="0"/>
                  <a:t> </a:t>
                </a:r>
                <a:r>
                  <a:rPr lang="lv-LV" b="1" dirty="0" err="1"/>
                  <a:t>word</a:t>
                </a:r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lv-LV" b="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lv-LV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lv-LV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lv-LV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lv-LV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is</a:t>
                </a:r>
                <a:r>
                  <a:rPr lang="lv-LV" dirty="0">
                    <a:solidFill>
                      <a:schemeClr val="tx1"/>
                    </a:solidFill>
                  </a:rPr>
                  <a:t> a </a:t>
                </a:r>
                <a:r>
                  <a:rPr lang="lv-LV" dirty="0" err="1">
                    <a:solidFill>
                      <a:schemeClr val="tx1"/>
                    </a:solidFill>
                  </a:rPr>
                  <a:t>word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in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every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alphabet</a:t>
                </a:r>
                <a:endParaRPr lang="lv-LV" dirty="0">
                  <a:solidFill>
                    <a:schemeClr val="tx1"/>
                  </a:solidFill>
                </a:endParaRPr>
              </a:p>
              <a:p>
                <a:r>
                  <a:rPr lang="lv-LV" dirty="0">
                    <a:solidFill>
                      <a:schemeClr val="tx1"/>
                    </a:solidFill>
                  </a:rPr>
                  <a:t>The set of all </a:t>
                </a:r>
                <a:r>
                  <a:rPr lang="lv-LV" dirty="0" err="1">
                    <a:solidFill>
                      <a:schemeClr val="tx1"/>
                    </a:solidFill>
                  </a:rPr>
                  <a:t>finite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words</a:t>
                </a:r>
                <a:r>
                  <a:rPr lang="lv-LV" dirty="0">
                    <a:solidFill>
                      <a:schemeClr val="tx1"/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is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denoted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by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lv-LV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l-GR" dirty="0">
                    <a:solidFill>
                      <a:schemeClr val="tx1"/>
                    </a:solidFill>
                  </a:rPr>
                  <a:t>.</a:t>
                </a:r>
                <a:endParaRPr lang="lv-LV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lv-LV" dirty="0" err="1">
                    <a:solidFill>
                      <a:schemeClr val="tx1"/>
                    </a:solidFill>
                  </a:rPr>
                  <a:t>For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example</a:t>
                </a:r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,0,1,00,01,10,11,000,001,010,011,100,…</m:t>
                        </m:r>
                      </m:e>
                    </m:d>
                  </m:oMath>
                </a14:m>
                <a:endParaRPr lang="lv-LV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lv-LV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lv-LV" dirty="0">
                    <a:solidFill>
                      <a:schemeClr val="tx1"/>
                    </a:solidFill>
                  </a:rPr>
                  <a:t>denotes the set of all words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with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length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lv-LV" b="1" dirty="0" err="1"/>
                  <a:t>Language</a:t>
                </a:r>
                <a:r>
                  <a:rPr lang="lv-LV" b="1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is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lv-LV" dirty="0">
                    <a:solidFill>
                      <a:schemeClr val="bg1"/>
                    </a:solidFill>
                  </a:rPr>
                  <a:t>a set </a:t>
                </a:r>
                <a:r>
                  <a:rPr lang="lv-LV" dirty="0" err="1">
                    <a:solidFill>
                      <a:schemeClr val="bg1"/>
                    </a:solidFill>
                  </a:rPr>
                  <a:t>of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words</a:t>
                </a:r>
                <a:r>
                  <a:rPr lang="en-US" dirty="0">
                    <a:solidFill>
                      <a:schemeClr val="bg1"/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lv-LV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l-GR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l-GR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denotes</a:t>
                </a:r>
                <a:r>
                  <a:rPr lang="lv-LV" dirty="0">
                    <a:solidFill>
                      <a:schemeClr val="bg1"/>
                    </a:solidFill>
                  </a:rPr>
                  <a:t> a </a:t>
                </a:r>
                <a:r>
                  <a:rPr lang="lv-LV" dirty="0" err="1">
                    <a:solidFill>
                      <a:schemeClr val="bg1"/>
                    </a:solidFill>
                  </a:rPr>
                  <a:t>language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</a:rPr>
                  <a:t>over</a:t>
                </a:r>
                <a:r>
                  <a:rPr lang="lv-LV" dirty="0">
                    <a:solidFill>
                      <a:schemeClr val="bg1"/>
                    </a:solidFill>
                  </a:rPr>
                  <a:t> </a:t>
                </a:r>
                <a:r>
                  <a:rPr lang="lv-LV" dirty="0" err="1">
                    <a:solidFill>
                      <a:schemeClr val="bg1"/>
                    </a:solidFill>
                  </a:rPr>
                  <a:t>alphabet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endParaRPr lang="el-GR" dirty="0">
                  <a:solidFill>
                    <a:schemeClr val="bg1"/>
                  </a:solidFill>
                </a:endParaRPr>
              </a:p>
              <a:p>
                <a:pPr lvl="1"/>
                <a:endParaRPr lang="lv-LV" dirty="0"/>
              </a:p>
              <a:p>
                <a:endParaRPr lang="lv-LV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09553"/>
                <a:ext cx="10515600" cy="5605851"/>
              </a:xfrm>
              <a:blipFill>
                <a:blip r:embed="rId2"/>
                <a:stretch>
                  <a:fillRect l="-812" t="-2503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AE19B5-8831-0E8B-9A94-DF0F5D9214EB}"/>
                  </a:ext>
                </a:extLst>
              </p:cNvPr>
              <p:cNvSpPr txBox="1"/>
              <p:nvPr/>
            </p:nvSpPr>
            <p:spPr>
              <a:xfrm>
                <a:off x="7924800" y="477712"/>
                <a:ext cx="4267200" cy="151163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wrap="none" lIns="36000" tIns="36000" rIns="36000" bIns="36000" rtlCol="0">
                <a:spAutoFit/>
              </a:bodyPr>
              <a:lstStyle>
                <a:defPPr>
                  <a:defRPr lang="lv-LV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l-GR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l-GR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ā,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…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ž,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…, Ž,  ␣, ., 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</m:e>
                        </m:d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…, ! 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 ↑ , ↓ , → , ← </m:t>
                        </m:r>
                      </m:e>
                    </m:d>
                  </m:oMath>
                </a14:m>
                <a:endParaRPr lang="el-GR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dirty="0">
                  <a:effectLst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AE19B5-8831-0E8B-9A94-DF0F5D921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800" y="477712"/>
                <a:ext cx="4267200" cy="15116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8046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9959"/>
            <a:ext cx="10515600" cy="869594"/>
          </a:xfrm>
        </p:spPr>
        <p:txBody>
          <a:bodyPr/>
          <a:lstStyle/>
          <a:p>
            <a:r>
              <a:rPr lang="en-US" noProof="0" dirty="0"/>
              <a:t>Alphabets, words, languages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09553"/>
                <a:ext cx="10515600" cy="5605851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lv-LV" b="1" dirty="0"/>
                  <a:t>Alphabet</a:t>
                </a:r>
                <a:r>
                  <a:rPr lang="lv-LV" dirty="0"/>
                  <a:t> – a </a:t>
                </a:r>
                <a:r>
                  <a:rPr lang="lv-LV" dirty="0" err="1"/>
                  <a:t>finite</a:t>
                </a:r>
                <a:r>
                  <a:rPr lang="lv-LV" dirty="0"/>
                  <a:t> non-</a:t>
                </a:r>
                <a:r>
                  <a:rPr lang="lv-LV" dirty="0" err="1"/>
                  <a:t>empty</a:t>
                </a:r>
                <a:r>
                  <a:rPr lang="lv-LV" dirty="0"/>
                  <a:t> set </a:t>
                </a:r>
                <a:r>
                  <a:rPr lang="lv-LV" dirty="0" err="1"/>
                  <a:t>of</a:t>
                </a:r>
                <a:r>
                  <a:rPr lang="lv-LV" dirty="0"/>
                  <a:t> </a:t>
                </a:r>
                <a:r>
                  <a:rPr lang="lv-LV" dirty="0" err="1"/>
                  <a:t>symbols</a:t>
                </a:r>
                <a:r>
                  <a:rPr lang="lv-LV" dirty="0"/>
                  <a:t> (</a:t>
                </a:r>
                <a:r>
                  <a:rPr lang="lv-LV" dirty="0" err="1"/>
                  <a:t>letters</a:t>
                </a:r>
                <a:r>
                  <a:rPr lang="lv-LV" dirty="0"/>
                  <a:t>).</a:t>
                </a:r>
              </a:p>
              <a:p>
                <a:r>
                  <a:rPr lang="lv-LV" b="1" dirty="0"/>
                  <a:t>Word</a:t>
                </a:r>
                <a:r>
                  <a:rPr lang="lv-LV" dirty="0"/>
                  <a:t> – a </a:t>
                </a:r>
                <a:r>
                  <a:rPr lang="lv-LV" dirty="0" err="1"/>
                  <a:t>finite</a:t>
                </a:r>
                <a:r>
                  <a:rPr lang="lv-LV" dirty="0"/>
                  <a:t> </a:t>
                </a:r>
                <a:r>
                  <a:rPr lang="lv-LV" dirty="0" err="1"/>
                  <a:t>string</a:t>
                </a:r>
                <a:r>
                  <a:rPr lang="lv-LV" dirty="0"/>
                  <a:t> </a:t>
                </a:r>
                <a:r>
                  <a:rPr lang="lv-LV" dirty="0" err="1"/>
                  <a:t>of</a:t>
                </a:r>
                <a:r>
                  <a:rPr lang="lv-LV" dirty="0"/>
                  <a:t> </a:t>
                </a:r>
                <a:r>
                  <a:rPr lang="lv-LV" dirty="0" err="1"/>
                  <a:t>letters</a:t>
                </a:r>
                <a:r>
                  <a:rPr lang="lv-LV" dirty="0"/>
                  <a:t> </a:t>
                </a:r>
                <a:r>
                  <a:rPr lang="lv-LV" dirty="0" err="1"/>
                  <a:t>from</a:t>
                </a:r>
                <a:r>
                  <a:rPr lang="lv-LV" dirty="0"/>
                  <a:t> </a:t>
                </a:r>
                <a:r>
                  <a:rPr lang="lv-LV" dirty="0" err="1"/>
                  <a:t>an</a:t>
                </a:r>
                <a:r>
                  <a:rPr lang="lv-LV" dirty="0"/>
                  <a:t> </a:t>
                </a:r>
                <a:r>
                  <a:rPr lang="lv-LV" dirty="0" err="1"/>
                  <a:t>alphabet</a:t>
                </a:r>
                <a:endParaRPr lang="lv-LV" dirty="0"/>
              </a:p>
              <a:p>
                <a:r>
                  <a:rPr lang="lv-LV" dirty="0" err="1"/>
                  <a:t>Operations</a:t>
                </a:r>
                <a:endParaRPr lang="lv-LV" dirty="0"/>
              </a:p>
              <a:p>
                <a:pPr lvl="1"/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𝑎𝑎𝑏𝑐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𝑏𝑏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 – </a:t>
                </a:r>
                <a:r>
                  <a:rPr lang="lv-LV" dirty="0" err="1">
                    <a:solidFill>
                      <a:schemeClr val="tx1"/>
                    </a:solidFill>
                  </a:rPr>
                  <a:t>words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in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alphabet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lv-LV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 (also </a:t>
                </a:r>
                <a:r>
                  <a:rPr lang="lv-LV" dirty="0" err="1">
                    <a:solidFill>
                      <a:schemeClr val="tx1"/>
                    </a:solidFill>
                  </a:rPr>
                  <a:t>in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)</a:t>
                </a:r>
              </a:p>
              <a:p>
                <a:pPr lvl="1"/>
                <a:r>
                  <a:rPr lang="lv-LV" b="1" dirty="0">
                    <a:solidFill>
                      <a:schemeClr val="tx1"/>
                    </a:solidFill>
                  </a:rPr>
                  <a:t>Concatenation</a:t>
                </a:r>
                <a:r>
                  <a:rPr lang="lv-LV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𝑎𝑎𝑏𝑐𝑏𝑏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b="1" dirty="0">
                    <a:solidFill>
                      <a:schemeClr val="tx1"/>
                    </a:solidFill>
                  </a:rPr>
                  <a:t>Iteration</a:t>
                </a:r>
                <a:r>
                  <a:rPr lang="en-US" dirty="0">
                    <a:solidFill>
                      <a:schemeClr val="tx1"/>
                    </a:solidFill>
                  </a:rPr>
                  <a:t>: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lv-LV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𝑥𝑥</m:t>
                            </m:r>
                            <m: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lv-LV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a:rPr lang="lv-LV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groupChr>
                      </m:e>
                      <m:lim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lv-LV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times</m:t>
                        </m:r>
                      </m:lim>
                    </m:limLow>
                  </m:oMath>
                </a14:m>
                <a:endParaRPr lang="lv-LV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lv-LV" b="1" dirty="0">
                    <a:solidFill>
                      <a:schemeClr val="tx1"/>
                    </a:solidFill>
                  </a:rPr>
                  <a:t>Length</a:t>
                </a:r>
                <a:r>
                  <a:rPr lang="lv-LV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lv-LV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lv-LV" b="1" dirty="0" err="1">
                    <a:solidFill>
                      <a:schemeClr val="tx1"/>
                    </a:solidFill>
                  </a:rPr>
                  <a:t>Number</a:t>
                </a:r>
                <a:r>
                  <a:rPr lang="lv-LV" b="1" dirty="0">
                    <a:solidFill>
                      <a:schemeClr val="tx1"/>
                    </a:solidFill>
                  </a:rPr>
                  <a:t> of</a:t>
                </a:r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lv-LV" b="1" dirty="0" err="1">
                    <a:solidFill>
                      <a:schemeClr val="tx1"/>
                    </a:solidFill>
                  </a:rPr>
                  <a:t>occurences</a:t>
                </a:r>
                <a:r>
                  <a:rPr lang="en-US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lv-LV" dirty="0">
                    <a:solidFill>
                      <a:schemeClr val="tx1"/>
                    </a:solidFill>
                  </a:rPr>
                  <a:t>in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  <m: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lv-LV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chemeClr val="tx1"/>
                    </a:solidFill>
                  </a:rPr>
                  <a:t>Indexing</a:t>
                </a:r>
                <a:r>
                  <a:rPr lang="en-US" b="0" dirty="0">
                    <a:solidFill>
                      <a:schemeClr val="tx1"/>
                    </a:solidFill>
                  </a:rPr>
                  <a:t>: </a:t>
                </a:r>
                <a:r>
                  <a:rPr lang="en-US" b="0" dirty="0" err="1">
                    <a:solidFill>
                      <a:schemeClr val="tx1"/>
                    </a:solidFill>
                  </a:rPr>
                  <a:t>i</a:t>
                </a:r>
                <a:r>
                  <a:rPr lang="lv-LV" b="0" dirty="0">
                    <a:solidFill>
                      <a:schemeClr val="tx1"/>
                    </a:solidFill>
                  </a:rPr>
                  <a:t>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, </a:t>
                </a:r>
                <a:r>
                  <a:rPr lang="lv-LV" dirty="0" err="1">
                    <a:solidFill>
                      <a:schemeClr val="tx1"/>
                    </a:solidFill>
                  </a:rPr>
                  <a:t>then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lv-LV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lv-LV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lv-LV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lv-LV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lv-LV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)</a:t>
                </a:r>
              </a:p>
              <a:p>
                <a:r>
                  <a:rPr lang="lv-LV" dirty="0" err="1"/>
                  <a:t>The</a:t>
                </a:r>
                <a:r>
                  <a:rPr lang="lv-LV" dirty="0"/>
                  <a:t> </a:t>
                </a:r>
                <a:r>
                  <a:rPr lang="lv-LV" b="1" dirty="0" err="1"/>
                  <a:t>empty</a:t>
                </a:r>
                <a:r>
                  <a:rPr lang="lv-LV" b="1" dirty="0"/>
                  <a:t> </a:t>
                </a:r>
                <a:r>
                  <a:rPr lang="lv-LV" b="1" dirty="0" err="1"/>
                  <a:t>word</a:t>
                </a:r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lv-LV" b="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lv-LV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lv-LV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lv-LV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lv-LV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is</a:t>
                </a:r>
                <a:r>
                  <a:rPr lang="lv-LV" dirty="0">
                    <a:solidFill>
                      <a:schemeClr val="tx1"/>
                    </a:solidFill>
                  </a:rPr>
                  <a:t> a </a:t>
                </a:r>
                <a:r>
                  <a:rPr lang="lv-LV" dirty="0" err="1">
                    <a:solidFill>
                      <a:schemeClr val="tx1"/>
                    </a:solidFill>
                  </a:rPr>
                  <a:t>word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in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every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alphabet</a:t>
                </a:r>
                <a:endParaRPr lang="lv-LV" dirty="0">
                  <a:solidFill>
                    <a:schemeClr val="tx1"/>
                  </a:solidFill>
                </a:endParaRPr>
              </a:p>
              <a:p>
                <a:r>
                  <a:rPr lang="lv-LV" dirty="0">
                    <a:solidFill>
                      <a:schemeClr val="tx1"/>
                    </a:solidFill>
                  </a:rPr>
                  <a:t>The set of all </a:t>
                </a:r>
                <a:r>
                  <a:rPr lang="lv-LV" dirty="0" err="1">
                    <a:solidFill>
                      <a:schemeClr val="tx1"/>
                    </a:solidFill>
                  </a:rPr>
                  <a:t>finite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words</a:t>
                </a:r>
                <a:r>
                  <a:rPr lang="lv-LV" dirty="0">
                    <a:solidFill>
                      <a:schemeClr val="tx1"/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is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denoted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by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lv-LV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l-GR" dirty="0">
                    <a:solidFill>
                      <a:schemeClr val="tx1"/>
                    </a:solidFill>
                  </a:rPr>
                  <a:t>.</a:t>
                </a:r>
                <a:endParaRPr lang="lv-LV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lv-LV" dirty="0" err="1">
                    <a:solidFill>
                      <a:schemeClr val="tx1"/>
                    </a:solidFill>
                  </a:rPr>
                  <a:t>For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example</a:t>
                </a:r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lv-LV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lv-LV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,0,1,00,01,10,11,000,001,010,011,100,…</m:t>
                        </m:r>
                      </m:e>
                    </m:d>
                  </m:oMath>
                </a14:m>
                <a:endParaRPr lang="lv-LV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lv-LV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lv-LV" dirty="0">
                    <a:solidFill>
                      <a:schemeClr val="tx1"/>
                    </a:solidFill>
                  </a:rPr>
                  <a:t>denotes the set of all words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with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length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lv-LV" b="1" dirty="0" err="1"/>
                  <a:t>Language</a:t>
                </a:r>
                <a:r>
                  <a:rPr lang="lv-LV" b="1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is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lv-LV" dirty="0">
                    <a:solidFill>
                      <a:schemeClr val="tx1"/>
                    </a:solidFill>
                  </a:rPr>
                  <a:t>a set </a:t>
                </a:r>
                <a:r>
                  <a:rPr lang="lv-LV" dirty="0" err="1">
                    <a:solidFill>
                      <a:schemeClr val="tx1"/>
                    </a:solidFill>
                  </a:rPr>
                  <a:t>of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words</a:t>
                </a:r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lv-LV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l-GR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l-GR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denotes</a:t>
                </a:r>
                <a:r>
                  <a:rPr lang="lv-LV" dirty="0">
                    <a:solidFill>
                      <a:schemeClr val="tx1"/>
                    </a:solidFill>
                  </a:rPr>
                  <a:t> a </a:t>
                </a:r>
                <a:r>
                  <a:rPr lang="lv-LV" dirty="0" err="1">
                    <a:solidFill>
                      <a:schemeClr val="tx1"/>
                    </a:solidFill>
                  </a:rPr>
                  <a:t>language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over</a:t>
                </a:r>
                <a:r>
                  <a:rPr lang="lv-LV" dirty="0">
                    <a:solidFill>
                      <a:schemeClr val="tx1"/>
                    </a:solidFill>
                  </a:rPr>
                  <a:t> </a:t>
                </a:r>
                <a:r>
                  <a:rPr lang="lv-LV" dirty="0" err="1">
                    <a:solidFill>
                      <a:schemeClr val="tx1"/>
                    </a:solidFill>
                  </a:rPr>
                  <a:t>alphabet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endParaRPr lang="el-GR" dirty="0">
                  <a:solidFill>
                    <a:schemeClr val="tx1"/>
                  </a:solidFill>
                </a:endParaRPr>
              </a:p>
              <a:p>
                <a:pPr lvl="1"/>
                <a:endParaRPr lang="lv-LV" dirty="0"/>
              </a:p>
              <a:p>
                <a:endParaRPr lang="lv-LV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09553"/>
                <a:ext cx="10515600" cy="5605851"/>
              </a:xfrm>
              <a:blipFill>
                <a:blip r:embed="rId2"/>
                <a:stretch>
                  <a:fillRect l="-812" t="-2503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AE19B5-8831-0E8B-9A94-DF0F5D9214EB}"/>
                  </a:ext>
                </a:extLst>
              </p:cNvPr>
              <p:cNvSpPr txBox="1"/>
              <p:nvPr/>
            </p:nvSpPr>
            <p:spPr>
              <a:xfrm>
                <a:off x="7924800" y="477712"/>
                <a:ext cx="4267200" cy="151163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wrap="none" lIns="36000" tIns="36000" rIns="36000" bIns="36000" rtlCol="0">
                <a:spAutoFit/>
              </a:bodyPr>
              <a:lstStyle>
                <a:defPPr>
                  <a:defRPr lang="lv-LV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l-GR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l-GR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ā,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…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ž,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…, Ž,  ␣, ., 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</m:e>
                        </m:d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…, ! 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 ↑ , ↓ , → , ← </m:t>
                        </m:r>
                      </m:e>
                    </m:d>
                  </m:oMath>
                </a14:m>
                <a:endParaRPr lang="el-GR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dirty="0">
                  <a:effectLst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AE19B5-8831-0E8B-9A94-DF0F5D921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800" y="477712"/>
                <a:ext cx="4267200" cy="15116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6244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9959"/>
            <a:ext cx="10515600" cy="869594"/>
          </a:xfrm>
        </p:spPr>
        <p:txBody>
          <a:bodyPr/>
          <a:lstStyle/>
          <a:p>
            <a:r>
              <a:rPr lang="en-US" noProof="0" dirty="0"/>
              <a:t>Alphabets, words, languages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09553"/>
                <a:ext cx="10515600" cy="5605851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lv-LV" b="1" dirty="0"/>
                  <a:t>Alphabet</a:t>
                </a:r>
                <a:r>
                  <a:rPr lang="lv-LV" dirty="0"/>
                  <a:t> – a </a:t>
                </a:r>
                <a:r>
                  <a:rPr lang="lv-LV" dirty="0" err="1"/>
                  <a:t>finite</a:t>
                </a:r>
                <a:r>
                  <a:rPr lang="lv-LV" dirty="0"/>
                  <a:t> non-</a:t>
                </a:r>
                <a:r>
                  <a:rPr lang="lv-LV" dirty="0" err="1"/>
                  <a:t>empty</a:t>
                </a:r>
                <a:r>
                  <a:rPr lang="lv-LV" dirty="0"/>
                  <a:t> set </a:t>
                </a:r>
                <a:r>
                  <a:rPr lang="lv-LV" dirty="0" err="1"/>
                  <a:t>of</a:t>
                </a:r>
                <a:r>
                  <a:rPr lang="lv-LV" dirty="0"/>
                  <a:t> </a:t>
                </a:r>
                <a:r>
                  <a:rPr lang="lv-LV" dirty="0" err="1"/>
                  <a:t>symbols</a:t>
                </a:r>
                <a:r>
                  <a:rPr lang="lv-LV" dirty="0"/>
                  <a:t> (</a:t>
                </a:r>
                <a:r>
                  <a:rPr lang="lv-LV" dirty="0" err="1"/>
                  <a:t>letters</a:t>
                </a:r>
                <a:r>
                  <a:rPr lang="lv-LV" dirty="0"/>
                  <a:t>).</a:t>
                </a:r>
              </a:p>
              <a:p>
                <a:r>
                  <a:rPr lang="lv-LV" b="1" dirty="0"/>
                  <a:t>Word</a:t>
                </a:r>
                <a:r>
                  <a:rPr lang="lv-LV" dirty="0"/>
                  <a:t> – a </a:t>
                </a:r>
                <a:r>
                  <a:rPr lang="lv-LV" dirty="0" err="1"/>
                  <a:t>finite</a:t>
                </a:r>
                <a:r>
                  <a:rPr lang="lv-LV" dirty="0"/>
                  <a:t> </a:t>
                </a:r>
                <a:r>
                  <a:rPr lang="lv-LV" dirty="0" err="1"/>
                  <a:t>string</a:t>
                </a:r>
                <a:r>
                  <a:rPr lang="lv-LV" dirty="0"/>
                  <a:t> </a:t>
                </a:r>
                <a:r>
                  <a:rPr lang="lv-LV" dirty="0" err="1"/>
                  <a:t>of</a:t>
                </a:r>
                <a:r>
                  <a:rPr lang="lv-LV" dirty="0"/>
                  <a:t> </a:t>
                </a:r>
                <a:r>
                  <a:rPr lang="lv-LV" dirty="0" err="1"/>
                  <a:t>letters</a:t>
                </a:r>
                <a:r>
                  <a:rPr lang="lv-LV" dirty="0"/>
                  <a:t> </a:t>
                </a:r>
                <a:r>
                  <a:rPr lang="lv-LV" dirty="0" err="1"/>
                  <a:t>from</a:t>
                </a:r>
                <a:r>
                  <a:rPr lang="lv-LV" dirty="0"/>
                  <a:t> </a:t>
                </a:r>
                <a:r>
                  <a:rPr lang="lv-LV" dirty="0" err="1"/>
                  <a:t>an</a:t>
                </a:r>
                <a:r>
                  <a:rPr lang="lv-LV" dirty="0"/>
                  <a:t> </a:t>
                </a:r>
                <a:r>
                  <a:rPr lang="lv-LV" dirty="0" err="1"/>
                  <a:t>alphabet</a:t>
                </a:r>
                <a:endParaRPr lang="lv-LV" dirty="0"/>
              </a:p>
              <a:p>
                <a:r>
                  <a:rPr lang="lv-LV" dirty="0" err="1"/>
                  <a:t>Operations</a:t>
                </a:r>
                <a:endParaRPr lang="lv-LV" dirty="0"/>
              </a:p>
              <a:p>
                <a:pPr lvl="1"/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𝑎𝑎𝑏𝑐</m:t>
                    </m:r>
                  </m:oMath>
                </a14:m>
                <a:r>
                  <a:rPr lang="lv-LV" dirty="0"/>
                  <a:t>,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𝑏𝑏</m:t>
                    </m:r>
                  </m:oMath>
                </a14:m>
                <a:r>
                  <a:rPr lang="lv-LV" dirty="0"/>
                  <a:t> – </a:t>
                </a:r>
                <a:r>
                  <a:rPr lang="lv-LV" dirty="0" err="1"/>
                  <a:t>words</a:t>
                </a:r>
                <a:r>
                  <a:rPr lang="lv-LV" dirty="0"/>
                  <a:t> </a:t>
                </a:r>
                <a:r>
                  <a:rPr lang="lv-LV" dirty="0" err="1"/>
                  <a:t>in</a:t>
                </a:r>
                <a:r>
                  <a:rPr lang="lv-LV" dirty="0"/>
                  <a:t> </a:t>
                </a:r>
                <a:r>
                  <a:rPr lang="lv-LV" dirty="0" err="1"/>
                  <a:t>alphabet</a:t>
                </a:r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lv-LV" b="0" i="0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lv-LV" dirty="0"/>
                  <a:t> (also </a:t>
                </a:r>
                <a:r>
                  <a:rPr lang="lv-LV" dirty="0" err="1"/>
                  <a:t>in</a:t>
                </a:r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lv-LV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lv-LV" dirty="0"/>
                  <a:t>)</a:t>
                </a:r>
              </a:p>
              <a:p>
                <a:pPr lvl="1"/>
                <a:r>
                  <a:rPr lang="lv-LV" b="1" dirty="0" err="1"/>
                  <a:t>Concatenation</a:t>
                </a:r>
                <a:r>
                  <a:rPr lang="lv-LV" dirty="0"/>
                  <a:t>: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𝑎𝑎𝑏𝑐𝑏𝑏</m:t>
                    </m:r>
                  </m:oMath>
                </a14:m>
                <a:r>
                  <a:rPr lang="lv-LV" dirty="0"/>
                  <a:t>,</a:t>
                </a:r>
                <a:r>
                  <a:rPr lang="en-US" dirty="0"/>
                  <a:t> </a:t>
                </a:r>
                <a:r>
                  <a:rPr lang="en-US" b="1" dirty="0"/>
                  <a:t>Iteration</a:t>
                </a:r>
                <a:r>
                  <a:rPr lang="en-US" dirty="0"/>
                  <a:t>:</a:t>
                </a:r>
                <a:r>
                  <a:rPr lang="lv-LV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lv-LV" i="1">
                                <a:latin typeface="Cambria Math" panose="02040503050406030204" pitchFamily="18" charset="0"/>
                              </a:rPr>
                              <m:t>𝑥𝑥</m:t>
                            </m:r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lv-LV" i="1"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a:rPr lang="lv-LV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groupChr>
                      </m:e>
                      <m:lim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times</m:t>
                        </m:r>
                      </m:lim>
                    </m:limLow>
                  </m:oMath>
                </a14:m>
                <a:endParaRPr lang="lv-LV" dirty="0"/>
              </a:p>
              <a:p>
                <a:pPr lvl="1"/>
                <a:r>
                  <a:rPr lang="lv-LV" b="1" dirty="0" err="1"/>
                  <a:t>Length</a:t>
                </a:r>
                <a:r>
                  <a:rPr lang="lv-LV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lv-LV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lv-LV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lv-LV" dirty="0"/>
              </a:p>
              <a:p>
                <a:pPr lvl="1"/>
                <a:r>
                  <a:rPr lang="lv-LV" b="1" dirty="0" err="1"/>
                  <a:t>Number</a:t>
                </a:r>
                <a:r>
                  <a:rPr lang="lv-LV" b="1" dirty="0"/>
                  <a:t> of</a:t>
                </a:r>
                <a:r>
                  <a:rPr lang="en-US" b="1" dirty="0"/>
                  <a:t> </a:t>
                </a:r>
                <a:r>
                  <a:rPr lang="lv-LV" b="1" dirty="0" err="1"/>
                  <a:t>occurences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</a:t>
                </a:r>
                <a:r>
                  <a:rPr lang="lv-LV" dirty="0"/>
                  <a:t>in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lv-LV" dirty="0"/>
                  <a:t>: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​</m:t>
                            </m:r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lv-LV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lv-LV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lv-LV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lv-LV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lv-LV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lv-LV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lv-LV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lv-LV" dirty="0"/>
              </a:p>
              <a:p>
                <a:pPr lvl="1"/>
                <a:r>
                  <a:rPr lang="en-US" b="1" dirty="0"/>
                  <a:t>Indexing</a:t>
                </a:r>
                <a:r>
                  <a:rPr lang="en-US" b="0" dirty="0"/>
                  <a:t>: </a:t>
                </a:r>
                <a:r>
                  <a:rPr lang="en-US" b="0" dirty="0" err="1"/>
                  <a:t>i</a:t>
                </a:r>
                <a:r>
                  <a:rPr lang="lv-LV" b="0" dirty="0"/>
                  <a:t>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lv-LV" dirty="0"/>
                  <a:t>, </a:t>
                </a:r>
                <a:r>
                  <a:rPr lang="lv-LV" dirty="0" err="1"/>
                  <a:t>then</a:t>
                </a:r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lv-LV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lv-LV" dirty="0"/>
                  <a:t> (</a:t>
                </a:r>
                <a14:m>
                  <m:oMath xmlns:m="http://schemas.openxmlformats.org/officeDocument/2006/math">
                    <m:r>
                      <a:rPr lang="lv-LV" b="0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lv-LV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lv-LV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lv-LV" b="0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lv-LV" dirty="0"/>
                  <a:t>)</a:t>
                </a:r>
              </a:p>
              <a:p>
                <a:r>
                  <a:rPr lang="lv-LV" dirty="0" err="1"/>
                  <a:t>The</a:t>
                </a:r>
                <a:r>
                  <a:rPr lang="lv-LV" dirty="0"/>
                  <a:t> </a:t>
                </a:r>
                <a:r>
                  <a:rPr lang="lv-LV" b="1" dirty="0" err="1"/>
                  <a:t>empty</a:t>
                </a:r>
                <a:r>
                  <a:rPr lang="lv-LV" b="1" dirty="0"/>
                  <a:t> </a:t>
                </a:r>
                <a:r>
                  <a:rPr lang="lv-LV" b="1" dirty="0" err="1"/>
                  <a:t>word</a:t>
                </a:r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lv-LV" b="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lv-LV" dirty="0"/>
              </a:p>
              <a:p>
                <a:pPr lvl="1"/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lv-LV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lv-LV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lv-LV" dirty="0"/>
              </a:p>
              <a:p>
                <a:pPr lvl="1"/>
                <a14:m>
                  <m:oMath xmlns:m="http://schemas.openxmlformats.org/officeDocument/2006/math">
                    <m:r>
                      <a:rPr lang="lv-LV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lv-LV" dirty="0"/>
                  <a:t> </a:t>
                </a:r>
                <a:r>
                  <a:rPr lang="lv-LV" dirty="0" err="1"/>
                  <a:t>is</a:t>
                </a:r>
                <a:r>
                  <a:rPr lang="lv-LV" dirty="0"/>
                  <a:t> a </a:t>
                </a:r>
                <a:r>
                  <a:rPr lang="lv-LV" dirty="0" err="1"/>
                  <a:t>word</a:t>
                </a:r>
                <a:r>
                  <a:rPr lang="lv-LV" dirty="0"/>
                  <a:t> </a:t>
                </a:r>
                <a:r>
                  <a:rPr lang="lv-LV" dirty="0" err="1"/>
                  <a:t>in</a:t>
                </a:r>
                <a:r>
                  <a:rPr lang="lv-LV" dirty="0"/>
                  <a:t> </a:t>
                </a:r>
                <a:r>
                  <a:rPr lang="lv-LV" dirty="0" err="1"/>
                  <a:t>every</a:t>
                </a:r>
                <a:r>
                  <a:rPr lang="lv-LV" dirty="0"/>
                  <a:t> </a:t>
                </a:r>
                <a:r>
                  <a:rPr lang="lv-LV" dirty="0" err="1"/>
                  <a:t>alphabet</a:t>
                </a:r>
                <a:endParaRPr lang="lv-LV" dirty="0"/>
              </a:p>
              <a:p>
                <a:r>
                  <a:rPr lang="lv-LV" dirty="0"/>
                  <a:t>The set of all </a:t>
                </a:r>
                <a:r>
                  <a:rPr lang="lv-LV" dirty="0" err="1"/>
                  <a:t>finite</a:t>
                </a:r>
                <a:r>
                  <a:rPr lang="lv-LV" dirty="0"/>
                  <a:t> </a:t>
                </a:r>
                <a:r>
                  <a:rPr lang="lv-LV" dirty="0" err="1"/>
                  <a:t>words</a:t>
                </a:r>
                <a:r>
                  <a:rPr lang="lv-LV" dirty="0"/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dirty="0"/>
                  <a:t> </a:t>
                </a:r>
                <a:r>
                  <a:rPr lang="lv-LV" dirty="0" err="1"/>
                  <a:t>is</a:t>
                </a:r>
                <a:r>
                  <a:rPr lang="lv-LV" dirty="0"/>
                  <a:t> </a:t>
                </a:r>
                <a:r>
                  <a:rPr lang="lv-LV" dirty="0" err="1"/>
                  <a:t>denoted</a:t>
                </a:r>
                <a:r>
                  <a:rPr lang="lv-LV" dirty="0"/>
                  <a:t> </a:t>
                </a:r>
                <a:r>
                  <a:rPr lang="lv-LV" dirty="0" err="1"/>
                  <a:t>by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l-GR" dirty="0"/>
                  <a:t>.</a:t>
                </a:r>
                <a:endParaRPr lang="lv-LV" dirty="0"/>
              </a:p>
              <a:p>
                <a:pPr lvl="1"/>
                <a:r>
                  <a:rPr lang="lv-LV" dirty="0" err="1"/>
                  <a:t>For</a:t>
                </a:r>
                <a:r>
                  <a:rPr lang="lv-LV" dirty="0"/>
                  <a:t> </a:t>
                </a:r>
                <a:r>
                  <a:rPr lang="lv-LV" dirty="0" err="1"/>
                  <a:t>example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,0,1,00,01,10,11,000,001,010,011,100,…</m:t>
                        </m:r>
                      </m:e>
                    </m:d>
                  </m:oMath>
                </a14:m>
                <a:endParaRPr lang="lv-LV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lv-LV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lv-LV" dirty="0"/>
                  <a:t>denotes the set of all words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dirty="0"/>
                  <a:t> </a:t>
                </a:r>
                <a:r>
                  <a:rPr lang="lv-LV" dirty="0" err="1"/>
                  <a:t>with</a:t>
                </a:r>
                <a:r>
                  <a:rPr lang="lv-LV" dirty="0"/>
                  <a:t> </a:t>
                </a:r>
                <a:r>
                  <a:rPr lang="lv-LV" dirty="0" err="1"/>
                  <a:t>length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lv-LV" b="1" dirty="0" err="1"/>
                  <a:t>Language</a:t>
                </a:r>
                <a:r>
                  <a:rPr lang="lv-LV" b="1" dirty="0"/>
                  <a:t> </a:t>
                </a:r>
                <a:r>
                  <a:rPr lang="lv-LV" dirty="0" err="1"/>
                  <a:t>is</a:t>
                </a:r>
                <a:r>
                  <a:rPr lang="en-US" dirty="0"/>
                  <a:t> </a:t>
                </a:r>
                <a:r>
                  <a:rPr lang="lv-LV" dirty="0"/>
                  <a:t>a set </a:t>
                </a:r>
                <a:r>
                  <a:rPr lang="lv-LV" dirty="0" err="1"/>
                  <a:t>of</a:t>
                </a:r>
                <a:r>
                  <a:rPr lang="lv-LV" dirty="0"/>
                  <a:t> </a:t>
                </a:r>
                <a:r>
                  <a:rPr lang="lv-LV" dirty="0" err="1"/>
                  <a:t>words</a:t>
                </a:r>
                <a:r>
                  <a:rPr lang="en-US" dirty="0"/>
                  <a:t>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l-GR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l-GR" dirty="0"/>
                  <a:t> </a:t>
                </a:r>
                <a:r>
                  <a:rPr lang="lv-LV" dirty="0" err="1"/>
                  <a:t>denotes</a:t>
                </a:r>
                <a:r>
                  <a:rPr lang="lv-LV" dirty="0"/>
                  <a:t> a </a:t>
                </a:r>
                <a:r>
                  <a:rPr lang="lv-LV" dirty="0" err="1"/>
                  <a:t>language</a:t>
                </a:r>
                <a:r>
                  <a:rPr lang="lv-LV" dirty="0"/>
                  <a:t> </a:t>
                </a:r>
                <a:r>
                  <a:rPr lang="en-US" dirty="0"/>
                  <a:t>over</a:t>
                </a:r>
                <a:r>
                  <a:rPr lang="lv-LV" dirty="0"/>
                  <a:t> </a:t>
                </a:r>
                <a:r>
                  <a:rPr lang="lv-LV" dirty="0" err="1"/>
                  <a:t>alphabet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endParaRPr lang="el-GR" dirty="0"/>
              </a:p>
              <a:p>
                <a:pPr lvl="1"/>
                <a:endParaRPr lang="lv-LV" dirty="0"/>
              </a:p>
              <a:p>
                <a:endParaRPr lang="lv-LV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09553"/>
                <a:ext cx="10515600" cy="5605851"/>
              </a:xfrm>
              <a:blipFill>
                <a:blip r:embed="rId2"/>
                <a:stretch>
                  <a:fillRect l="-812" t="-2503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924800" y="477712"/>
                <a:ext cx="4267200" cy="151163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wrap="none" lIns="36000" tIns="36000" rIns="36000" bIns="36000" rtlCol="0">
                <a:spAutoFit/>
              </a:bodyPr>
              <a:lstStyle>
                <a:defPPr>
                  <a:defRPr lang="lv-LV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l-GR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l-GR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ā,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…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ž,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…, Ž,  ␣, ., 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</m:e>
                        </m:d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…, ! 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 ↑ , ↓ , → , ← </m:t>
                        </m:r>
                      </m:e>
                    </m:d>
                  </m:oMath>
                </a14:m>
                <a:endParaRPr lang="el-GR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dirty="0">
                  <a:effectLst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800" y="477712"/>
                <a:ext cx="4267200" cy="15116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575185" y="3709435"/>
                <a:ext cx="3616815" cy="145769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wrap="none" lIns="36000" tIns="36000" rIns="36000" bIns="36000" rtlCol="0">
                <a:spAutoFit/>
              </a:bodyPr>
              <a:lstStyle>
                <a:defPPr>
                  <a:defRPr lang="lv-LV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lv-LV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lv-LV" b="0" i="1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lv-LV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lv-LV" b="0" i="1" smtClean="0">
                            <a:effectLst/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effectLst/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lv-LV" b="0" i="1" smtClean="0">
                            <a:effectLst/>
                            <a:latin typeface="Cambria Math" panose="02040503050406030204" pitchFamily="18" charset="0"/>
                          </a:rPr>
                          <m:t>|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lv-LV" b="0" i="1" smtClean="0">
                            <a:effectLst/>
                            <a:latin typeface="Cambria Math" panose="02040503050406030204" pitchFamily="18" charset="0"/>
                          </a:rPr>
                          <m:t>≡0  (</m:t>
                        </m:r>
                        <m:r>
                          <a:rPr lang="lv-LV" b="0" i="1" smtClean="0">
                            <a:effectLst/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lv-LV" b="0" i="1" smtClean="0">
                            <a:effectLst/>
                            <a:latin typeface="Cambria Math" panose="02040503050406030204" pitchFamily="18" charset="0"/>
                          </a:rPr>
                          <m:t>2)</m:t>
                        </m:r>
                      </m:e>
                    </m:d>
                  </m:oMath>
                </a14:m>
                <a:endParaRPr lang="lv-LV" b="0" dirty="0">
                  <a:effectLst/>
                </a:endParaRPr>
              </a:p>
              <a:p>
                <a:r>
                  <a:rPr lang="lv-LV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lv-LV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lv-LV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lv-LV" i="1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</m:e>
                          <m:sup>
                            <m:r>
                              <a:rPr lang="lv-LV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lv-LV" i="1">
                            <a:latin typeface="Cambria Math" panose="02040503050406030204" pitchFamily="18" charset="0"/>
                          </a:rPr>
                          <m:t>| 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contains</m:t>
                        </m:r>
                        <m:r>
                          <m:rPr>
                            <m:nor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lv-LV" b="0" i="1" smtClean="0">
                            <a:latin typeface="Cambria Math" panose="02040503050406030204" pitchFamily="18" charset="0"/>
                          </a:rPr>
                          <m:t>bba</m:t>
                        </m:r>
                      </m:e>
                    </m:d>
                  </m:oMath>
                </a14:m>
                <a:endParaRPr lang="lv-LV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lv-LV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lv-LV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lv-LV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lv-LV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i="1">
                            <a:latin typeface="Cambria Math" panose="02040503050406030204" pitchFamily="18" charset="0"/>
                          </a:rPr>
                          <m:t>| 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lv-LV" dirty="0"/>
              </a:p>
              <a:p>
                <a:r>
                  <a:rPr lang="lv-LV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lv-LV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≥0}</m:t>
                    </m:r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5185" y="3709435"/>
                <a:ext cx="3616815" cy="1457698"/>
              </a:xfrm>
              <a:prstGeom prst="rect">
                <a:avLst/>
              </a:prstGeom>
              <a:blipFill>
                <a:blip r:embed="rId4"/>
                <a:stretch>
                  <a:fillRect b="-37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5552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9959"/>
            <a:ext cx="10515600" cy="869594"/>
          </a:xfrm>
        </p:spPr>
        <p:txBody>
          <a:bodyPr/>
          <a:lstStyle/>
          <a:p>
            <a:r>
              <a:rPr lang="en-US" noProof="0" dirty="0"/>
              <a:t>Alphabets, words, languages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09553"/>
                <a:ext cx="10515600" cy="5605851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lv-LV" b="1" dirty="0"/>
                  <a:t>Alphabet</a:t>
                </a:r>
                <a:r>
                  <a:rPr lang="lv-LV" dirty="0"/>
                  <a:t> – a </a:t>
                </a:r>
                <a:r>
                  <a:rPr lang="lv-LV" dirty="0" err="1"/>
                  <a:t>finite</a:t>
                </a:r>
                <a:r>
                  <a:rPr lang="lv-LV" dirty="0"/>
                  <a:t> non-</a:t>
                </a:r>
                <a:r>
                  <a:rPr lang="lv-LV" dirty="0" err="1"/>
                  <a:t>empty</a:t>
                </a:r>
                <a:r>
                  <a:rPr lang="lv-LV" dirty="0"/>
                  <a:t> set </a:t>
                </a:r>
                <a:r>
                  <a:rPr lang="lv-LV" dirty="0" err="1"/>
                  <a:t>of</a:t>
                </a:r>
                <a:r>
                  <a:rPr lang="lv-LV" dirty="0"/>
                  <a:t> </a:t>
                </a:r>
                <a:r>
                  <a:rPr lang="lv-LV" dirty="0" err="1"/>
                  <a:t>symbols</a:t>
                </a:r>
                <a:r>
                  <a:rPr lang="lv-LV" dirty="0"/>
                  <a:t> (</a:t>
                </a:r>
                <a:r>
                  <a:rPr lang="lv-LV" dirty="0" err="1"/>
                  <a:t>letters</a:t>
                </a:r>
                <a:r>
                  <a:rPr lang="lv-LV" dirty="0"/>
                  <a:t>).</a:t>
                </a:r>
              </a:p>
              <a:p>
                <a:r>
                  <a:rPr lang="lv-LV" b="1" dirty="0"/>
                  <a:t>Word</a:t>
                </a:r>
                <a:r>
                  <a:rPr lang="lv-LV" dirty="0"/>
                  <a:t> – a </a:t>
                </a:r>
                <a:r>
                  <a:rPr lang="lv-LV" dirty="0" err="1"/>
                  <a:t>finite</a:t>
                </a:r>
                <a:r>
                  <a:rPr lang="lv-LV" dirty="0"/>
                  <a:t> </a:t>
                </a:r>
                <a:r>
                  <a:rPr lang="lv-LV" dirty="0" err="1"/>
                  <a:t>string</a:t>
                </a:r>
                <a:r>
                  <a:rPr lang="lv-LV" dirty="0"/>
                  <a:t> </a:t>
                </a:r>
                <a:r>
                  <a:rPr lang="lv-LV" dirty="0" err="1"/>
                  <a:t>of</a:t>
                </a:r>
                <a:r>
                  <a:rPr lang="lv-LV" dirty="0"/>
                  <a:t> </a:t>
                </a:r>
                <a:r>
                  <a:rPr lang="lv-LV" dirty="0" err="1"/>
                  <a:t>letters</a:t>
                </a:r>
                <a:r>
                  <a:rPr lang="lv-LV" dirty="0"/>
                  <a:t> </a:t>
                </a:r>
                <a:r>
                  <a:rPr lang="lv-LV" dirty="0" err="1"/>
                  <a:t>from</a:t>
                </a:r>
                <a:r>
                  <a:rPr lang="lv-LV" dirty="0"/>
                  <a:t> </a:t>
                </a:r>
                <a:r>
                  <a:rPr lang="lv-LV" dirty="0" err="1"/>
                  <a:t>an</a:t>
                </a:r>
                <a:r>
                  <a:rPr lang="lv-LV" dirty="0"/>
                  <a:t> </a:t>
                </a:r>
                <a:r>
                  <a:rPr lang="lv-LV" dirty="0" err="1"/>
                  <a:t>alphabet</a:t>
                </a:r>
                <a:endParaRPr lang="lv-LV" dirty="0"/>
              </a:p>
              <a:p>
                <a:r>
                  <a:rPr lang="lv-LV" dirty="0" err="1"/>
                  <a:t>Operations</a:t>
                </a:r>
                <a:endParaRPr lang="lv-LV" dirty="0"/>
              </a:p>
              <a:p>
                <a:pPr lvl="1"/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𝑎𝑎𝑏𝑐</m:t>
                    </m:r>
                  </m:oMath>
                </a14:m>
                <a:r>
                  <a:rPr lang="lv-LV" dirty="0"/>
                  <a:t>,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𝑏𝑏</m:t>
                    </m:r>
                  </m:oMath>
                </a14:m>
                <a:r>
                  <a:rPr lang="lv-LV" dirty="0"/>
                  <a:t> – </a:t>
                </a:r>
                <a:r>
                  <a:rPr lang="lv-LV" dirty="0" err="1"/>
                  <a:t>words</a:t>
                </a:r>
                <a:r>
                  <a:rPr lang="lv-LV" dirty="0"/>
                  <a:t> </a:t>
                </a:r>
                <a:r>
                  <a:rPr lang="lv-LV" dirty="0" err="1"/>
                  <a:t>in</a:t>
                </a:r>
                <a:r>
                  <a:rPr lang="lv-LV" dirty="0"/>
                  <a:t> </a:t>
                </a:r>
                <a:r>
                  <a:rPr lang="lv-LV" dirty="0" err="1"/>
                  <a:t>alphabet</a:t>
                </a:r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lv-LV" b="0" i="0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lv-LV" dirty="0"/>
                  <a:t> (also </a:t>
                </a:r>
                <a:r>
                  <a:rPr lang="lv-LV" dirty="0" err="1"/>
                  <a:t>in</a:t>
                </a:r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lv-LV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lv-LV" dirty="0"/>
                  <a:t>)</a:t>
                </a:r>
              </a:p>
              <a:p>
                <a:pPr lvl="1"/>
                <a:r>
                  <a:rPr lang="lv-LV" b="1" dirty="0" err="1"/>
                  <a:t>Concatenation</a:t>
                </a:r>
                <a:r>
                  <a:rPr lang="lv-LV" dirty="0"/>
                  <a:t>: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𝑎𝑎𝑏𝑐𝑏𝑏</m:t>
                    </m:r>
                  </m:oMath>
                </a14:m>
                <a:r>
                  <a:rPr lang="lv-LV" dirty="0"/>
                  <a:t>,</a:t>
                </a:r>
                <a:r>
                  <a:rPr lang="en-US" dirty="0"/>
                  <a:t> </a:t>
                </a:r>
                <a:r>
                  <a:rPr lang="en-US" b="1" dirty="0"/>
                  <a:t>Iteration</a:t>
                </a:r>
                <a:r>
                  <a:rPr lang="en-US" dirty="0"/>
                  <a:t>:</a:t>
                </a:r>
                <a:r>
                  <a:rPr lang="lv-LV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lv-LV" i="1">
                                <a:latin typeface="Cambria Math" panose="02040503050406030204" pitchFamily="18" charset="0"/>
                              </a:rPr>
                              <m:t>𝑥𝑥</m:t>
                            </m:r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lv-LV" i="1"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a:rPr lang="lv-LV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groupChr>
                      </m:e>
                      <m:lim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times</m:t>
                        </m:r>
                      </m:lim>
                    </m:limLow>
                  </m:oMath>
                </a14:m>
                <a:endParaRPr lang="lv-LV" dirty="0"/>
              </a:p>
              <a:p>
                <a:pPr lvl="1"/>
                <a:r>
                  <a:rPr lang="lv-LV" b="1" dirty="0" err="1"/>
                  <a:t>Length</a:t>
                </a:r>
                <a:r>
                  <a:rPr lang="lv-LV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lv-LV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lv-LV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lv-LV" dirty="0"/>
              </a:p>
              <a:p>
                <a:pPr lvl="1"/>
                <a:r>
                  <a:rPr lang="lv-LV" b="1" dirty="0" err="1"/>
                  <a:t>Number</a:t>
                </a:r>
                <a:r>
                  <a:rPr lang="lv-LV" b="1" dirty="0"/>
                  <a:t> of</a:t>
                </a:r>
                <a:r>
                  <a:rPr lang="en-US" b="1" dirty="0"/>
                  <a:t> </a:t>
                </a:r>
                <a:r>
                  <a:rPr lang="lv-LV" b="1" dirty="0" err="1"/>
                  <a:t>occurences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</a:t>
                </a:r>
                <a:r>
                  <a:rPr lang="lv-LV" dirty="0"/>
                  <a:t>in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lv-LV" dirty="0"/>
                  <a:t>: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​</m:t>
                            </m:r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lv-LV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lv-LV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lv-LV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lv-LV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lv-LV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lv-LV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e>
                        </m:d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lv-LV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lv-LV" dirty="0"/>
              </a:p>
              <a:p>
                <a:pPr lvl="1"/>
                <a:r>
                  <a:rPr lang="en-US" b="1" dirty="0"/>
                  <a:t>Indexing</a:t>
                </a:r>
                <a:r>
                  <a:rPr lang="en-US" b="0" dirty="0"/>
                  <a:t>: </a:t>
                </a:r>
                <a:r>
                  <a:rPr lang="en-US" b="0" dirty="0" err="1"/>
                  <a:t>i</a:t>
                </a:r>
                <a:r>
                  <a:rPr lang="lv-LV" b="0" dirty="0"/>
                  <a:t>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lv-LV" dirty="0"/>
                  <a:t>, </a:t>
                </a:r>
                <a:r>
                  <a:rPr lang="lv-LV" dirty="0" err="1"/>
                  <a:t>then</a:t>
                </a:r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lv-LV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lv-LV" dirty="0"/>
                  <a:t> (</a:t>
                </a:r>
                <a14:m>
                  <m:oMath xmlns:m="http://schemas.openxmlformats.org/officeDocument/2006/math">
                    <m:r>
                      <a:rPr lang="lv-LV" b="0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lv-LV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lv-LV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lv-LV" b="0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lv-LV" dirty="0"/>
                  <a:t>)</a:t>
                </a:r>
              </a:p>
              <a:p>
                <a:r>
                  <a:rPr lang="lv-LV" dirty="0" err="1"/>
                  <a:t>The</a:t>
                </a:r>
                <a:r>
                  <a:rPr lang="lv-LV" dirty="0"/>
                  <a:t> </a:t>
                </a:r>
                <a:r>
                  <a:rPr lang="lv-LV" b="1" dirty="0" err="1"/>
                  <a:t>empty</a:t>
                </a:r>
                <a:r>
                  <a:rPr lang="lv-LV" b="1" dirty="0"/>
                  <a:t> </a:t>
                </a:r>
                <a:r>
                  <a:rPr lang="lv-LV" b="1" dirty="0" err="1"/>
                  <a:t>word</a:t>
                </a:r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lv-LV" b="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lv-LV" dirty="0"/>
              </a:p>
              <a:p>
                <a:pPr lvl="1"/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lv-LV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lv-LV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lv-LV" dirty="0"/>
              </a:p>
              <a:p>
                <a:pPr lvl="1"/>
                <a14:m>
                  <m:oMath xmlns:m="http://schemas.openxmlformats.org/officeDocument/2006/math">
                    <m:r>
                      <a:rPr lang="lv-LV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lv-LV" dirty="0"/>
                  <a:t> </a:t>
                </a:r>
                <a:r>
                  <a:rPr lang="lv-LV" dirty="0" err="1"/>
                  <a:t>is</a:t>
                </a:r>
                <a:r>
                  <a:rPr lang="lv-LV" dirty="0"/>
                  <a:t> a </a:t>
                </a:r>
                <a:r>
                  <a:rPr lang="lv-LV" dirty="0" err="1"/>
                  <a:t>word</a:t>
                </a:r>
                <a:r>
                  <a:rPr lang="lv-LV" dirty="0"/>
                  <a:t> </a:t>
                </a:r>
                <a:r>
                  <a:rPr lang="lv-LV" dirty="0" err="1"/>
                  <a:t>in</a:t>
                </a:r>
                <a:r>
                  <a:rPr lang="lv-LV" dirty="0"/>
                  <a:t> </a:t>
                </a:r>
                <a:r>
                  <a:rPr lang="lv-LV" dirty="0" err="1"/>
                  <a:t>every</a:t>
                </a:r>
                <a:r>
                  <a:rPr lang="lv-LV" dirty="0"/>
                  <a:t> </a:t>
                </a:r>
                <a:r>
                  <a:rPr lang="lv-LV" dirty="0" err="1"/>
                  <a:t>alphabet</a:t>
                </a:r>
                <a:endParaRPr lang="lv-LV" dirty="0"/>
              </a:p>
              <a:p>
                <a:r>
                  <a:rPr lang="lv-LV" dirty="0"/>
                  <a:t>The set of all </a:t>
                </a:r>
                <a:r>
                  <a:rPr lang="lv-LV" dirty="0" err="1"/>
                  <a:t>finite</a:t>
                </a:r>
                <a:r>
                  <a:rPr lang="lv-LV" dirty="0"/>
                  <a:t> </a:t>
                </a:r>
                <a:r>
                  <a:rPr lang="lv-LV" dirty="0" err="1"/>
                  <a:t>words</a:t>
                </a:r>
                <a:r>
                  <a:rPr lang="lv-LV" dirty="0"/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dirty="0"/>
                  <a:t> </a:t>
                </a:r>
                <a:r>
                  <a:rPr lang="lv-LV" dirty="0" err="1"/>
                  <a:t>is</a:t>
                </a:r>
                <a:r>
                  <a:rPr lang="lv-LV" dirty="0"/>
                  <a:t> </a:t>
                </a:r>
                <a:r>
                  <a:rPr lang="lv-LV" dirty="0" err="1"/>
                  <a:t>denoted</a:t>
                </a:r>
                <a:r>
                  <a:rPr lang="lv-LV" dirty="0"/>
                  <a:t> </a:t>
                </a:r>
                <a:r>
                  <a:rPr lang="lv-LV" dirty="0" err="1"/>
                  <a:t>by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l-GR" dirty="0"/>
                  <a:t>.</a:t>
                </a:r>
                <a:endParaRPr lang="lv-LV" dirty="0"/>
              </a:p>
              <a:p>
                <a:pPr lvl="1"/>
                <a:r>
                  <a:rPr lang="lv-LV" dirty="0" err="1"/>
                  <a:t>For</a:t>
                </a:r>
                <a:r>
                  <a:rPr lang="lv-LV" dirty="0"/>
                  <a:t> </a:t>
                </a:r>
                <a:r>
                  <a:rPr lang="lv-LV" dirty="0" err="1"/>
                  <a:t>example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,0,1,00,01,10,11,000,001,010,011,100,…</m:t>
                        </m:r>
                      </m:e>
                    </m:d>
                  </m:oMath>
                </a14:m>
                <a:endParaRPr lang="lv-LV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lv-LV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lv-LV" dirty="0"/>
                  <a:t>denotes the set of all words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dirty="0"/>
                  <a:t> </a:t>
                </a:r>
                <a:r>
                  <a:rPr lang="lv-LV" dirty="0" err="1"/>
                  <a:t>with</a:t>
                </a:r>
                <a:r>
                  <a:rPr lang="lv-LV" dirty="0"/>
                  <a:t> </a:t>
                </a:r>
                <a:r>
                  <a:rPr lang="lv-LV" dirty="0" err="1"/>
                  <a:t>length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lv-LV" b="1" dirty="0" err="1"/>
                  <a:t>Language</a:t>
                </a:r>
                <a:r>
                  <a:rPr lang="lv-LV" b="1" dirty="0"/>
                  <a:t> </a:t>
                </a:r>
                <a:r>
                  <a:rPr lang="lv-LV" dirty="0" err="1"/>
                  <a:t>is</a:t>
                </a:r>
                <a:r>
                  <a:rPr lang="en-US" dirty="0"/>
                  <a:t> </a:t>
                </a:r>
                <a:r>
                  <a:rPr lang="lv-LV" dirty="0"/>
                  <a:t>a set </a:t>
                </a:r>
                <a:r>
                  <a:rPr lang="lv-LV" dirty="0" err="1"/>
                  <a:t>of</a:t>
                </a:r>
                <a:r>
                  <a:rPr lang="lv-LV" dirty="0"/>
                  <a:t> </a:t>
                </a:r>
                <a:r>
                  <a:rPr lang="lv-LV" dirty="0" err="1"/>
                  <a:t>words</a:t>
                </a:r>
                <a:r>
                  <a:rPr lang="en-US" dirty="0"/>
                  <a:t>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l-GR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l-GR" dirty="0"/>
                  <a:t> </a:t>
                </a:r>
                <a:r>
                  <a:rPr lang="lv-LV" dirty="0" err="1"/>
                  <a:t>denotes</a:t>
                </a:r>
                <a:r>
                  <a:rPr lang="lv-LV" dirty="0"/>
                  <a:t> a </a:t>
                </a:r>
                <a:r>
                  <a:rPr lang="lv-LV" dirty="0" err="1"/>
                  <a:t>language</a:t>
                </a:r>
                <a:r>
                  <a:rPr lang="lv-LV" dirty="0"/>
                  <a:t> </a:t>
                </a:r>
                <a:r>
                  <a:rPr lang="en-US" dirty="0"/>
                  <a:t>over</a:t>
                </a:r>
                <a:r>
                  <a:rPr lang="lv-LV" dirty="0"/>
                  <a:t> </a:t>
                </a:r>
                <a:r>
                  <a:rPr lang="lv-LV" dirty="0" err="1"/>
                  <a:t>alphabet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endParaRPr lang="el-GR" dirty="0"/>
              </a:p>
              <a:p>
                <a:pPr lvl="1"/>
                <a:endParaRPr lang="lv-LV" dirty="0"/>
              </a:p>
              <a:p>
                <a:endParaRPr lang="lv-LV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09553"/>
                <a:ext cx="10515600" cy="5605851"/>
              </a:xfrm>
              <a:blipFill>
                <a:blip r:embed="rId2"/>
                <a:stretch>
                  <a:fillRect l="-812" t="-2503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924800" y="477712"/>
                <a:ext cx="4267200" cy="151163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wrap="none" lIns="36000" tIns="36000" rIns="36000" bIns="36000" rtlCol="0">
                <a:spAutoFit/>
              </a:bodyPr>
              <a:lstStyle>
                <a:defPPr>
                  <a:defRPr lang="lv-LV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l-GR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l-GR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ā,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…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ž,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…, Ž,  ␣, ., 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</m:e>
                        </m:d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…, ! 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 ↑ , ↓ , → , ← </m:t>
                        </m:r>
                      </m:e>
                    </m:d>
                  </m:oMath>
                </a14:m>
                <a:endParaRPr lang="el-GR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dirty="0">
                  <a:effectLst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800" y="477712"/>
                <a:ext cx="4267200" cy="15116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575185" y="3709435"/>
                <a:ext cx="3616815" cy="145769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wrap="none" lIns="36000" tIns="36000" rIns="36000" bIns="36000" rtlCol="0">
                <a:spAutoFit/>
              </a:bodyPr>
              <a:lstStyle>
                <a:defPPr>
                  <a:defRPr lang="lv-LV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lv-LV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lv-LV" b="0" i="1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lv-LV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lv-LV" b="0" i="1" smtClean="0">
                            <a:effectLst/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effectLst/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lv-LV" b="0" i="1" smtClean="0">
                            <a:effectLst/>
                            <a:latin typeface="Cambria Math" panose="02040503050406030204" pitchFamily="18" charset="0"/>
                          </a:rPr>
                          <m:t>|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lv-LV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smtClean="0"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lv-LV" b="0" i="1" smtClean="0">
                            <a:effectLst/>
                            <a:latin typeface="Cambria Math" panose="02040503050406030204" pitchFamily="18" charset="0"/>
                          </a:rPr>
                          <m:t>≡0  (</m:t>
                        </m:r>
                        <m:r>
                          <a:rPr lang="lv-LV" b="0" i="1" smtClean="0">
                            <a:effectLst/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lv-LV" b="0" i="1" smtClean="0">
                            <a:effectLst/>
                            <a:latin typeface="Cambria Math" panose="02040503050406030204" pitchFamily="18" charset="0"/>
                          </a:rPr>
                          <m:t>2)</m:t>
                        </m:r>
                      </m:e>
                    </m:d>
                  </m:oMath>
                </a14:m>
                <a:endParaRPr lang="lv-LV" b="0" dirty="0">
                  <a:effectLst/>
                </a:endParaRPr>
              </a:p>
              <a:p>
                <a:r>
                  <a:rPr lang="lv-LV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lv-LV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lv-LV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lv-LV" i="1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</m:e>
                          <m:sup>
                            <m:r>
                              <a:rPr lang="lv-LV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lv-LV" i="1">
                            <a:latin typeface="Cambria Math" panose="02040503050406030204" pitchFamily="18" charset="0"/>
                          </a:rPr>
                          <m:t>| 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contains</m:t>
                        </m:r>
                        <m:r>
                          <m:rPr>
                            <m:nor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lv-LV" b="0" i="1" smtClean="0">
                            <a:latin typeface="Cambria Math" panose="02040503050406030204" pitchFamily="18" charset="0"/>
                          </a:rPr>
                          <m:t>bba</m:t>
                        </m:r>
                      </m:e>
                    </m:d>
                  </m:oMath>
                </a14:m>
                <a:endParaRPr lang="lv-LV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lv-LV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lv-LV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lv-LV" dirty="0"/>
              </a:p>
              <a:p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lv-LV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i="1">
                            <a:latin typeface="Cambria Math" panose="02040503050406030204" pitchFamily="18" charset="0"/>
                          </a:rPr>
                          <m:t>| 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lv-LV" dirty="0"/>
              </a:p>
              <a:p>
                <a:r>
                  <a:rPr lang="lv-LV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lv-LV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≥0}</m:t>
                    </m:r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5185" y="3709435"/>
                <a:ext cx="3616815" cy="1457698"/>
              </a:xfrm>
              <a:prstGeom prst="rect">
                <a:avLst/>
              </a:prstGeom>
              <a:blipFill>
                <a:blip r:embed="rId4"/>
                <a:stretch>
                  <a:fillRect b="-37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331B04-985F-4F02-B73F-70AF0C3796C5}"/>
                  </a:ext>
                </a:extLst>
              </p:cNvPr>
              <p:cNvSpPr txBox="1"/>
              <p:nvPr/>
            </p:nvSpPr>
            <p:spPr>
              <a:xfrm>
                <a:off x="10746694" y="5167133"/>
                <a:ext cx="144530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00011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331B04-985F-4F02-B73F-70AF0C379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6694" y="5167133"/>
                <a:ext cx="1445306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9128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200C350C-1F4F-4E74-853A-79B5043AD187}"/>
              </a:ext>
            </a:extLst>
          </p:cNvPr>
          <p:cNvGrpSpPr/>
          <p:nvPr/>
        </p:nvGrpSpPr>
        <p:grpSpPr>
          <a:xfrm>
            <a:off x="8153400" y="4410075"/>
            <a:ext cx="4038600" cy="2447925"/>
            <a:chOff x="6754482" y="4522692"/>
            <a:chExt cx="2872597" cy="199025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ED5633A-10A0-4CA9-AD85-49793A106F81}"/>
                </a:ext>
              </a:extLst>
            </p:cNvPr>
            <p:cNvSpPr/>
            <p:nvPr/>
          </p:nvSpPr>
          <p:spPr>
            <a:xfrm>
              <a:off x="6754482" y="4522692"/>
              <a:ext cx="2872597" cy="199025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endParaRPr lang="en-US" sz="1200" b="1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6B2FAAC-C621-4449-BD64-3817F8DBF4CC}"/>
                </a:ext>
              </a:extLst>
            </p:cNvPr>
            <p:cNvCxnSpPr>
              <a:cxnSpLocks/>
              <a:stCxn id="13" idx="0"/>
              <a:endCxn id="8" idx="4"/>
            </p:cNvCxnSpPr>
            <p:nvPr/>
          </p:nvCxnSpPr>
          <p:spPr>
            <a:xfrm flipH="1" flipV="1">
              <a:off x="7519381" y="4901972"/>
              <a:ext cx="37135" cy="1251593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82759EB-9A50-4D3D-A88B-EA1675C111B4}"/>
                </a:ext>
              </a:extLst>
            </p:cNvPr>
            <p:cNvCxnSpPr>
              <a:cxnSpLocks/>
              <a:stCxn id="13" idx="1"/>
              <a:endCxn id="10" idx="5"/>
            </p:cNvCxnSpPr>
            <p:nvPr/>
          </p:nvCxnSpPr>
          <p:spPr>
            <a:xfrm flipH="1" flipV="1">
              <a:off x="7166703" y="5619338"/>
              <a:ext cx="351884" cy="549938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54CA23E-EF22-48C0-8ACA-45B9156D2EAC}"/>
                </a:ext>
              </a:extLst>
            </p:cNvPr>
            <p:cNvCxnSpPr>
              <a:cxnSpLocks/>
              <a:stCxn id="8" idx="6"/>
              <a:endCxn id="9" idx="2"/>
            </p:cNvCxnSpPr>
            <p:nvPr/>
          </p:nvCxnSpPr>
          <p:spPr>
            <a:xfrm flipV="1">
              <a:off x="7573021" y="4848332"/>
              <a:ext cx="877492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2575F60-8462-4BDC-85D2-689C06249C15}"/>
                </a:ext>
              </a:extLst>
            </p:cNvPr>
            <p:cNvCxnSpPr>
              <a:cxnSpLocks/>
              <a:stCxn id="14" idx="0"/>
              <a:endCxn id="9" idx="4"/>
            </p:cNvCxnSpPr>
            <p:nvPr/>
          </p:nvCxnSpPr>
          <p:spPr>
            <a:xfrm flipV="1">
              <a:off x="8305125" y="4901972"/>
              <a:ext cx="199028" cy="954822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2BAD59E-87A3-4632-A3C8-BEBDE1B9F11F}"/>
                </a:ext>
              </a:extLst>
            </p:cNvPr>
            <p:cNvCxnSpPr>
              <a:cxnSpLocks/>
              <a:stCxn id="14" idx="6"/>
              <a:endCxn id="15" idx="2"/>
            </p:cNvCxnSpPr>
            <p:nvPr/>
          </p:nvCxnSpPr>
          <p:spPr>
            <a:xfrm>
              <a:off x="8358765" y="5910433"/>
              <a:ext cx="824825" cy="283017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FD24468-C598-48A2-B1E5-C8E61ED74470}"/>
                </a:ext>
              </a:extLst>
            </p:cNvPr>
            <p:cNvCxnSpPr>
              <a:cxnSpLocks/>
              <a:stCxn id="11" idx="5"/>
              <a:endCxn id="15" idx="1"/>
            </p:cNvCxnSpPr>
            <p:nvPr/>
          </p:nvCxnSpPr>
          <p:spPr>
            <a:xfrm>
              <a:off x="8263462" y="5293566"/>
              <a:ext cx="935839" cy="861956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449AFEE-8A10-4745-ACF3-B5BEB9841417}"/>
                </a:ext>
              </a:extLst>
            </p:cNvPr>
            <p:cNvCxnSpPr>
              <a:cxnSpLocks/>
              <a:stCxn id="12" idx="1"/>
              <a:endCxn id="11" idx="6"/>
            </p:cNvCxnSpPr>
            <p:nvPr/>
          </p:nvCxnSpPr>
          <p:spPr>
            <a:xfrm flipH="1" flipV="1">
              <a:off x="8279172" y="5255637"/>
              <a:ext cx="706363" cy="199527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9A226A2-89C0-48E8-B9A2-083A9520F8C5}"/>
                </a:ext>
              </a:extLst>
            </p:cNvPr>
            <p:cNvCxnSpPr>
              <a:cxnSpLocks/>
              <a:stCxn id="10" idx="6"/>
              <a:endCxn id="12" idx="2"/>
            </p:cNvCxnSpPr>
            <p:nvPr/>
          </p:nvCxnSpPr>
          <p:spPr>
            <a:xfrm flipV="1">
              <a:off x="7182414" y="5493093"/>
              <a:ext cx="1787411" cy="88315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CBE8EDF-E4D9-4F00-87C1-C88B0E9C5420}"/>
                </a:ext>
              </a:extLst>
            </p:cNvPr>
            <p:cNvCxnSpPr>
              <a:cxnSpLocks/>
              <a:stCxn id="10" idx="0"/>
              <a:endCxn id="8" idx="3"/>
            </p:cNvCxnSpPr>
            <p:nvPr/>
          </p:nvCxnSpPr>
          <p:spPr>
            <a:xfrm flipV="1">
              <a:off x="7128774" y="4886261"/>
              <a:ext cx="352678" cy="641507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A1C4FEC-0591-4300-9455-514C45926C45}"/>
                </a:ext>
              </a:extLst>
            </p:cNvPr>
            <p:cNvCxnSpPr>
              <a:cxnSpLocks/>
              <a:stCxn id="13" idx="6"/>
              <a:endCxn id="14" idx="2"/>
            </p:cNvCxnSpPr>
            <p:nvPr/>
          </p:nvCxnSpPr>
          <p:spPr>
            <a:xfrm flipV="1">
              <a:off x="7610156" y="5910433"/>
              <a:ext cx="641329" cy="296771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94130B5-0255-4840-8317-5B0D1D84AF4B}"/>
                </a:ext>
              </a:extLst>
            </p:cNvPr>
            <p:cNvCxnSpPr>
              <a:cxnSpLocks/>
              <a:stCxn id="8" idx="5"/>
              <a:endCxn id="11" idx="1"/>
            </p:cNvCxnSpPr>
            <p:nvPr/>
          </p:nvCxnSpPr>
          <p:spPr>
            <a:xfrm>
              <a:off x="7557310" y="4886261"/>
              <a:ext cx="630293" cy="331446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1261E71-7669-414B-90FB-DB60B381EEE7}"/>
                </a:ext>
              </a:extLst>
            </p:cNvPr>
            <p:cNvCxnSpPr>
              <a:cxnSpLocks/>
              <a:stCxn id="15" idx="0"/>
              <a:endCxn id="12" idx="5"/>
            </p:cNvCxnSpPr>
            <p:nvPr/>
          </p:nvCxnSpPr>
          <p:spPr>
            <a:xfrm flipH="1" flipV="1">
              <a:off x="9061393" y="5531022"/>
              <a:ext cx="175837" cy="608789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C95ECCC-D113-4257-9F5E-DA6C27C2D26C}"/>
                </a:ext>
              </a:extLst>
            </p:cNvPr>
            <p:cNvCxnSpPr>
              <a:cxnSpLocks/>
              <a:stCxn id="8" idx="5"/>
              <a:endCxn id="14" idx="1"/>
            </p:cNvCxnSpPr>
            <p:nvPr/>
          </p:nvCxnSpPr>
          <p:spPr>
            <a:xfrm>
              <a:off x="7557310" y="4886261"/>
              <a:ext cx="709886" cy="986243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CEE0741-5A99-4751-861A-6ECE8A6100D0}"/>
                </a:ext>
              </a:extLst>
            </p:cNvPr>
            <p:cNvSpPr/>
            <p:nvPr/>
          </p:nvSpPr>
          <p:spPr>
            <a:xfrm>
              <a:off x="7465741" y="4794692"/>
              <a:ext cx="107280" cy="1072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sz="1200" b="1" dirty="0"/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6E7597B-EDC8-491C-BAC2-65F990F35436}"/>
                </a:ext>
              </a:extLst>
            </p:cNvPr>
            <p:cNvSpPr/>
            <p:nvPr/>
          </p:nvSpPr>
          <p:spPr>
            <a:xfrm>
              <a:off x="8450513" y="4794692"/>
              <a:ext cx="107280" cy="1072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sz="1200" b="1" dirty="0"/>
                <a:t>2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0AB815-CC22-4518-833D-771FB50E9802}"/>
                </a:ext>
              </a:extLst>
            </p:cNvPr>
            <p:cNvSpPr/>
            <p:nvPr/>
          </p:nvSpPr>
          <p:spPr>
            <a:xfrm>
              <a:off x="7075134" y="5527769"/>
              <a:ext cx="107280" cy="1072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sz="1200" b="1" dirty="0"/>
                <a:t>4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D067108-30DD-4132-8F29-3DC6BAC6F4A9}"/>
                </a:ext>
              </a:extLst>
            </p:cNvPr>
            <p:cNvSpPr/>
            <p:nvPr/>
          </p:nvSpPr>
          <p:spPr>
            <a:xfrm>
              <a:off x="8171893" y="5201997"/>
              <a:ext cx="107280" cy="1072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sz="1200" b="1" dirty="0"/>
                <a:t>3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77F9394-FA96-4A9C-BC8B-611406E7EE55}"/>
                </a:ext>
              </a:extLst>
            </p:cNvPr>
            <p:cNvSpPr/>
            <p:nvPr/>
          </p:nvSpPr>
          <p:spPr>
            <a:xfrm>
              <a:off x="8969824" y="5439453"/>
              <a:ext cx="107280" cy="1072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sz="1200" b="1" dirty="0"/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CEEB6A3-B505-471F-A745-FB6E3D421CDE}"/>
                </a:ext>
              </a:extLst>
            </p:cNvPr>
            <p:cNvSpPr/>
            <p:nvPr/>
          </p:nvSpPr>
          <p:spPr>
            <a:xfrm>
              <a:off x="7502876" y="6153565"/>
              <a:ext cx="107280" cy="1072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sz="1200" b="1" dirty="0"/>
                <a:t>7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9179EFB-5932-4E6D-ACC3-EA44102963DE}"/>
                </a:ext>
              </a:extLst>
            </p:cNvPr>
            <p:cNvSpPr/>
            <p:nvPr/>
          </p:nvSpPr>
          <p:spPr>
            <a:xfrm>
              <a:off x="8251485" y="5856794"/>
              <a:ext cx="107280" cy="1072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sz="1200" b="1" dirty="0"/>
                <a:t>6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81F717F-8880-421D-ACDC-DB4A467FD809}"/>
                </a:ext>
              </a:extLst>
            </p:cNvPr>
            <p:cNvSpPr/>
            <p:nvPr/>
          </p:nvSpPr>
          <p:spPr>
            <a:xfrm>
              <a:off x="9183590" y="6139811"/>
              <a:ext cx="107280" cy="1072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sz="1200" b="1" dirty="0"/>
                <a:t>8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9571CDC-FB27-4BE7-9ECB-EEE4DD303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255" y="504878"/>
            <a:ext cx="8596668" cy="676259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Some examples of decision problems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621108-7209-403A-AEE2-8549508AE4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278" y="1334142"/>
                <a:ext cx="9156779" cy="3880773"/>
              </a:xfrm>
            </p:spPr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𝐷𝐼𝑉𝐼𝐷𝐸𝑆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b="0" i="0" noProof="0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nor/>
                              </m:rPr>
                              <a:rPr lang="en-US" b="0" i="0" noProof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m:rPr>
                                <m:nor/>
                              </m:rPr>
                              <a:rPr lang="en-US" b="0" i="0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nor/>
                              </m:rPr>
                              <a:rPr lang="en-US" b="0" i="0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noProof="0" smtClean="0">
                                <a:latin typeface="Cambria Math" panose="02040503050406030204" pitchFamily="18" charset="0"/>
                              </a:rPr>
                              <m:t>divides</m:t>
                            </m:r>
                            <m:r>
                              <m:rPr>
                                <m:nor/>
                              </m:rPr>
                              <a:rPr lang="en-US" b="0" i="0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nor/>
                              </m:rPr>
                              <a:rPr lang="en-US" b="0" i="0" noProof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noProof="0" smtClean="0">
                                <a:latin typeface="Cambria Math" panose="02040503050406030204" pitchFamily="18" charset="0"/>
                              </a:rPr>
                              <m:t>otherwise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b="0" noProof="0" dirty="0"/>
                  <a:t>     , e.g.</a:t>
                </a:r>
                <a:r>
                  <a:rPr lang="en-US" dirty="0"/>
                  <a:t>,</a:t>
                </a:r>
                <a:r>
                  <a:rPr lang="en-US" b="0" noProof="0" dirty="0"/>
                  <a:t> </a:t>
                </a:r>
                <a14:m>
                  <m:oMath xmlns:m="http://schemas.openxmlformats.org/officeDocument/2006/math">
                    <m:r>
                      <a:rPr lang="en-US" b="0" i="1" noProof="0" dirty="0" smtClean="0">
                        <a:latin typeface="Cambria Math" panose="02040503050406030204" pitchFamily="18" charset="0"/>
                      </a:rPr>
                      <m:t>𝐷𝐼𝑉𝐼𝐷𝐸𝑆</m:t>
                    </m:r>
                    <m:r>
                      <a:rPr lang="en-US" b="0" i="1" noProof="0" dirty="0" smtClean="0">
                        <a:latin typeface="Cambria Math" panose="02040503050406030204" pitchFamily="18" charset="0"/>
                      </a:rPr>
                      <m:t>(2,6)=1</m:t>
                    </m:r>
                  </m:oMath>
                </a14:m>
                <a:r>
                  <a:rPr lang="en-US" b="0" noProof="0" dirty="0"/>
                  <a:t>,    </a:t>
                </a:r>
                <a:br>
                  <a:rPr lang="en-US" b="0" noProof="0" dirty="0"/>
                </a:br>
                <a:br>
                  <a:rPr lang="en-US" b="0" noProof="0" dirty="0"/>
                </a:br>
                <a14:m>
                  <m:oMath xmlns:m="http://schemas.openxmlformats.org/officeDocument/2006/math">
                    <m:r>
                      <a:rPr lang="en-US" b="0" i="1" noProof="0" dirty="0" smtClean="0">
                        <a:latin typeface="Cambria Math" panose="02040503050406030204" pitchFamily="18" charset="0"/>
                      </a:rPr>
                      <m:t>𝐷𝐼𝑉𝐼𝐷𝐸𝑆</m:t>
                    </m:r>
                    <m:d>
                      <m:d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3,10</m:t>
                        </m:r>
                      </m:e>
                    </m:d>
                    <m:r>
                      <a:rPr lang="en-US" b="0" i="1" noProof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b="0" noProof="0" dirty="0"/>
                  <a:t> 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𝐻𝐴𝐿𝑇𝐼𝑁𝐺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Given a program code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and input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determine if the program ever finishes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𝐻𝐴𝑀𝐼𝐿𝑇𝑂𝑁𝐼𝐴𝑁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𝐶𝑌𝐶𝐿𝐸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Given a graph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,</a:t>
                </a:r>
                <a:br>
                  <a:rPr lang="en-US" dirty="0"/>
                </a:br>
                <a:r>
                  <a:rPr lang="en-US" dirty="0"/>
                  <a:t>determine if there exists a cycle that</a:t>
                </a:r>
                <a:br>
                  <a:rPr lang="en-US" dirty="0"/>
                </a:br>
                <a:r>
                  <a:rPr lang="en-US" dirty="0"/>
                  <a:t>visits each node of the graph exactly once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621108-7209-403A-AEE2-8549508AE4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278" y="1334142"/>
                <a:ext cx="9156779" cy="3880773"/>
              </a:xfrm>
              <a:blipFill>
                <a:blip r:embed="rId2"/>
                <a:stretch>
                  <a:fillRect t="-2830" r="-3728" b="-314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6D90FF9-A92E-41D1-88FB-8B895B5A26BC}"/>
              </a:ext>
            </a:extLst>
          </p:cNvPr>
          <p:cNvSpPr txBox="1"/>
          <p:nvPr/>
        </p:nvSpPr>
        <p:spPr>
          <a:xfrm>
            <a:off x="8381770" y="2058077"/>
            <a:ext cx="2438348" cy="16004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Input: x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 (x &gt; 1) {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x is even: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x := x / 2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x is odd: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x := 3x + 1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442B62B-0F91-453D-A639-CF63B3CDD437}"/>
                  </a:ext>
                </a:extLst>
              </p:cNvPr>
              <p:cNvSpPr txBox="1"/>
              <p:nvPr/>
            </p:nvSpPr>
            <p:spPr>
              <a:xfrm>
                <a:off x="10988683" y="2673630"/>
                <a:ext cx="1026820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=29</m:t>
                    </m:r>
                  </m:oMath>
                </a14:m>
                <a:r>
                  <a:rPr lang="en-US" dirty="0"/>
                  <a:t> ?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442B62B-0F91-453D-A639-CF63B3CDD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8683" y="2673630"/>
                <a:ext cx="1026820" cy="369332"/>
              </a:xfrm>
              <a:prstGeom prst="rect">
                <a:avLst/>
              </a:prstGeom>
              <a:blipFill>
                <a:blip r:embed="rId3"/>
                <a:stretch>
                  <a:fillRect t="-10000" r="-5357" b="-2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14F5782-6D74-4826-B715-3786D379C2BE}"/>
                  </a:ext>
                </a:extLst>
              </p:cNvPr>
              <p:cNvSpPr txBox="1"/>
              <p:nvPr/>
            </p:nvSpPr>
            <p:spPr>
              <a:xfrm>
                <a:off x="7111763" y="3697414"/>
                <a:ext cx="5080237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29→88→44→22→11→34→17→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52→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14F5782-6D74-4826-B715-3786D379C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763" y="3697414"/>
                <a:ext cx="508023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8BC5747-14E7-49DA-952C-4EFCC4A983EF}"/>
              </a:ext>
            </a:extLst>
          </p:cNvPr>
          <p:cNvSpPr txBox="1"/>
          <p:nvPr/>
        </p:nvSpPr>
        <p:spPr>
          <a:xfrm>
            <a:off x="384726" y="5130703"/>
            <a:ext cx="70540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of these problems are solvable by a </a:t>
            </a:r>
            <a:r>
              <a:rPr lang="en-US"/>
              <a:t>computer?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Which of these are solvable reasonably fast?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132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200C350C-1F4F-4E74-853A-79B5043AD187}"/>
              </a:ext>
            </a:extLst>
          </p:cNvPr>
          <p:cNvGrpSpPr/>
          <p:nvPr/>
        </p:nvGrpSpPr>
        <p:grpSpPr>
          <a:xfrm>
            <a:off x="8153400" y="4410075"/>
            <a:ext cx="4038600" cy="2447925"/>
            <a:chOff x="6754482" y="4522692"/>
            <a:chExt cx="2872597" cy="199025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ED5633A-10A0-4CA9-AD85-49793A106F81}"/>
                </a:ext>
              </a:extLst>
            </p:cNvPr>
            <p:cNvSpPr/>
            <p:nvPr/>
          </p:nvSpPr>
          <p:spPr>
            <a:xfrm>
              <a:off x="6754482" y="4522692"/>
              <a:ext cx="2872597" cy="199025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endParaRPr lang="en-US" sz="1200" b="1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6B2FAAC-C621-4449-BD64-3817F8DBF4CC}"/>
                </a:ext>
              </a:extLst>
            </p:cNvPr>
            <p:cNvCxnSpPr>
              <a:cxnSpLocks/>
              <a:stCxn id="13" idx="0"/>
              <a:endCxn id="8" idx="4"/>
            </p:cNvCxnSpPr>
            <p:nvPr/>
          </p:nvCxnSpPr>
          <p:spPr>
            <a:xfrm flipH="1" flipV="1">
              <a:off x="7519381" y="4901972"/>
              <a:ext cx="37135" cy="1251593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82759EB-9A50-4D3D-A88B-EA1675C111B4}"/>
                </a:ext>
              </a:extLst>
            </p:cNvPr>
            <p:cNvCxnSpPr>
              <a:cxnSpLocks/>
              <a:stCxn id="13" idx="1"/>
              <a:endCxn id="10" idx="5"/>
            </p:cNvCxnSpPr>
            <p:nvPr/>
          </p:nvCxnSpPr>
          <p:spPr>
            <a:xfrm flipH="1" flipV="1">
              <a:off x="7166703" y="5619338"/>
              <a:ext cx="351884" cy="549938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54CA23E-EF22-48C0-8ACA-45B9156D2EAC}"/>
                </a:ext>
              </a:extLst>
            </p:cNvPr>
            <p:cNvCxnSpPr>
              <a:cxnSpLocks/>
              <a:stCxn id="8" idx="6"/>
              <a:endCxn id="9" idx="2"/>
            </p:cNvCxnSpPr>
            <p:nvPr/>
          </p:nvCxnSpPr>
          <p:spPr>
            <a:xfrm flipV="1">
              <a:off x="7573021" y="4848332"/>
              <a:ext cx="877492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2575F60-8462-4BDC-85D2-689C06249C15}"/>
                </a:ext>
              </a:extLst>
            </p:cNvPr>
            <p:cNvCxnSpPr>
              <a:cxnSpLocks/>
              <a:stCxn id="14" idx="0"/>
              <a:endCxn id="9" idx="4"/>
            </p:cNvCxnSpPr>
            <p:nvPr/>
          </p:nvCxnSpPr>
          <p:spPr>
            <a:xfrm flipV="1">
              <a:off x="8305125" y="4901972"/>
              <a:ext cx="199028" cy="954822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2BAD59E-87A3-4632-A3C8-BEBDE1B9F11F}"/>
                </a:ext>
              </a:extLst>
            </p:cNvPr>
            <p:cNvCxnSpPr>
              <a:cxnSpLocks/>
              <a:stCxn id="14" idx="6"/>
              <a:endCxn id="15" idx="2"/>
            </p:cNvCxnSpPr>
            <p:nvPr/>
          </p:nvCxnSpPr>
          <p:spPr>
            <a:xfrm>
              <a:off x="8358765" y="5910433"/>
              <a:ext cx="824825" cy="283017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FD24468-C598-48A2-B1E5-C8E61ED74470}"/>
                </a:ext>
              </a:extLst>
            </p:cNvPr>
            <p:cNvCxnSpPr>
              <a:cxnSpLocks/>
              <a:stCxn id="11" idx="5"/>
              <a:endCxn id="15" idx="1"/>
            </p:cNvCxnSpPr>
            <p:nvPr/>
          </p:nvCxnSpPr>
          <p:spPr>
            <a:xfrm>
              <a:off x="8263462" y="5293566"/>
              <a:ext cx="935839" cy="861956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449AFEE-8A10-4745-ACF3-B5BEB9841417}"/>
                </a:ext>
              </a:extLst>
            </p:cNvPr>
            <p:cNvCxnSpPr>
              <a:cxnSpLocks/>
              <a:stCxn id="12" idx="1"/>
              <a:endCxn id="11" idx="6"/>
            </p:cNvCxnSpPr>
            <p:nvPr/>
          </p:nvCxnSpPr>
          <p:spPr>
            <a:xfrm flipH="1" flipV="1">
              <a:off x="8279172" y="5255637"/>
              <a:ext cx="706363" cy="199527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9A226A2-89C0-48E8-B9A2-083A9520F8C5}"/>
                </a:ext>
              </a:extLst>
            </p:cNvPr>
            <p:cNvCxnSpPr>
              <a:cxnSpLocks/>
              <a:stCxn id="10" idx="6"/>
              <a:endCxn id="12" idx="2"/>
            </p:cNvCxnSpPr>
            <p:nvPr/>
          </p:nvCxnSpPr>
          <p:spPr>
            <a:xfrm flipV="1">
              <a:off x="7182414" y="5493093"/>
              <a:ext cx="1787411" cy="88315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CBE8EDF-E4D9-4F00-87C1-C88B0E9C5420}"/>
                </a:ext>
              </a:extLst>
            </p:cNvPr>
            <p:cNvCxnSpPr>
              <a:cxnSpLocks/>
              <a:stCxn id="10" idx="0"/>
              <a:endCxn id="8" idx="3"/>
            </p:cNvCxnSpPr>
            <p:nvPr/>
          </p:nvCxnSpPr>
          <p:spPr>
            <a:xfrm flipV="1">
              <a:off x="7128774" y="4886261"/>
              <a:ext cx="352678" cy="641507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A1C4FEC-0591-4300-9455-514C45926C45}"/>
                </a:ext>
              </a:extLst>
            </p:cNvPr>
            <p:cNvCxnSpPr>
              <a:cxnSpLocks/>
              <a:stCxn id="13" idx="6"/>
              <a:endCxn id="14" idx="2"/>
            </p:cNvCxnSpPr>
            <p:nvPr/>
          </p:nvCxnSpPr>
          <p:spPr>
            <a:xfrm flipV="1">
              <a:off x="7610156" y="5910433"/>
              <a:ext cx="641329" cy="296771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94130B5-0255-4840-8317-5B0D1D84AF4B}"/>
                </a:ext>
              </a:extLst>
            </p:cNvPr>
            <p:cNvCxnSpPr>
              <a:cxnSpLocks/>
              <a:stCxn id="8" idx="5"/>
              <a:endCxn id="11" idx="1"/>
            </p:cNvCxnSpPr>
            <p:nvPr/>
          </p:nvCxnSpPr>
          <p:spPr>
            <a:xfrm>
              <a:off x="7557310" y="4886261"/>
              <a:ext cx="630293" cy="331446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1261E71-7669-414B-90FB-DB60B381EEE7}"/>
                </a:ext>
              </a:extLst>
            </p:cNvPr>
            <p:cNvCxnSpPr>
              <a:cxnSpLocks/>
              <a:stCxn id="15" idx="0"/>
              <a:endCxn id="12" idx="5"/>
            </p:cNvCxnSpPr>
            <p:nvPr/>
          </p:nvCxnSpPr>
          <p:spPr>
            <a:xfrm flipH="1" flipV="1">
              <a:off x="9061393" y="5531022"/>
              <a:ext cx="175837" cy="608789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C95ECCC-D113-4257-9F5E-DA6C27C2D26C}"/>
                </a:ext>
              </a:extLst>
            </p:cNvPr>
            <p:cNvCxnSpPr>
              <a:cxnSpLocks/>
              <a:stCxn id="8" idx="5"/>
              <a:endCxn id="14" idx="1"/>
            </p:cNvCxnSpPr>
            <p:nvPr/>
          </p:nvCxnSpPr>
          <p:spPr>
            <a:xfrm>
              <a:off x="7557310" y="4886261"/>
              <a:ext cx="709886" cy="986243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CEE0741-5A99-4751-861A-6ECE8A6100D0}"/>
                </a:ext>
              </a:extLst>
            </p:cNvPr>
            <p:cNvSpPr/>
            <p:nvPr/>
          </p:nvSpPr>
          <p:spPr>
            <a:xfrm>
              <a:off x="7465741" y="4794692"/>
              <a:ext cx="107280" cy="1072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sz="1200" b="1" dirty="0"/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6E7597B-EDC8-491C-BAC2-65F990F35436}"/>
                </a:ext>
              </a:extLst>
            </p:cNvPr>
            <p:cNvSpPr/>
            <p:nvPr/>
          </p:nvSpPr>
          <p:spPr>
            <a:xfrm>
              <a:off x="8450513" y="4794692"/>
              <a:ext cx="107280" cy="1072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sz="1200" b="1" dirty="0"/>
                <a:t>2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0AB815-CC22-4518-833D-771FB50E9802}"/>
                </a:ext>
              </a:extLst>
            </p:cNvPr>
            <p:cNvSpPr/>
            <p:nvPr/>
          </p:nvSpPr>
          <p:spPr>
            <a:xfrm>
              <a:off x="7075134" y="5527769"/>
              <a:ext cx="107280" cy="1072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sz="1200" b="1" dirty="0"/>
                <a:t>4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D067108-30DD-4132-8F29-3DC6BAC6F4A9}"/>
                </a:ext>
              </a:extLst>
            </p:cNvPr>
            <p:cNvSpPr/>
            <p:nvPr/>
          </p:nvSpPr>
          <p:spPr>
            <a:xfrm>
              <a:off x="8171893" y="5201997"/>
              <a:ext cx="107280" cy="1072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sz="1200" b="1" dirty="0"/>
                <a:t>3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77F9394-FA96-4A9C-BC8B-611406E7EE55}"/>
                </a:ext>
              </a:extLst>
            </p:cNvPr>
            <p:cNvSpPr/>
            <p:nvPr/>
          </p:nvSpPr>
          <p:spPr>
            <a:xfrm>
              <a:off x="8969824" y="5439453"/>
              <a:ext cx="107280" cy="1072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sz="1200" b="1" dirty="0"/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CEEB6A3-B505-471F-A745-FB6E3D421CDE}"/>
                </a:ext>
              </a:extLst>
            </p:cNvPr>
            <p:cNvSpPr/>
            <p:nvPr/>
          </p:nvSpPr>
          <p:spPr>
            <a:xfrm>
              <a:off x="7502876" y="6153565"/>
              <a:ext cx="107280" cy="1072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sz="1200" b="1" dirty="0"/>
                <a:t>7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9179EFB-5932-4E6D-ACC3-EA44102963DE}"/>
                </a:ext>
              </a:extLst>
            </p:cNvPr>
            <p:cNvSpPr/>
            <p:nvPr/>
          </p:nvSpPr>
          <p:spPr>
            <a:xfrm>
              <a:off x="8251485" y="5856794"/>
              <a:ext cx="107280" cy="1072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sz="1200" b="1" dirty="0"/>
                <a:t>6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81F717F-8880-421D-ACDC-DB4A467FD809}"/>
                </a:ext>
              </a:extLst>
            </p:cNvPr>
            <p:cNvSpPr/>
            <p:nvPr/>
          </p:nvSpPr>
          <p:spPr>
            <a:xfrm>
              <a:off x="9183590" y="6139811"/>
              <a:ext cx="107280" cy="1072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sz="1200" b="1" dirty="0"/>
                <a:t>8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9571CDC-FB27-4BE7-9ECB-EEE4DD303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255" y="504878"/>
            <a:ext cx="8596668" cy="676259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Some examples of decision problems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621108-7209-403A-AEE2-8549508AE4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278" y="1334142"/>
                <a:ext cx="9156779" cy="3880773"/>
              </a:xfrm>
            </p:spPr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𝐷𝐼𝑉𝐼𝐷𝐸𝑆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b="0" i="0" noProof="0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nor/>
                              </m:rPr>
                              <a:rPr lang="en-US" b="0" i="0" noProof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m:rPr>
                                <m:nor/>
                              </m:rPr>
                              <a:rPr lang="en-US" b="0" i="0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nor/>
                              </m:rPr>
                              <a:rPr lang="en-US" b="0" i="0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noProof="0" smtClean="0">
                                <a:latin typeface="Cambria Math" panose="02040503050406030204" pitchFamily="18" charset="0"/>
                              </a:rPr>
                              <m:t>divides</m:t>
                            </m:r>
                            <m:r>
                              <m:rPr>
                                <m:nor/>
                              </m:rPr>
                              <a:rPr lang="en-US" b="0" i="0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nor/>
                              </m:rPr>
                              <a:rPr lang="en-US" b="0" i="0" noProof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noProof="0" smtClean="0">
                                <a:latin typeface="Cambria Math" panose="02040503050406030204" pitchFamily="18" charset="0"/>
                              </a:rPr>
                              <m:t>otherwise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b="0" noProof="0" dirty="0"/>
                  <a:t>     , e.g.</a:t>
                </a:r>
                <a:r>
                  <a:rPr lang="en-US" dirty="0"/>
                  <a:t>,</a:t>
                </a:r>
                <a:r>
                  <a:rPr lang="en-US" b="0" noProof="0" dirty="0"/>
                  <a:t> </a:t>
                </a:r>
                <a14:m>
                  <m:oMath xmlns:m="http://schemas.openxmlformats.org/officeDocument/2006/math">
                    <m:r>
                      <a:rPr lang="en-US" b="0" i="1" noProof="0" dirty="0" smtClean="0">
                        <a:latin typeface="Cambria Math" panose="02040503050406030204" pitchFamily="18" charset="0"/>
                      </a:rPr>
                      <m:t>𝐷𝐼𝑉𝐼𝐷𝐸𝑆</m:t>
                    </m:r>
                    <m:r>
                      <a:rPr lang="en-US" b="0" i="1" noProof="0" dirty="0" smtClean="0">
                        <a:latin typeface="Cambria Math" panose="02040503050406030204" pitchFamily="18" charset="0"/>
                      </a:rPr>
                      <m:t>(2,6)=1</m:t>
                    </m:r>
                  </m:oMath>
                </a14:m>
                <a:r>
                  <a:rPr lang="en-US" b="0" noProof="0" dirty="0"/>
                  <a:t>,    </a:t>
                </a:r>
                <a:br>
                  <a:rPr lang="en-US" b="0" noProof="0" dirty="0"/>
                </a:br>
                <a:br>
                  <a:rPr lang="en-US" b="0" noProof="0" dirty="0"/>
                </a:br>
                <a14:m>
                  <m:oMath xmlns:m="http://schemas.openxmlformats.org/officeDocument/2006/math">
                    <m:r>
                      <a:rPr lang="en-US" b="0" i="1" noProof="0" dirty="0" smtClean="0">
                        <a:latin typeface="Cambria Math" panose="02040503050406030204" pitchFamily="18" charset="0"/>
                      </a:rPr>
                      <m:t>𝐷𝐼𝑉𝐼𝐷𝐸𝑆</m:t>
                    </m:r>
                    <m:d>
                      <m:d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3,10</m:t>
                        </m:r>
                      </m:e>
                    </m:d>
                    <m:r>
                      <a:rPr lang="en-US" b="0" i="1" noProof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b="0" noProof="0" dirty="0"/>
                  <a:t> 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𝐻𝐴𝐿𝑇𝐼𝑁𝐺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Given a program code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and input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determine if the program ever finishes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𝐻𝐴𝑀𝐼𝐿𝑇𝑂𝑁𝐼𝐴𝑁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𝐶𝑌𝐶𝐿𝐸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Given a graph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,</a:t>
                </a:r>
                <a:br>
                  <a:rPr lang="en-US" dirty="0"/>
                </a:br>
                <a:r>
                  <a:rPr lang="en-US" dirty="0"/>
                  <a:t>determine if there exists a cycle that</a:t>
                </a:r>
                <a:br>
                  <a:rPr lang="en-US" dirty="0"/>
                </a:br>
                <a:r>
                  <a:rPr lang="en-US" dirty="0"/>
                  <a:t>visits each node of the graph exactly once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621108-7209-403A-AEE2-8549508AE4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278" y="1334142"/>
                <a:ext cx="9156779" cy="3880773"/>
              </a:xfrm>
              <a:blipFill>
                <a:blip r:embed="rId2"/>
                <a:stretch>
                  <a:fillRect t="-2830" r="-3728" b="-314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6D90FF9-A92E-41D1-88FB-8B895B5A26BC}"/>
              </a:ext>
            </a:extLst>
          </p:cNvPr>
          <p:cNvSpPr txBox="1"/>
          <p:nvPr/>
        </p:nvSpPr>
        <p:spPr>
          <a:xfrm>
            <a:off x="8381770" y="2058077"/>
            <a:ext cx="2438348" cy="16004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Input: x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 (x &gt; 1) {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x is even: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x := x / 2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x is odd: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x := 3x + 1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442B62B-0F91-453D-A639-CF63B3CDD437}"/>
                  </a:ext>
                </a:extLst>
              </p:cNvPr>
              <p:cNvSpPr txBox="1"/>
              <p:nvPr/>
            </p:nvSpPr>
            <p:spPr>
              <a:xfrm>
                <a:off x="10988683" y="2673630"/>
                <a:ext cx="1026820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=29</m:t>
                    </m:r>
                  </m:oMath>
                </a14:m>
                <a:r>
                  <a:rPr lang="en-US" dirty="0"/>
                  <a:t> ?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442B62B-0F91-453D-A639-CF63B3CDD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8683" y="2673630"/>
                <a:ext cx="1026820" cy="369332"/>
              </a:xfrm>
              <a:prstGeom prst="rect">
                <a:avLst/>
              </a:prstGeom>
              <a:blipFill>
                <a:blip r:embed="rId3"/>
                <a:stretch>
                  <a:fillRect t="-10000" r="-5357" b="-2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14F5782-6D74-4826-B715-3786D379C2BE}"/>
                  </a:ext>
                </a:extLst>
              </p:cNvPr>
              <p:cNvSpPr txBox="1"/>
              <p:nvPr/>
            </p:nvSpPr>
            <p:spPr>
              <a:xfrm>
                <a:off x="7111763" y="3697414"/>
                <a:ext cx="5080237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29→88→44→22→11→34→17→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52→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14F5782-6D74-4826-B715-3786D379C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763" y="3697414"/>
                <a:ext cx="508023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8BC5747-14E7-49DA-952C-4EFCC4A983EF}"/>
              </a:ext>
            </a:extLst>
          </p:cNvPr>
          <p:cNvSpPr txBox="1"/>
          <p:nvPr/>
        </p:nvSpPr>
        <p:spPr>
          <a:xfrm>
            <a:off x="384726" y="5130703"/>
            <a:ext cx="70540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of these problems are solvable by a computer? A: 1, 3</a:t>
            </a:r>
          </a:p>
          <a:p>
            <a:r>
              <a:rPr lang="en-US" dirty="0"/>
              <a:t>It can be proven that no algorithm exists that would solve problem 2</a:t>
            </a:r>
          </a:p>
          <a:p>
            <a:endParaRPr lang="en-US" dirty="0"/>
          </a:p>
          <a:p>
            <a:r>
              <a:rPr lang="en-US" dirty="0"/>
              <a:t>Which of these are solvable reasonably fast? A: 1</a:t>
            </a:r>
          </a:p>
          <a:p>
            <a:r>
              <a:rPr lang="en-US" dirty="0"/>
              <a:t>There is no known fast (polynomial-time) algorithm for problem 3</a:t>
            </a:r>
          </a:p>
        </p:txBody>
      </p:sp>
    </p:spTree>
    <p:extLst>
      <p:ext uri="{BB962C8B-B14F-4D97-AF65-F5344CB8AC3E}">
        <p14:creationId xmlns:p14="http://schemas.microsoft.com/office/powerpoint/2010/main" val="13325302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err="1"/>
              <a:t>Encoding</a:t>
            </a:r>
            <a:r>
              <a:rPr lang="lv-LV" dirty="0"/>
              <a:t> </a:t>
            </a:r>
            <a:r>
              <a:rPr lang="lv-LV" dirty="0" err="1"/>
              <a:t>larger</a:t>
            </a:r>
            <a:r>
              <a:rPr lang="lv-LV" dirty="0"/>
              <a:t> </a:t>
            </a:r>
            <a:r>
              <a:rPr lang="lv-LV" dirty="0" err="1"/>
              <a:t>alphabets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lv-LV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endParaRPr lang="lv-LV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lv-LV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lv-LV" dirty="0"/>
              </a:p>
              <a:p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→000</m:t>
                    </m:r>
                  </m:oMath>
                </a14:m>
                <a:endParaRPr lang="lv-LV" dirty="0"/>
              </a:p>
              <a:p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→001</m:t>
                    </m:r>
                  </m:oMath>
                </a14:m>
                <a:endParaRPr lang="lv-LV" dirty="0"/>
              </a:p>
              <a:p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→010</m:t>
                    </m:r>
                  </m:oMath>
                </a14:m>
                <a:endParaRPr lang="lv-LV" dirty="0"/>
              </a:p>
              <a:p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→011</m:t>
                    </m:r>
                  </m:oMath>
                </a14:m>
                <a:endParaRPr lang="lv-LV" dirty="0"/>
              </a:p>
              <a:p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→100</m:t>
                    </m:r>
                  </m:oMath>
                </a14:m>
                <a:endParaRPr lang="lv-LV" dirty="0"/>
              </a:p>
              <a:p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→101</m:t>
                    </m:r>
                  </m:oMath>
                </a14:m>
                <a:endParaRPr lang="lv-LV" dirty="0"/>
              </a:p>
              <a:p>
                <a14:m>
                  <m:oMath xmlns:m="http://schemas.openxmlformats.org/officeDocument/2006/math">
                    <m:r>
                      <a:rPr lang="lv-LV" i="1" dirty="0" smtClean="0">
                        <a:latin typeface="Cambria Math" panose="02040503050406030204" pitchFamily="18" charset="0"/>
                      </a:rPr>
                      <m:t>𝑎𝑑𝑒𝑏</m:t>
                    </m:r>
                    <m:r>
                      <a:rPr lang="lv-LV" b="0" i="1" dirty="0" smtClean="0">
                        <a:latin typeface="Cambria Math" panose="02040503050406030204" pitchFamily="18" charset="0"/>
                      </a:rPr>
                      <m:t>→000011100001</m:t>
                    </m:r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2583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107353"/>
          </a:xfrm>
        </p:spPr>
        <p:txBody>
          <a:bodyPr/>
          <a:lstStyle/>
          <a:p>
            <a:r>
              <a:rPr lang="lv-LV" dirty="0" err="1"/>
              <a:t>Turing</a:t>
            </a:r>
            <a:r>
              <a:rPr lang="lv-LV" dirty="0"/>
              <a:t> </a:t>
            </a:r>
            <a:r>
              <a:rPr lang="lv-LV" dirty="0" err="1"/>
              <a:t>machine</a:t>
            </a:r>
            <a:endParaRPr lang="lv-LV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817091"/>
            <a:ext cx="10515600" cy="3272559"/>
          </a:xfrm>
        </p:spPr>
        <p:txBody>
          <a:bodyPr/>
          <a:lstStyle/>
          <a:p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8668491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err="1"/>
              <a:t>Turing</a:t>
            </a:r>
            <a:r>
              <a:rPr lang="lv-LV" dirty="0"/>
              <a:t> </a:t>
            </a:r>
            <a:r>
              <a:rPr lang="lv-LV" dirty="0" err="1"/>
              <a:t>machine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v-LV" dirty="0"/>
              <a:t>More </a:t>
            </a:r>
            <a:r>
              <a:rPr lang="lv-LV" dirty="0" err="1"/>
              <a:t>powerful</a:t>
            </a:r>
            <a:r>
              <a:rPr lang="lv-LV" dirty="0"/>
              <a:t> </a:t>
            </a:r>
            <a:r>
              <a:rPr lang="lv-LV" dirty="0" err="1"/>
              <a:t>model</a:t>
            </a:r>
            <a:r>
              <a:rPr lang="lv-LV" dirty="0"/>
              <a:t> </a:t>
            </a:r>
            <a:r>
              <a:rPr lang="lv-LV" dirty="0" err="1"/>
              <a:t>than</a:t>
            </a:r>
            <a:r>
              <a:rPr lang="lv-LV" dirty="0"/>
              <a:t> </a:t>
            </a:r>
            <a:r>
              <a:rPr lang="lv-LV" dirty="0" err="1"/>
              <a:t>finite</a:t>
            </a:r>
            <a:r>
              <a:rPr lang="lv-LV" dirty="0"/>
              <a:t> </a:t>
            </a:r>
            <a:r>
              <a:rPr lang="lv-LV" dirty="0" err="1"/>
              <a:t>automaton</a:t>
            </a:r>
            <a:endParaRPr lang="lv-LV" dirty="0"/>
          </a:p>
          <a:p>
            <a:r>
              <a:rPr lang="lv-LV" dirty="0" err="1"/>
              <a:t>Devised</a:t>
            </a:r>
            <a:r>
              <a:rPr lang="lv-LV" dirty="0"/>
              <a:t> </a:t>
            </a:r>
            <a:r>
              <a:rPr lang="en-US" dirty="0"/>
              <a:t>by Alan Turing</a:t>
            </a:r>
            <a:r>
              <a:rPr lang="lv-LV" dirty="0"/>
              <a:t> </a:t>
            </a:r>
            <a:r>
              <a:rPr lang="en-US" dirty="0"/>
              <a:t>in 1936</a:t>
            </a:r>
            <a:endParaRPr lang="lv-LV" dirty="0"/>
          </a:p>
          <a:p>
            <a:endParaRPr lang="lv-LV" dirty="0"/>
          </a:p>
          <a:p>
            <a:endParaRPr lang="lv-LV" dirty="0"/>
          </a:p>
          <a:p>
            <a:r>
              <a:rPr lang="lv-LV" dirty="0" err="1"/>
              <a:t>Extension</a:t>
            </a:r>
            <a:r>
              <a:rPr lang="lv-LV" dirty="0"/>
              <a:t> to FA</a:t>
            </a:r>
          </a:p>
          <a:p>
            <a:pPr lvl="1"/>
            <a:r>
              <a:rPr lang="lv-LV" dirty="0"/>
              <a:t>(</a:t>
            </a:r>
            <a:r>
              <a:rPr lang="lv-LV" dirty="0" err="1"/>
              <a:t>Potentially</a:t>
            </a:r>
            <a:r>
              <a:rPr lang="lv-LV" dirty="0"/>
              <a:t>) </a:t>
            </a:r>
            <a:r>
              <a:rPr lang="lv-LV" dirty="0" err="1"/>
              <a:t>infinite</a:t>
            </a:r>
            <a:r>
              <a:rPr lang="lv-LV" dirty="0"/>
              <a:t> </a:t>
            </a:r>
            <a:r>
              <a:rPr lang="lv-LV" dirty="0" err="1"/>
              <a:t>tape</a:t>
            </a:r>
            <a:endParaRPr lang="lv-LV" dirty="0"/>
          </a:p>
          <a:p>
            <a:pPr lvl="1"/>
            <a:r>
              <a:rPr lang="lv-LV" dirty="0" err="1"/>
              <a:t>Can</a:t>
            </a:r>
            <a:r>
              <a:rPr lang="lv-LV" dirty="0"/>
              <a:t> </a:t>
            </a:r>
            <a:r>
              <a:rPr lang="lv-LV" dirty="0" err="1"/>
              <a:t>move</a:t>
            </a:r>
            <a:r>
              <a:rPr lang="lv-LV" dirty="0"/>
              <a:t> </a:t>
            </a:r>
            <a:r>
              <a:rPr lang="lv-LV" dirty="0" err="1"/>
              <a:t>in</a:t>
            </a:r>
            <a:r>
              <a:rPr lang="lv-LV" dirty="0"/>
              <a:t> </a:t>
            </a:r>
            <a:r>
              <a:rPr lang="lv-LV" dirty="0" err="1"/>
              <a:t>both</a:t>
            </a:r>
            <a:r>
              <a:rPr lang="lv-LV" dirty="0"/>
              <a:t> </a:t>
            </a:r>
            <a:r>
              <a:rPr lang="lv-LV" dirty="0" err="1"/>
              <a:t>directions</a:t>
            </a:r>
            <a:r>
              <a:rPr lang="lv-LV" dirty="0"/>
              <a:t> </a:t>
            </a:r>
            <a:r>
              <a:rPr lang="lv-LV" dirty="0" err="1"/>
              <a:t>on</a:t>
            </a:r>
            <a:r>
              <a:rPr lang="lv-LV" dirty="0"/>
              <a:t> </a:t>
            </a:r>
            <a:r>
              <a:rPr lang="lv-LV" dirty="0" err="1"/>
              <a:t>the</a:t>
            </a:r>
            <a:r>
              <a:rPr lang="lv-LV" dirty="0"/>
              <a:t> </a:t>
            </a:r>
            <a:r>
              <a:rPr lang="lv-LV" dirty="0" err="1"/>
              <a:t>tape</a:t>
            </a:r>
            <a:endParaRPr lang="lv-LV" dirty="0"/>
          </a:p>
          <a:p>
            <a:pPr lvl="1"/>
            <a:r>
              <a:rPr lang="lv-LV" dirty="0" err="1"/>
              <a:t>Can</a:t>
            </a:r>
            <a:r>
              <a:rPr lang="lv-LV" dirty="0"/>
              <a:t> </a:t>
            </a:r>
            <a:r>
              <a:rPr lang="lv-LV" dirty="0" err="1"/>
              <a:t>read</a:t>
            </a:r>
            <a:r>
              <a:rPr lang="lv-LV" dirty="0"/>
              <a:t>/</a:t>
            </a:r>
            <a:r>
              <a:rPr lang="lv-LV" dirty="0" err="1"/>
              <a:t>write</a:t>
            </a:r>
            <a:r>
              <a:rPr lang="lv-LV" dirty="0"/>
              <a:t> </a:t>
            </a:r>
            <a:r>
              <a:rPr lang="lv-LV" dirty="0" err="1"/>
              <a:t>symbols</a:t>
            </a:r>
            <a:r>
              <a:rPr lang="lv-LV" dirty="0"/>
              <a:t> </a:t>
            </a:r>
            <a:r>
              <a:rPr lang="lv-LV" dirty="0" err="1"/>
              <a:t>on</a:t>
            </a:r>
            <a:r>
              <a:rPr lang="lv-LV" dirty="0"/>
              <a:t> </a:t>
            </a:r>
            <a:r>
              <a:rPr lang="lv-LV" dirty="0" err="1"/>
              <a:t>tape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2675502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27" y="905609"/>
            <a:ext cx="11620607" cy="568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9847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err="1"/>
              <a:t>Example</a:t>
            </a:r>
            <a:r>
              <a:rPr lang="lv-LV" dirty="0"/>
              <a:t> </a:t>
            </a:r>
            <a:r>
              <a:rPr lang="lv-LV" dirty="0" err="1"/>
              <a:t>of</a:t>
            </a:r>
            <a:r>
              <a:rPr lang="en-US" dirty="0"/>
              <a:t> a</a:t>
            </a:r>
            <a:r>
              <a:rPr lang="lv-LV" dirty="0"/>
              <a:t> TM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 txBox="1"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81478" cy="1061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lv-LV" b="0" dirty="0"/>
                  <a:t>Consider </a:t>
                </a:r>
                <a:r>
                  <a:rPr lang="lv-LV" b="0" dirty="0" err="1"/>
                  <a:t>the</a:t>
                </a:r>
                <a:r>
                  <a:rPr lang="lv-LV" b="0" dirty="0"/>
                  <a:t> </a:t>
                </a:r>
                <a:r>
                  <a:rPr lang="lv-LV" b="0" dirty="0" err="1"/>
                  <a:t>language</a:t>
                </a:r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sSup>
                              <m:sSupPr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sup>
                        </m:sSup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 | 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0,00,0000,00000000,…</m:t>
                        </m:r>
                      </m:e>
                    </m:d>
                  </m:oMath>
                </a14:m>
                <a:endParaRPr lang="lv-LV" dirty="0"/>
              </a:p>
              <a:p>
                <a:r>
                  <a:rPr lang="lv-LV" dirty="0" err="1"/>
                  <a:t>Is</a:t>
                </a:r>
                <a:r>
                  <a:rPr lang="lv-LV" dirty="0"/>
                  <a:t> it </a:t>
                </a:r>
                <a:r>
                  <a:rPr lang="lv-LV" dirty="0" err="1"/>
                  <a:t>regular</a:t>
                </a:r>
                <a:r>
                  <a:rPr lang="lv-LV" dirty="0"/>
                  <a:t>? </a:t>
                </a:r>
                <a:r>
                  <a:rPr lang="lv-LV" dirty="0" err="1"/>
                  <a:t>Can</a:t>
                </a:r>
                <a:r>
                  <a:rPr lang="lv-LV" dirty="0"/>
                  <a:t> it </a:t>
                </a:r>
                <a:r>
                  <a:rPr lang="lv-LV" dirty="0" err="1"/>
                  <a:t>be</a:t>
                </a:r>
                <a:r>
                  <a:rPr lang="lv-LV" dirty="0"/>
                  <a:t> </a:t>
                </a:r>
                <a:r>
                  <a:rPr lang="lv-LV" dirty="0" err="1"/>
                  <a:t>recognized</a:t>
                </a:r>
                <a:r>
                  <a:rPr lang="lv-LV" dirty="0"/>
                  <a:t> </a:t>
                </a:r>
                <a:r>
                  <a:rPr lang="lv-LV" dirty="0" err="1"/>
                  <a:t>by</a:t>
                </a:r>
                <a:r>
                  <a:rPr lang="lv-LV" dirty="0"/>
                  <a:t> a DFA?</a:t>
                </a:r>
              </a:p>
            </p:txBody>
          </p:sp>
        </mc:Choice>
        <mc:Fallback xmlns="">
          <p:sp>
            <p:nvSpPr>
              <p:cNvPr id="4" name="Content Placeholder 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81478" cy="1061766"/>
              </a:xfrm>
              <a:prstGeom prst="rect">
                <a:avLst/>
              </a:prstGeom>
              <a:blipFill rotWithShape="0">
                <a:blip r:embed="rId2"/>
                <a:stretch>
                  <a:fillRect l="-1018" t="-5143" b="-14857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15299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7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B042C4-565E-B490-5A09-62706F419028}"/>
              </a:ext>
            </a:extLst>
          </p:cNvPr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2544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7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6435969" y="880725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855784" y="3371880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6C6EEF-CEDF-D498-5943-3F7F0759A4E4}"/>
              </a:ext>
            </a:extLst>
          </p:cNvPr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0728200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7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_</a:t>
            </a:r>
            <a:endParaRPr lang="lv-LV" dirty="0"/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6906358" y="942622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2971800" y="3275164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D63CA9-2DA2-1F06-68F1-B3D3912AC3F8}"/>
              </a:ext>
            </a:extLst>
          </p:cNvPr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000432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7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7389935" y="880724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081953" y="3191607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9942070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7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7904285" y="880724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4923692" y="4589584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0514172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7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8357089" y="880724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049716" y="3235568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392107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7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8840666" y="942622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4909039" y="4571999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5745914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7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9324243" y="942622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061172" y="3280861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9832692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7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9794632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C8A4D6F-6EBE-1114-2A77-906EB116AB90}"/>
              </a:ext>
            </a:extLst>
          </p:cNvPr>
          <p:cNvCxnSpPr/>
          <p:nvPr/>
        </p:nvCxnSpPr>
        <p:spPr>
          <a:xfrm flipH="1" flipV="1">
            <a:off x="4909039" y="4571999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4629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  <a:endParaRPr lang="lv-LV" dirty="0"/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10296655" y="880724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9184385-3C77-9835-2FE0-B94F98AF7797}"/>
              </a:ext>
            </a:extLst>
          </p:cNvPr>
          <p:cNvCxnSpPr/>
          <p:nvPr/>
        </p:nvCxnSpPr>
        <p:spPr>
          <a:xfrm flipH="1" flipV="1">
            <a:off x="5098118" y="3253152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16814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9807820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3810000" y="2519024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476884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9284678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3887887" y="2519024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5139632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8845063" y="880724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3911844" y="2519024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785121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8352694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3897123" y="2519024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314145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F52592-1A16-033D-612D-CFF15F0EC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6427179" y="883976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3878650" y="2519024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678928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6906358" y="880724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2894001" y="3348166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880484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7398727" y="880724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2894002" y="3348165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683153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7921870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062682" y="3321344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432700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8370278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044209" y="3284399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027649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8906609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4910104" y="4584773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2782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9319848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4919341" y="4603246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844226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9772653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063126" y="3232089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1728439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10308984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072362" y="3269035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598005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9803427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3910890" y="2519024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1003042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6418389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3855472" y="2519024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923882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6897570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2971800" y="3291858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358422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7416317" y="880724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2971800" y="3301095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645601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7873517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2971800" y="3310331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0168386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8348302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2944092" y="3319567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699746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8801106" y="892768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068810" y="3261573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789647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9284684" y="880724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059573" y="3252337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214817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9821015" y="892417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078046" y="3206156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32500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10287008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078046" y="3224628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574279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9807820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3872612" y="2519024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8035287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6422781" y="880724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3789484" y="2519024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529833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6906358" y="855840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2894001" y="3322677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270366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7381143" y="880724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2910165" y="3322677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7600088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10247435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2903238" y="3313441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627592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180993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4570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814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1724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5301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8878" y="39714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2455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603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10247435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2971800" y="4578644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49609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1980" y="39714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1267" y="39417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400" dirty="0"/>
              <a:t>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22731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6308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9885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3462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7039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0616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24193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07770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996856" y="3936023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4617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6422781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928704" y="3342272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22731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6308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9885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3462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7039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0616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24193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07770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996856" y="3936023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8099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4569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48146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1723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5300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887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65981" y="51429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7596499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6906357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2971800" y="3293799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22731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6308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9885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3462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7039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0616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24193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07770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996856" y="3936023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8099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4569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48146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1723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5300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887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65981" y="51429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178865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7337180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080489" y="3210715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22731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6308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9885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3462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7039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0616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24193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07770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996856" y="3936023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8099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4569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48146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1723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5300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887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65981" y="51429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25128403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7873511" y="883626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4932485" y="4582759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22731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6308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9885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3462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7039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0616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24193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07770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996856" y="3936023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8099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4569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48146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1723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5300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887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65981" y="51429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7645470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8387860" y="883626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685800" y="4579722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22731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6308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9885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3462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7039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0616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24193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07770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996856" y="3936023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8099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4569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48146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1723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5300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887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65981" y="51429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/>
              <a:t>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9558" y="400049"/>
            <a:ext cx="85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rgbClr val="FF0000"/>
                </a:solidFill>
              </a:rPr>
              <a:t>Rejects</a:t>
            </a:r>
            <a:endParaRPr lang="lv-LV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0483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8387860" y="883626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685800" y="4579722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22731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6308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9885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3462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7039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0616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24193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07770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996856" y="3936023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8099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4569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48146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1723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5300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887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65981" y="51429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/>
              <a:t>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3386" y="3184308"/>
            <a:ext cx="85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rgbClr val="FF0000"/>
                </a:solidFill>
              </a:rPr>
              <a:t>Rejects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996354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79931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63508" y="313008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138399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6418383" y="1057978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928704" y="3315865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22731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6308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9885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3462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7039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0616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24193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07770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996856" y="3936023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8099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4569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48146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1723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5300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887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65981" y="51429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/>
              <a:t>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3386" y="3184308"/>
            <a:ext cx="85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rgbClr val="FF0000"/>
                </a:solidFill>
              </a:rPr>
              <a:t>Rejects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996354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79931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63508" y="313008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26822427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6915148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2880546" y="3334338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22731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6308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9885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3462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7039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0616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24193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07770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996856" y="3936023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8099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4569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48146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1723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5300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887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65981" y="51429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/>
              <a:t>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3386" y="3184308"/>
            <a:ext cx="85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rgbClr val="FF0000"/>
                </a:solidFill>
              </a:rPr>
              <a:t>Rejects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996354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79931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63508" y="313008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03298955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7389934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4945673" y="3368974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22731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6308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9885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3462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7039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0616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24193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07770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996856" y="3936023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8099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4569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48146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1723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5300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887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65981" y="51429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/>
              <a:t>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3386" y="3184308"/>
            <a:ext cx="85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rgbClr val="FF0000"/>
                </a:solidFill>
              </a:rPr>
              <a:t>Rejects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996354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79931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63508" y="313008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93087911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7913076" y="90156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4919296" y="4588884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22731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6308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9885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3462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7039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0616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24193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07770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996856" y="3936023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8099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4569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48146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1723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5300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887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65981" y="51429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/>
              <a:t>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3386" y="3184308"/>
            <a:ext cx="85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rgbClr val="FF0000"/>
                </a:solidFill>
              </a:rPr>
              <a:t>Rejects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996354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79931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63508" y="313008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22063094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8357088" y="883626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041070" y="3303841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22731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6308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9885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3462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7039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0616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24193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07770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996856" y="3936023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8099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4569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48146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1723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5300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887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65981" y="51429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/>
              <a:t>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3386" y="3184308"/>
            <a:ext cx="85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rgbClr val="FF0000"/>
                </a:solidFill>
              </a:rPr>
              <a:t>Rejects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996354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79931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63508" y="313008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65360671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6906358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2903237" y="3334338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22731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6308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9885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3462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7039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0616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24193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07770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996856" y="3936023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8099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4569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48146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1723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5300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887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65981" y="51429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/>
              <a:t>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3386" y="3184308"/>
            <a:ext cx="85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rgbClr val="FF0000"/>
                </a:solidFill>
              </a:rPr>
              <a:t>Rejects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996354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79931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63508" y="313008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785911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7425105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2934856" y="3297393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22731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6308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9885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3462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7039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0616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24193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07770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996856" y="3936023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8099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4569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48146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1723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5300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887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65981" y="51429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/>
              <a:t>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3386" y="3184308"/>
            <a:ext cx="85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rgbClr val="FF0000"/>
                </a:solidFill>
              </a:rPr>
              <a:t>Rejects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996354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79931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63508" y="313008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59162350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7869116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055577" y="3276473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22731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6308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9885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3462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7039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0616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24193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07770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996856" y="3936023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8099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4569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48146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1723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5300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887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65981" y="51429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/>
              <a:t>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3386" y="3184308"/>
            <a:ext cx="85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rgbClr val="FF0000"/>
                </a:solidFill>
              </a:rPr>
              <a:t>Rejects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996354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79931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63508" y="313008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56387902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8343900" y="90156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064813" y="3219951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22731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6308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9885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3462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7039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0616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24193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07770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996856" y="3936023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8099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4569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48146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1723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5300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887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65981" y="51429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/>
              <a:t>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3386" y="3184308"/>
            <a:ext cx="85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rgbClr val="FF0000"/>
                </a:solidFill>
              </a:rPr>
              <a:t>Rejects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996354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79931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63508" y="313008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83486060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6906357" y="883626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2939496" y="3313557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22731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6308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9885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3462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7039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0616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24193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07770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996856" y="3936023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8099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4569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48146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1723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5300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887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65981" y="51429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/>
              <a:t>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3386" y="3184308"/>
            <a:ext cx="85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rgbClr val="FF0000"/>
                </a:solidFill>
              </a:rPr>
              <a:t>Rejects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996354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79931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63508" y="313008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18578065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8357088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2953328" y="3276672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22731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6308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9885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3462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7039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0616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24193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07770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996856" y="3936023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8099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4569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48146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1723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5300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887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65981" y="51429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/>
              <a:t>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3386" y="3184308"/>
            <a:ext cx="85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rgbClr val="FF0000"/>
                </a:solidFill>
              </a:rPr>
              <a:t>Rejects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996354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79931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63508" y="313008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38069144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8779120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3037012" y="4520739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22731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6308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9885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3462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7039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0616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24193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07770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996856" y="3936023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8099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4569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48146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1723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5300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887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65981" y="51429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/>
              <a:t>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3386" y="3184308"/>
            <a:ext cx="85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rgbClr val="FF0000"/>
                </a:solidFill>
              </a:rPr>
              <a:t>Rejects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996354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79931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63508" y="313008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71669599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8849460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3037012" y="4520739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22731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6308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9885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3462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7039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0616" y="3878901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24193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07770" y="38818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996856" y="3936023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80992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4569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48146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1723" y="402950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5300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8877" y="40004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65981" y="51429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/>
              <a:t>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3386" y="3184308"/>
            <a:ext cx="85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rgbClr val="FF0000"/>
                </a:solidFill>
              </a:rPr>
              <a:t>Rejects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996354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79931" y="3127186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63508" y="313008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33840" y="2532184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022731" y="250518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06308" y="250518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89885" y="250808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73462" y="2508089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32868718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6398707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861473" y="3332283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242538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6115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9692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93269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76846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60423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27577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216663" y="6090139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63193" y="5338424"/>
            <a:ext cx="85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rgbClr val="FF0000"/>
                </a:solidFill>
              </a:rPr>
              <a:t>Rejects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216161" y="52813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99738" y="52813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83315" y="5284203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53647" y="4686300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242538" y="465930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6115" y="465930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09692" y="466220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93269" y="466220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3745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17322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00899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4476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68053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51630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35207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18784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53552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37129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20706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04283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87860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71437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55014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838591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96471" y="615686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16278" y="62670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426540869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10182849" y="808356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054513" y="3230684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242538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6115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9692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93269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76846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60423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27577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216663" y="6090139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63193" y="5338424"/>
            <a:ext cx="85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rgbClr val="FF0000"/>
                </a:solidFill>
              </a:rPr>
              <a:t>Rejects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216161" y="52813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99738" y="52813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83315" y="5284203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53647" y="4686300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242538" y="465930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6115" y="465930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09692" y="466220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93269" y="466220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3745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17322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00899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4476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68053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51630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35207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18784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53552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37129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20706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04283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87860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71437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55014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838591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96471" y="615686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16278" y="62670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282600162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86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6353892" y="94262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3867637" y="2519024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242538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6115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9692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93269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76846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60423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27577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216663" y="6090139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63193" y="5338424"/>
            <a:ext cx="85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rgbClr val="FF0000"/>
                </a:solidFill>
              </a:rPr>
              <a:t>Rejects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216161" y="52813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99738" y="52813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83315" y="5284203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53647" y="4686300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242538" y="465930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6115" y="465930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09692" y="466220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93269" y="466220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3745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17322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00899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4476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68053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51630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35207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18784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53552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37129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20706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04283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87860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71437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55014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838591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96471" y="615686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16278" y="62670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404093569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1200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6828675" y="851852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2944092" y="3279085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242538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6115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9692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93269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76846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60423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27577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216663" y="6090139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63193" y="5338424"/>
            <a:ext cx="85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rgbClr val="FF0000"/>
                </a:solidFill>
              </a:rPr>
              <a:t>Rejects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216161" y="52813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99738" y="52813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83315" y="5284203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53647" y="4686300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242538" y="465930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6115" y="465930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09692" y="466220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93269" y="466220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3745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17322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00899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4476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68053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51630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35207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18784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53552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37129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20706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04283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87860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71437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55014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838591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96471" y="615686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16278" y="62670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89610494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1200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6599183" y="867001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2934856" y="3276468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242538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6115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9692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93269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76846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60423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27577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216663" y="6090139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63193" y="5338424"/>
            <a:ext cx="85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rgbClr val="FF0000"/>
                </a:solidFill>
              </a:rPr>
              <a:t>Rejects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216161" y="52813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99738" y="52813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83315" y="5284203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53647" y="4686300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242538" y="465930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6115" y="465930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09692" y="466220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93269" y="466220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3745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17322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x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200899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4476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x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168053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51630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x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9135207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18784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x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453552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37129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20706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04283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87860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71437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55014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838591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96471" y="615686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16278" y="62670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336543423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1200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6564860" y="990093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2953328" y="3284814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242538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6115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9692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93269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76846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60423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27577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216663" y="6090139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63193" y="5338424"/>
            <a:ext cx="85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rgbClr val="FF0000"/>
                </a:solidFill>
              </a:rPr>
              <a:t>Rejects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216161" y="52813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99738" y="52813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83315" y="5284203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53647" y="4686300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242538" y="465930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6115" y="465930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09692" y="466220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93269" y="466220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3C5DFC-232F-7273-6864-538A7D2F4987}"/>
              </a:ext>
            </a:extLst>
          </p:cNvPr>
          <p:cNvSpPr/>
          <p:nvPr/>
        </p:nvSpPr>
        <p:spPr>
          <a:xfrm>
            <a:off x="6233745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BDBBF9-8855-CCD5-636A-3811234E8CB3}"/>
              </a:ext>
            </a:extLst>
          </p:cNvPr>
          <p:cNvSpPr/>
          <p:nvPr/>
        </p:nvSpPr>
        <p:spPr>
          <a:xfrm>
            <a:off x="6717322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x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345794-F48C-CEE2-5B86-E804B82B8454}"/>
              </a:ext>
            </a:extLst>
          </p:cNvPr>
          <p:cNvSpPr/>
          <p:nvPr/>
        </p:nvSpPr>
        <p:spPr>
          <a:xfrm>
            <a:off x="7200899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x</a:t>
            </a:r>
            <a:endParaRPr lang="lv-LV" dirty="0">
              <a:solidFill>
                <a:srgbClr val="FFC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D9CBC3-F6D5-D6D3-CC16-97A3CE552AA6}"/>
              </a:ext>
            </a:extLst>
          </p:cNvPr>
          <p:cNvSpPr/>
          <p:nvPr/>
        </p:nvSpPr>
        <p:spPr>
          <a:xfrm>
            <a:off x="7684476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x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906D9E-4991-87B8-83D3-921B53B34815}"/>
              </a:ext>
            </a:extLst>
          </p:cNvPr>
          <p:cNvSpPr/>
          <p:nvPr/>
        </p:nvSpPr>
        <p:spPr>
          <a:xfrm>
            <a:off x="8168053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4F0A32-0EBB-5AA2-6F38-F6A05A154DF2}"/>
              </a:ext>
            </a:extLst>
          </p:cNvPr>
          <p:cNvSpPr/>
          <p:nvPr/>
        </p:nvSpPr>
        <p:spPr>
          <a:xfrm>
            <a:off x="8651630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x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28868E-6920-ACE6-4A15-C57A8DE94B18}"/>
              </a:ext>
            </a:extLst>
          </p:cNvPr>
          <p:cNvSpPr/>
          <p:nvPr/>
        </p:nvSpPr>
        <p:spPr>
          <a:xfrm>
            <a:off x="9135207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x</a:t>
            </a:r>
            <a:endParaRPr lang="lv-LV" dirty="0">
              <a:solidFill>
                <a:srgbClr val="FFC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9A95E5-45D6-3E1D-FF4D-603132290347}"/>
              </a:ext>
            </a:extLst>
          </p:cNvPr>
          <p:cNvSpPr/>
          <p:nvPr/>
        </p:nvSpPr>
        <p:spPr>
          <a:xfrm>
            <a:off x="9618784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x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256B44-027E-0593-A33D-13B3D92550F2}"/>
              </a:ext>
            </a:extLst>
          </p:cNvPr>
          <p:cNvSpPr/>
          <p:nvPr/>
        </p:nvSpPr>
        <p:spPr>
          <a:xfrm>
            <a:off x="6453552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9F0006-3934-721E-AF6B-A3E916583B36}"/>
              </a:ext>
            </a:extLst>
          </p:cNvPr>
          <p:cNvSpPr/>
          <p:nvPr/>
        </p:nvSpPr>
        <p:spPr>
          <a:xfrm>
            <a:off x="6937129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013930-A91F-5A55-D23C-F8372E3AB35D}"/>
              </a:ext>
            </a:extLst>
          </p:cNvPr>
          <p:cNvSpPr/>
          <p:nvPr/>
        </p:nvSpPr>
        <p:spPr>
          <a:xfrm>
            <a:off x="7420706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921464-EB9F-9F9E-1A1B-1A9EBAF95424}"/>
              </a:ext>
            </a:extLst>
          </p:cNvPr>
          <p:cNvSpPr/>
          <p:nvPr/>
        </p:nvSpPr>
        <p:spPr>
          <a:xfrm>
            <a:off x="7904283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1055F7-E375-3447-82F6-80DDF9E6340B}"/>
              </a:ext>
            </a:extLst>
          </p:cNvPr>
          <p:cNvSpPr/>
          <p:nvPr/>
        </p:nvSpPr>
        <p:spPr>
          <a:xfrm>
            <a:off x="8387860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D55A3D-5687-0CDC-5A38-4FA5294F06DF}"/>
              </a:ext>
            </a:extLst>
          </p:cNvPr>
          <p:cNvSpPr/>
          <p:nvPr/>
        </p:nvSpPr>
        <p:spPr>
          <a:xfrm>
            <a:off x="8871437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4F151CA-650C-01DF-27D4-DA2FE29CA9FB}"/>
              </a:ext>
            </a:extLst>
          </p:cNvPr>
          <p:cNvSpPr/>
          <p:nvPr/>
        </p:nvSpPr>
        <p:spPr>
          <a:xfrm>
            <a:off x="9355014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E5454E6-C75F-284C-D280-CA411AA2294D}"/>
              </a:ext>
            </a:extLst>
          </p:cNvPr>
          <p:cNvSpPr/>
          <p:nvPr/>
        </p:nvSpPr>
        <p:spPr>
          <a:xfrm>
            <a:off x="9838591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8EF9A1-4390-C0D6-5C9C-4670811D1BEE}"/>
              </a:ext>
            </a:extLst>
          </p:cNvPr>
          <p:cNvSpPr/>
          <p:nvPr/>
        </p:nvSpPr>
        <p:spPr>
          <a:xfrm>
            <a:off x="10096471" y="615686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B50292-DFCE-88FC-791B-1C2F0C5D7322}"/>
              </a:ext>
            </a:extLst>
          </p:cNvPr>
          <p:cNvSpPr/>
          <p:nvPr/>
        </p:nvSpPr>
        <p:spPr>
          <a:xfrm>
            <a:off x="10316278" y="62670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65666952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1200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6573699" y="963717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2941869" y="3320870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242538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6115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9692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93269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76846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60423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27577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216663" y="6090139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63193" y="5338424"/>
            <a:ext cx="85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rgbClr val="FF0000"/>
                </a:solidFill>
              </a:rPr>
              <a:t>Rejects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216161" y="52813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99738" y="52813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83315" y="5284203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53647" y="4686300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242538" y="465930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6115" y="465930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09692" y="466220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93269" y="466220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5B81E7-0DCA-65D0-E14B-A443E5DA50D8}"/>
              </a:ext>
            </a:extLst>
          </p:cNvPr>
          <p:cNvSpPr/>
          <p:nvPr/>
        </p:nvSpPr>
        <p:spPr>
          <a:xfrm>
            <a:off x="6233745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D56D5A-1E8C-0D21-FB5C-55C450652353}"/>
              </a:ext>
            </a:extLst>
          </p:cNvPr>
          <p:cNvSpPr/>
          <p:nvPr/>
        </p:nvSpPr>
        <p:spPr>
          <a:xfrm>
            <a:off x="6717322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x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1B3B0E-5B5D-3552-2C02-9DC71A5E6A0B}"/>
              </a:ext>
            </a:extLst>
          </p:cNvPr>
          <p:cNvSpPr/>
          <p:nvPr/>
        </p:nvSpPr>
        <p:spPr>
          <a:xfrm>
            <a:off x="7200899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x</a:t>
            </a:r>
            <a:endParaRPr lang="lv-LV" dirty="0">
              <a:solidFill>
                <a:srgbClr val="FFC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0B9064-6246-D852-1C6D-0C3FB5019332}"/>
              </a:ext>
            </a:extLst>
          </p:cNvPr>
          <p:cNvSpPr/>
          <p:nvPr/>
        </p:nvSpPr>
        <p:spPr>
          <a:xfrm>
            <a:off x="7684476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x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EF80A7-7CE9-CF7E-8C63-133DF9AC2ECD}"/>
              </a:ext>
            </a:extLst>
          </p:cNvPr>
          <p:cNvSpPr/>
          <p:nvPr/>
        </p:nvSpPr>
        <p:spPr>
          <a:xfrm>
            <a:off x="8168053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x</a:t>
            </a:r>
            <a:endParaRPr lang="lv-LV" dirty="0">
              <a:solidFill>
                <a:srgbClr val="FFFF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617BA9-4097-F857-E720-3F4F8D62F583}"/>
              </a:ext>
            </a:extLst>
          </p:cNvPr>
          <p:cNvSpPr/>
          <p:nvPr/>
        </p:nvSpPr>
        <p:spPr>
          <a:xfrm>
            <a:off x="8651630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x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931591-FEF0-CC7F-4612-0A7B3E4F88CF}"/>
              </a:ext>
            </a:extLst>
          </p:cNvPr>
          <p:cNvSpPr/>
          <p:nvPr/>
        </p:nvSpPr>
        <p:spPr>
          <a:xfrm>
            <a:off x="9135207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x</a:t>
            </a:r>
            <a:endParaRPr lang="lv-LV" dirty="0">
              <a:solidFill>
                <a:srgbClr val="FFC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636DE9-1A23-3EAB-9883-1D216434BA6F}"/>
              </a:ext>
            </a:extLst>
          </p:cNvPr>
          <p:cNvSpPr/>
          <p:nvPr/>
        </p:nvSpPr>
        <p:spPr>
          <a:xfrm>
            <a:off x="9618784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x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C00B0E-E1E2-653A-06C6-0BD2B2C05417}"/>
              </a:ext>
            </a:extLst>
          </p:cNvPr>
          <p:cNvSpPr/>
          <p:nvPr/>
        </p:nvSpPr>
        <p:spPr>
          <a:xfrm>
            <a:off x="6453552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9D6045-A608-A76A-24F9-5FF6250C8935}"/>
              </a:ext>
            </a:extLst>
          </p:cNvPr>
          <p:cNvSpPr/>
          <p:nvPr/>
        </p:nvSpPr>
        <p:spPr>
          <a:xfrm>
            <a:off x="6937129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951E29-1452-40A5-07A6-34A48A2FF401}"/>
              </a:ext>
            </a:extLst>
          </p:cNvPr>
          <p:cNvSpPr/>
          <p:nvPr/>
        </p:nvSpPr>
        <p:spPr>
          <a:xfrm>
            <a:off x="7420706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EA8D54-18A7-883D-06EF-9A46C335F085}"/>
              </a:ext>
            </a:extLst>
          </p:cNvPr>
          <p:cNvSpPr/>
          <p:nvPr/>
        </p:nvSpPr>
        <p:spPr>
          <a:xfrm>
            <a:off x="7904283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112481-62B6-41D7-6AF7-704E559443E0}"/>
              </a:ext>
            </a:extLst>
          </p:cNvPr>
          <p:cNvSpPr/>
          <p:nvPr/>
        </p:nvSpPr>
        <p:spPr>
          <a:xfrm>
            <a:off x="8387860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3FEEC4-CC33-C044-49CA-424090EC2DAC}"/>
              </a:ext>
            </a:extLst>
          </p:cNvPr>
          <p:cNvSpPr/>
          <p:nvPr/>
        </p:nvSpPr>
        <p:spPr>
          <a:xfrm>
            <a:off x="8871437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90565D-26B9-ADAC-4996-F599099A78DB}"/>
              </a:ext>
            </a:extLst>
          </p:cNvPr>
          <p:cNvSpPr/>
          <p:nvPr/>
        </p:nvSpPr>
        <p:spPr>
          <a:xfrm>
            <a:off x="9355014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B561EED-362D-0810-D4AB-CCE361E717A2}"/>
              </a:ext>
            </a:extLst>
          </p:cNvPr>
          <p:cNvSpPr/>
          <p:nvPr/>
        </p:nvSpPr>
        <p:spPr>
          <a:xfrm>
            <a:off x="9838591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6ADCB00-65BF-4DDB-F0A5-CD36B7434AC5}"/>
              </a:ext>
            </a:extLst>
          </p:cNvPr>
          <p:cNvSpPr/>
          <p:nvPr/>
        </p:nvSpPr>
        <p:spPr>
          <a:xfrm>
            <a:off x="10096471" y="615686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FB2DA9B-FBA2-6A1A-1BAB-96E0780390AF}"/>
              </a:ext>
            </a:extLst>
          </p:cNvPr>
          <p:cNvSpPr/>
          <p:nvPr/>
        </p:nvSpPr>
        <p:spPr>
          <a:xfrm>
            <a:off x="10316278" y="62670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262924600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1200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10419385" y="885073"/>
            <a:ext cx="0" cy="1115129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3037012" y="4529233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242538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6115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9692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93269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76846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60423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27577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216663" y="6090139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63193" y="5338424"/>
            <a:ext cx="85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rgbClr val="FF0000"/>
                </a:solidFill>
              </a:rPr>
              <a:t>Rejects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216161" y="52813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99738" y="52813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83315" y="5284203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53647" y="4686300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242538" y="465930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6115" y="465930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09692" y="466220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93269" y="466220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16F664-2D39-3DEF-69D6-40B05E06375E}"/>
              </a:ext>
            </a:extLst>
          </p:cNvPr>
          <p:cNvSpPr/>
          <p:nvPr/>
        </p:nvSpPr>
        <p:spPr>
          <a:xfrm>
            <a:off x="6233745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3DA5E6-6548-884B-6B8C-BB34E755A9F4}"/>
              </a:ext>
            </a:extLst>
          </p:cNvPr>
          <p:cNvSpPr/>
          <p:nvPr/>
        </p:nvSpPr>
        <p:spPr>
          <a:xfrm>
            <a:off x="6717322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x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0E8879-638B-AECE-A58D-D45B5AAEE71B}"/>
              </a:ext>
            </a:extLst>
          </p:cNvPr>
          <p:cNvSpPr/>
          <p:nvPr/>
        </p:nvSpPr>
        <p:spPr>
          <a:xfrm>
            <a:off x="7200899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x</a:t>
            </a:r>
            <a:endParaRPr lang="lv-LV" dirty="0">
              <a:solidFill>
                <a:srgbClr val="FFC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3A5C08-9115-FFAE-16BF-B7EAF773D1B3}"/>
              </a:ext>
            </a:extLst>
          </p:cNvPr>
          <p:cNvSpPr/>
          <p:nvPr/>
        </p:nvSpPr>
        <p:spPr>
          <a:xfrm>
            <a:off x="7684476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x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5CEF37-666D-9E3C-005C-CDB8042E0246}"/>
              </a:ext>
            </a:extLst>
          </p:cNvPr>
          <p:cNvSpPr/>
          <p:nvPr/>
        </p:nvSpPr>
        <p:spPr>
          <a:xfrm>
            <a:off x="8168053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x</a:t>
            </a:r>
            <a:endParaRPr lang="lv-LV" dirty="0">
              <a:solidFill>
                <a:srgbClr val="FFFF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5F9A3B-EAD5-CEBD-B741-86E52710223A}"/>
              </a:ext>
            </a:extLst>
          </p:cNvPr>
          <p:cNvSpPr/>
          <p:nvPr/>
        </p:nvSpPr>
        <p:spPr>
          <a:xfrm>
            <a:off x="8651630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x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4690BE-7DFE-CFFE-A7EE-81C6346AE543}"/>
              </a:ext>
            </a:extLst>
          </p:cNvPr>
          <p:cNvSpPr/>
          <p:nvPr/>
        </p:nvSpPr>
        <p:spPr>
          <a:xfrm>
            <a:off x="9135207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x</a:t>
            </a:r>
            <a:endParaRPr lang="lv-LV" dirty="0">
              <a:solidFill>
                <a:srgbClr val="FFC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2E769B-DA8B-E94D-9960-A08493F7D879}"/>
              </a:ext>
            </a:extLst>
          </p:cNvPr>
          <p:cNvSpPr/>
          <p:nvPr/>
        </p:nvSpPr>
        <p:spPr>
          <a:xfrm>
            <a:off x="9618784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x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0303D6-96DC-4A74-1AB9-EF43F803FEA2}"/>
              </a:ext>
            </a:extLst>
          </p:cNvPr>
          <p:cNvSpPr/>
          <p:nvPr/>
        </p:nvSpPr>
        <p:spPr>
          <a:xfrm>
            <a:off x="6453552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E171AD-334B-7407-A201-1253AE896EA9}"/>
              </a:ext>
            </a:extLst>
          </p:cNvPr>
          <p:cNvSpPr/>
          <p:nvPr/>
        </p:nvSpPr>
        <p:spPr>
          <a:xfrm>
            <a:off x="6937129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09EB54-9BF5-A282-3E4B-D83B0F992525}"/>
              </a:ext>
            </a:extLst>
          </p:cNvPr>
          <p:cNvSpPr/>
          <p:nvPr/>
        </p:nvSpPr>
        <p:spPr>
          <a:xfrm>
            <a:off x="7420706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388FD3-7A15-9DCC-2CB6-34EBDCC0EC2D}"/>
              </a:ext>
            </a:extLst>
          </p:cNvPr>
          <p:cNvSpPr/>
          <p:nvPr/>
        </p:nvSpPr>
        <p:spPr>
          <a:xfrm>
            <a:off x="7904283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1E25C1-77E6-E01A-5448-00A8AB5D0BB1}"/>
              </a:ext>
            </a:extLst>
          </p:cNvPr>
          <p:cNvSpPr/>
          <p:nvPr/>
        </p:nvSpPr>
        <p:spPr>
          <a:xfrm>
            <a:off x="8387860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E2F5A8B-D399-7DCE-658C-B5A3D897E414}"/>
              </a:ext>
            </a:extLst>
          </p:cNvPr>
          <p:cNvSpPr/>
          <p:nvPr/>
        </p:nvSpPr>
        <p:spPr>
          <a:xfrm>
            <a:off x="8871437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DEF0D7-CF49-B4BC-D62D-4ABD95851D62}"/>
              </a:ext>
            </a:extLst>
          </p:cNvPr>
          <p:cNvSpPr/>
          <p:nvPr/>
        </p:nvSpPr>
        <p:spPr>
          <a:xfrm>
            <a:off x="9355014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43274DC-8985-39FB-472F-83A309FD3E60}"/>
              </a:ext>
            </a:extLst>
          </p:cNvPr>
          <p:cNvSpPr/>
          <p:nvPr/>
        </p:nvSpPr>
        <p:spPr>
          <a:xfrm>
            <a:off x="9838591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0D891A-90BF-137B-7155-1263AA96F76E}"/>
              </a:ext>
            </a:extLst>
          </p:cNvPr>
          <p:cNvSpPr/>
          <p:nvPr/>
        </p:nvSpPr>
        <p:spPr>
          <a:xfrm>
            <a:off x="10096471" y="615686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EA8FAAB-0645-785C-4CBF-5DD3C291DACC}"/>
              </a:ext>
            </a:extLst>
          </p:cNvPr>
          <p:cNvSpPr/>
          <p:nvPr/>
        </p:nvSpPr>
        <p:spPr>
          <a:xfrm>
            <a:off x="10316278" y="62670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88371202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1200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 flipH="1" flipV="1">
            <a:off x="3037012" y="4529954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242538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6115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9692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93269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76846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60423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27577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216663" y="6090139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63193" y="5338424"/>
            <a:ext cx="85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rgbClr val="FF0000"/>
                </a:solidFill>
              </a:rPr>
              <a:t>Rejects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216161" y="52813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99738" y="52813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83315" y="5284203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53647" y="4686300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242538" y="465930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6115" y="465930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09692" y="466220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93269" y="466220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42025" y="1057978"/>
            <a:ext cx="166641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/>
              <a:t>16</a:t>
            </a:r>
            <a:r>
              <a:rPr lang="en-US" dirty="0"/>
              <a:t> → </a:t>
            </a:r>
            <a:r>
              <a:rPr lang="lv-LV" dirty="0"/>
              <a:t>8</a:t>
            </a:r>
          </a:p>
          <a:p>
            <a:r>
              <a:rPr lang="lv-LV" dirty="0"/>
              <a:t>8</a:t>
            </a:r>
            <a:r>
              <a:rPr lang="en-US" dirty="0"/>
              <a:t> → </a:t>
            </a:r>
            <a:r>
              <a:rPr lang="lv-LV" dirty="0"/>
              <a:t>4</a:t>
            </a:r>
          </a:p>
          <a:p>
            <a:r>
              <a:rPr lang="lv-LV" dirty="0"/>
              <a:t>4</a:t>
            </a:r>
            <a:r>
              <a:rPr lang="en-US" dirty="0"/>
              <a:t> → </a:t>
            </a:r>
            <a:r>
              <a:rPr lang="lv-LV" dirty="0"/>
              <a:t>2</a:t>
            </a:r>
          </a:p>
          <a:p>
            <a:r>
              <a:rPr lang="lv-LV" dirty="0"/>
              <a:t>2</a:t>
            </a:r>
            <a:r>
              <a:rPr lang="en-US" dirty="0"/>
              <a:t> → </a:t>
            </a:r>
            <a:r>
              <a:rPr lang="lv-LV" dirty="0"/>
              <a:t>1</a:t>
            </a:r>
          </a:p>
          <a:p>
            <a:r>
              <a:rPr lang="lv-LV" dirty="0"/>
              <a:t>1</a:t>
            </a:r>
            <a:r>
              <a:rPr lang="en-US" dirty="0"/>
              <a:t> → </a:t>
            </a:r>
            <a:r>
              <a:rPr lang="lv-LV" dirty="0"/>
              <a:t>0</a:t>
            </a:r>
            <a:r>
              <a:rPr lang="en-US" dirty="0"/>
              <a:t> → accept</a:t>
            </a:r>
            <a:endParaRPr lang="lv-LV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BC4C59-9CB8-71FC-09BE-B9C56FF9B438}"/>
              </a:ext>
            </a:extLst>
          </p:cNvPr>
          <p:cNvSpPr/>
          <p:nvPr/>
        </p:nvSpPr>
        <p:spPr>
          <a:xfrm>
            <a:off x="6233745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931F1C-0218-7370-54BE-DD6D294344F7}"/>
              </a:ext>
            </a:extLst>
          </p:cNvPr>
          <p:cNvSpPr/>
          <p:nvPr/>
        </p:nvSpPr>
        <p:spPr>
          <a:xfrm>
            <a:off x="6717322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x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6F2AD2-2CEA-1762-0ECF-B3CD8B5AE2E4}"/>
              </a:ext>
            </a:extLst>
          </p:cNvPr>
          <p:cNvSpPr/>
          <p:nvPr/>
        </p:nvSpPr>
        <p:spPr>
          <a:xfrm>
            <a:off x="7200899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x</a:t>
            </a:r>
            <a:endParaRPr lang="lv-LV" dirty="0">
              <a:solidFill>
                <a:srgbClr val="FFC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148A31-FB69-65E3-D7B1-CF9513EEF13A}"/>
              </a:ext>
            </a:extLst>
          </p:cNvPr>
          <p:cNvSpPr/>
          <p:nvPr/>
        </p:nvSpPr>
        <p:spPr>
          <a:xfrm>
            <a:off x="7684476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x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A5A62C-F05E-2A47-DEB4-DA9D31A700C9}"/>
              </a:ext>
            </a:extLst>
          </p:cNvPr>
          <p:cNvSpPr/>
          <p:nvPr/>
        </p:nvSpPr>
        <p:spPr>
          <a:xfrm>
            <a:off x="8168053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x</a:t>
            </a:r>
            <a:endParaRPr lang="lv-LV" dirty="0">
              <a:solidFill>
                <a:srgbClr val="FFFF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EDA705-F0F4-D61F-5D6F-3CD742CACD1A}"/>
              </a:ext>
            </a:extLst>
          </p:cNvPr>
          <p:cNvSpPr/>
          <p:nvPr/>
        </p:nvSpPr>
        <p:spPr>
          <a:xfrm>
            <a:off x="8651630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x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8C7C60-CA68-CA81-EFFC-CB055CF58857}"/>
              </a:ext>
            </a:extLst>
          </p:cNvPr>
          <p:cNvSpPr/>
          <p:nvPr/>
        </p:nvSpPr>
        <p:spPr>
          <a:xfrm>
            <a:off x="9135207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x</a:t>
            </a:r>
            <a:endParaRPr lang="lv-LV" dirty="0">
              <a:solidFill>
                <a:srgbClr val="FFC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47D7F9-02AA-5ED2-8B4A-8E534D1C37E9}"/>
              </a:ext>
            </a:extLst>
          </p:cNvPr>
          <p:cNvSpPr/>
          <p:nvPr/>
        </p:nvSpPr>
        <p:spPr>
          <a:xfrm>
            <a:off x="9618784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x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572D94-7B1A-16F6-1DA6-AF3E05F49BFF}"/>
              </a:ext>
            </a:extLst>
          </p:cNvPr>
          <p:cNvSpPr/>
          <p:nvPr/>
        </p:nvSpPr>
        <p:spPr>
          <a:xfrm>
            <a:off x="6453552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67DAAE-8902-F321-A738-1FD1D3639CC9}"/>
              </a:ext>
            </a:extLst>
          </p:cNvPr>
          <p:cNvSpPr/>
          <p:nvPr/>
        </p:nvSpPr>
        <p:spPr>
          <a:xfrm>
            <a:off x="6937129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E39404-7F6A-5F99-225B-D4925E41ECA8}"/>
              </a:ext>
            </a:extLst>
          </p:cNvPr>
          <p:cNvSpPr/>
          <p:nvPr/>
        </p:nvSpPr>
        <p:spPr>
          <a:xfrm>
            <a:off x="7420706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AB69DC-4CB8-2850-23D7-C23F90A9799F}"/>
              </a:ext>
            </a:extLst>
          </p:cNvPr>
          <p:cNvSpPr/>
          <p:nvPr/>
        </p:nvSpPr>
        <p:spPr>
          <a:xfrm>
            <a:off x="7904283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B7C8850-91F7-C532-9F70-BD6EB4827724}"/>
              </a:ext>
            </a:extLst>
          </p:cNvPr>
          <p:cNvSpPr/>
          <p:nvPr/>
        </p:nvSpPr>
        <p:spPr>
          <a:xfrm>
            <a:off x="8387860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1A9D1E3-4DAC-3875-28DB-6FAC9ABAC33C}"/>
              </a:ext>
            </a:extLst>
          </p:cNvPr>
          <p:cNvSpPr/>
          <p:nvPr/>
        </p:nvSpPr>
        <p:spPr>
          <a:xfrm>
            <a:off x="8871437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2D42696-8546-7FF3-3F0D-06BD62E03D14}"/>
              </a:ext>
            </a:extLst>
          </p:cNvPr>
          <p:cNvSpPr/>
          <p:nvPr/>
        </p:nvSpPr>
        <p:spPr>
          <a:xfrm>
            <a:off x="9355014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7BC170-1A74-5A90-931E-7F767AC38CDA}"/>
              </a:ext>
            </a:extLst>
          </p:cNvPr>
          <p:cNvSpPr/>
          <p:nvPr/>
        </p:nvSpPr>
        <p:spPr>
          <a:xfrm>
            <a:off x="9838591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x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DF7FA01-CF7B-3B23-DD9B-EB62786E50F0}"/>
              </a:ext>
            </a:extLst>
          </p:cNvPr>
          <p:cNvSpPr/>
          <p:nvPr/>
        </p:nvSpPr>
        <p:spPr>
          <a:xfrm>
            <a:off x="10096471" y="615686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217A08D-1048-B0BC-3D59-FB71746E98BA}"/>
              </a:ext>
            </a:extLst>
          </p:cNvPr>
          <p:cNvSpPr/>
          <p:nvPr/>
        </p:nvSpPr>
        <p:spPr>
          <a:xfrm>
            <a:off x="10316278" y="62670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157866820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1200"/>
            <a:ext cx="594360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lv-LV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p>
                          </m:s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0" y="641838"/>
                <a:ext cx="1929182" cy="416140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 flipH="1" flipV="1">
            <a:off x="3008745" y="4529233"/>
            <a:ext cx="700454" cy="909974"/>
          </a:xfrm>
          <a:prstGeom prst="straightConnector1">
            <a:avLst/>
          </a:prstGeom>
          <a:ln w="76200" cmpd="sng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242538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6115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9692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93269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76846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60423" y="6033017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27577" y="6035918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216663" y="6090139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63193" y="5338424"/>
            <a:ext cx="85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rgbClr val="FF0000"/>
                </a:solidFill>
              </a:rPr>
              <a:t>Rejects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216161" y="52813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99738" y="5281302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83315" y="5284203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53647" y="4686300"/>
            <a:ext cx="91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>
                <a:solidFill>
                  <a:schemeClr val="accent6"/>
                </a:solidFill>
              </a:rPr>
              <a:t>Accepts</a:t>
            </a:r>
            <a:endParaRPr lang="lv-LV" dirty="0">
              <a:solidFill>
                <a:schemeClr val="accent6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242538" y="465930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6115" y="465930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09692" y="466220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93269" y="466220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42025" y="1057978"/>
            <a:ext cx="166641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/>
              <a:t>16</a:t>
            </a:r>
            <a:r>
              <a:rPr lang="en-US" dirty="0"/>
              <a:t> → </a:t>
            </a:r>
            <a:r>
              <a:rPr lang="lv-LV" dirty="0"/>
              <a:t>8</a:t>
            </a:r>
          </a:p>
          <a:p>
            <a:r>
              <a:rPr lang="lv-LV" dirty="0"/>
              <a:t>8</a:t>
            </a:r>
            <a:r>
              <a:rPr lang="en-US" dirty="0"/>
              <a:t> → </a:t>
            </a:r>
            <a:r>
              <a:rPr lang="lv-LV" dirty="0"/>
              <a:t>4</a:t>
            </a:r>
          </a:p>
          <a:p>
            <a:r>
              <a:rPr lang="lv-LV" dirty="0"/>
              <a:t>4</a:t>
            </a:r>
            <a:r>
              <a:rPr lang="en-US" dirty="0"/>
              <a:t> → </a:t>
            </a:r>
            <a:r>
              <a:rPr lang="lv-LV" dirty="0"/>
              <a:t>2</a:t>
            </a:r>
          </a:p>
          <a:p>
            <a:r>
              <a:rPr lang="lv-LV" dirty="0"/>
              <a:t>2</a:t>
            </a:r>
            <a:r>
              <a:rPr lang="en-US" dirty="0"/>
              <a:t> → </a:t>
            </a:r>
            <a:r>
              <a:rPr lang="lv-LV" dirty="0"/>
              <a:t>1</a:t>
            </a:r>
          </a:p>
          <a:p>
            <a:r>
              <a:rPr lang="lv-LV" dirty="0"/>
              <a:t>1</a:t>
            </a:r>
            <a:r>
              <a:rPr lang="en-US" dirty="0"/>
              <a:t> → </a:t>
            </a:r>
            <a:r>
              <a:rPr lang="lv-LV" dirty="0"/>
              <a:t>0</a:t>
            </a:r>
            <a:r>
              <a:rPr lang="en-US" dirty="0"/>
              <a:t> → accept</a:t>
            </a:r>
            <a:endParaRPr lang="lv-LV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015E67-9C2C-3DEC-9759-CD05D4C6564A}"/>
              </a:ext>
            </a:extLst>
          </p:cNvPr>
          <p:cNvSpPr txBox="1"/>
          <p:nvPr/>
        </p:nvSpPr>
        <p:spPr>
          <a:xfrm>
            <a:off x="8896261" y="3258529"/>
            <a:ext cx="11530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/>
              <a:t>6</a:t>
            </a:r>
            <a:r>
              <a:rPr lang="en-US" dirty="0"/>
              <a:t> → 3</a:t>
            </a:r>
            <a:endParaRPr lang="lv-LV" dirty="0"/>
          </a:p>
          <a:p>
            <a:r>
              <a:rPr lang="en-US" dirty="0"/>
              <a:t>3 → reject</a:t>
            </a:r>
            <a:endParaRPr lang="lv-LV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73E1635-9ED6-284F-F000-48C751F4E3CB}"/>
              </a:ext>
            </a:extLst>
          </p:cNvPr>
          <p:cNvSpPr/>
          <p:nvPr/>
        </p:nvSpPr>
        <p:spPr>
          <a:xfrm>
            <a:off x="6233745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56BA661-493C-C251-E113-47C38A5879CD}"/>
              </a:ext>
            </a:extLst>
          </p:cNvPr>
          <p:cNvSpPr/>
          <p:nvPr/>
        </p:nvSpPr>
        <p:spPr>
          <a:xfrm>
            <a:off x="6717322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70E2365-A3CA-50C6-DDC2-4046D341050E}"/>
              </a:ext>
            </a:extLst>
          </p:cNvPr>
          <p:cNvSpPr/>
          <p:nvPr/>
        </p:nvSpPr>
        <p:spPr>
          <a:xfrm>
            <a:off x="7200899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C126709-B0AE-3B5D-3AA7-A2820BB7B036}"/>
              </a:ext>
            </a:extLst>
          </p:cNvPr>
          <p:cNvSpPr/>
          <p:nvPr/>
        </p:nvSpPr>
        <p:spPr>
          <a:xfrm>
            <a:off x="7684476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E553802-3ABF-04E8-3F7B-7F2A2DB97E56}"/>
              </a:ext>
            </a:extLst>
          </p:cNvPr>
          <p:cNvSpPr/>
          <p:nvPr/>
        </p:nvSpPr>
        <p:spPr>
          <a:xfrm>
            <a:off x="8168053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6FE41B8-1AE7-3732-B90C-53A2FA756C4B}"/>
              </a:ext>
            </a:extLst>
          </p:cNvPr>
          <p:cNvSpPr/>
          <p:nvPr/>
        </p:nvSpPr>
        <p:spPr>
          <a:xfrm>
            <a:off x="8651630" y="60053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76713AB-EACD-DC0A-633A-666A70ED3C3D}"/>
              </a:ext>
            </a:extLst>
          </p:cNvPr>
          <p:cNvSpPr/>
          <p:nvPr/>
        </p:nvSpPr>
        <p:spPr>
          <a:xfrm>
            <a:off x="9135207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2A4C338-CB51-A480-3753-D6AEB881B45B}"/>
              </a:ext>
            </a:extLst>
          </p:cNvPr>
          <p:cNvSpPr/>
          <p:nvPr/>
        </p:nvSpPr>
        <p:spPr>
          <a:xfrm>
            <a:off x="9618784" y="60343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2FABC35-4A29-9D49-FAEE-F89B3ADDB314}"/>
              </a:ext>
            </a:extLst>
          </p:cNvPr>
          <p:cNvSpPr/>
          <p:nvPr/>
        </p:nvSpPr>
        <p:spPr>
          <a:xfrm>
            <a:off x="6453552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B2A37F9-4124-AB3C-D4B0-AB3FA98646E4}"/>
              </a:ext>
            </a:extLst>
          </p:cNvPr>
          <p:cNvSpPr/>
          <p:nvPr/>
        </p:nvSpPr>
        <p:spPr>
          <a:xfrm>
            <a:off x="6937129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27C58D7-A1FD-D25F-EA82-FD760E8C1855}"/>
              </a:ext>
            </a:extLst>
          </p:cNvPr>
          <p:cNvSpPr/>
          <p:nvPr/>
        </p:nvSpPr>
        <p:spPr>
          <a:xfrm>
            <a:off x="7420706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733266D-E1B5-67B9-7118-3C300298A31B}"/>
              </a:ext>
            </a:extLst>
          </p:cNvPr>
          <p:cNvSpPr/>
          <p:nvPr/>
        </p:nvSpPr>
        <p:spPr>
          <a:xfrm>
            <a:off x="7904283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4F532E6-DE87-0777-9EF0-BF869D65797E}"/>
              </a:ext>
            </a:extLst>
          </p:cNvPr>
          <p:cNvSpPr/>
          <p:nvPr/>
        </p:nvSpPr>
        <p:spPr>
          <a:xfrm>
            <a:off x="8387860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87F5CD1-2CFB-49C1-2074-66EBD09B6634}"/>
              </a:ext>
            </a:extLst>
          </p:cNvPr>
          <p:cNvSpPr/>
          <p:nvPr/>
        </p:nvSpPr>
        <p:spPr>
          <a:xfrm>
            <a:off x="8871437" y="611558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E82BE7D-FD79-E46D-1773-32C8763B5715}"/>
              </a:ext>
            </a:extLst>
          </p:cNvPr>
          <p:cNvSpPr/>
          <p:nvPr/>
        </p:nvSpPr>
        <p:spPr>
          <a:xfrm>
            <a:off x="9355014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886C790-6324-7B32-5401-D086DB82F277}"/>
              </a:ext>
            </a:extLst>
          </p:cNvPr>
          <p:cNvSpPr/>
          <p:nvPr/>
        </p:nvSpPr>
        <p:spPr>
          <a:xfrm>
            <a:off x="9838591" y="614459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C3E3C09-F566-D1C6-72D6-A15ED5C906CD}"/>
              </a:ext>
            </a:extLst>
          </p:cNvPr>
          <p:cNvSpPr/>
          <p:nvPr/>
        </p:nvSpPr>
        <p:spPr>
          <a:xfrm>
            <a:off x="10096471" y="615686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97B11A-4B5A-B956-5444-F37FFC8A37EE}"/>
              </a:ext>
            </a:extLst>
          </p:cNvPr>
          <p:cNvSpPr/>
          <p:nvPr/>
        </p:nvSpPr>
        <p:spPr>
          <a:xfrm>
            <a:off x="10316278" y="626707"/>
            <a:ext cx="240294" cy="24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_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24F2FD9-5433-6DC2-E2AA-93EBAC52C2BB}"/>
              </a:ext>
            </a:extLst>
          </p:cNvPr>
          <p:cNvSpPr/>
          <p:nvPr/>
        </p:nvSpPr>
        <p:spPr>
          <a:xfrm>
            <a:off x="6270673" y="265858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D3E1E7D-7498-BB78-3FC9-BD929C658A6A}"/>
              </a:ext>
            </a:extLst>
          </p:cNvPr>
          <p:cNvSpPr/>
          <p:nvPr/>
        </p:nvSpPr>
        <p:spPr>
          <a:xfrm>
            <a:off x="6754250" y="265858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EE04000-AC9B-C9DA-C17C-197DC47620D4}"/>
              </a:ext>
            </a:extLst>
          </p:cNvPr>
          <p:cNvSpPr/>
          <p:nvPr/>
        </p:nvSpPr>
        <p:spPr>
          <a:xfrm>
            <a:off x="7237827" y="266148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BB6F1B2-9BAD-2E7E-82E2-1C5F34FEDEC7}"/>
              </a:ext>
            </a:extLst>
          </p:cNvPr>
          <p:cNvSpPr/>
          <p:nvPr/>
        </p:nvSpPr>
        <p:spPr>
          <a:xfrm>
            <a:off x="7721404" y="266148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DA87F53-C0B0-E711-571E-3719FFAC5802}"/>
              </a:ext>
            </a:extLst>
          </p:cNvPr>
          <p:cNvSpPr/>
          <p:nvPr/>
        </p:nvSpPr>
        <p:spPr>
          <a:xfrm>
            <a:off x="8204981" y="265858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27A0879-4844-FE8A-93DF-A0429CBC314F}"/>
              </a:ext>
            </a:extLst>
          </p:cNvPr>
          <p:cNvSpPr/>
          <p:nvPr/>
        </p:nvSpPr>
        <p:spPr>
          <a:xfrm>
            <a:off x="8688558" y="2658584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/>
              <a:t>0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C2EA597-C04D-6533-F447-585C043DDF33}"/>
              </a:ext>
            </a:extLst>
          </p:cNvPr>
          <p:cNvSpPr/>
          <p:nvPr/>
        </p:nvSpPr>
        <p:spPr>
          <a:xfrm>
            <a:off x="9172135" y="266148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_</a:t>
            </a:r>
            <a:endParaRPr lang="lv-LV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2DBF1B7-FF6D-1D37-E68A-4D6804388C7B}"/>
              </a:ext>
            </a:extLst>
          </p:cNvPr>
          <p:cNvSpPr/>
          <p:nvPr/>
        </p:nvSpPr>
        <p:spPr>
          <a:xfrm>
            <a:off x="9655712" y="2661485"/>
            <a:ext cx="483577" cy="48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_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244444591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27" y="905609"/>
            <a:ext cx="11620607" cy="568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25864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27" y="905609"/>
            <a:ext cx="11620607" cy="56860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9F9CB0-14C3-4996-8629-B31AA8FA1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7672" y="233856"/>
            <a:ext cx="2102062" cy="1364319"/>
          </a:xfrm>
          <a:prstGeom prst="rect">
            <a:avLst/>
          </a:prstGeom>
          <a:ln w="25400">
            <a:solidFill>
              <a:srgbClr val="00B05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761E177-69AC-4352-9D52-EFEED6CE3F31}"/>
                  </a:ext>
                </a:extLst>
              </p:cNvPr>
              <p:cNvSpPr txBox="1"/>
              <p:nvPr/>
            </p:nvSpPr>
            <p:spPr>
              <a:xfrm>
                <a:off x="5976105" y="2503766"/>
                <a:ext cx="5895332" cy="587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𝑎𝑐𝑐𝑒𝑝𝑡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𝑟𝑒𝑗𝑒𝑐𝑡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761E177-69AC-4352-9D52-EFEED6CE3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105" y="2503766"/>
                <a:ext cx="5895332" cy="5877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CF8EDA-426A-4714-B608-9FAC61642D8C}"/>
                  </a:ext>
                </a:extLst>
              </p:cNvPr>
              <p:cNvSpPr txBox="1"/>
              <p:nvPr/>
            </p:nvSpPr>
            <p:spPr>
              <a:xfrm>
                <a:off x="10435244" y="3011653"/>
                <a:ext cx="140762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CF8EDA-426A-4714-B608-9FAC61642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5244" y="3011653"/>
                <a:ext cx="140762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C45C15-4CC9-4CFB-BB31-E2D56282A8E1}"/>
                  </a:ext>
                </a:extLst>
              </p:cNvPr>
              <p:cNvSpPr txBox="1"/>
              <p:nvPr/>
            </p:nvSpPr>
            <p:spPr>
              <a:xfrm>
                <a:off x="9836429" y="3474085"/>
                <a:ext cx="20046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_,</m:t>
                          </m:r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C45C15-4CC9-4CFB-BB31-E2D56282A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429" y="3474085"/>
                <a:ext cx="200465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8E6759-81B2-422B-B96C-80ECD0065CAD}"/>
                  </a:ext>
                </a:extLst>
              </p:cNvPr>
              <p:cNvSpPr txBox="1"/>
              <p:nvPr/>
            </p:nvSpPr>
            <p:spPr>
              <a:xfrm>
                <a:off x="10392270" y="4420464"/>
                <a:ext cx="14543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8E6759-81B2-422B-B96C-80ECD0065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2270" y="4420464"/>
                <a:ext cx="145437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471149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DF37B-24AE-DC38-4387-E548DAFCE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DF94BEC-AB31-5255-226A-1FD6350A4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672" y="233856"/>
            <a:ext cx="2102062" cy="1364319"/>
          </a:xfrm>
          <a:prstGeom prst="rect">
            <a:avLst/>
          </a:prstGeom>
          <a:ln w="25400">
            <a:solidFill>
              <a:srgbClr val="00B05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EFE7D7F-795D-01E4-6004-51A2399D12DC}"/>
                  </a:ext>
                </a:extLst>
              </p:cNvPr>
              <p:cNvSpPr txBox="1"/>
              <p:nvPr/>
            </p:nvSpPr>
            <p:spPr>
              <a:xfrm>
                <a:off x="5976105" y="2503766"/>
                <a:ext cx="5895332" cy="587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𝑎𝑐𝑐𝑒𝑝𝑡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𝑟𝑒𝑗𝑒𝑐𝑡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761E177-69AC-4352-9D52-EFEED6CE3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105" y="2503766"/>
                <a:ext cx="5895332" cy="5877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0B3BDA-A450-D0B1-8B9E-A1EA99767FB3}"/>
                  </a:ext>
                </a:extLst>
              </p:cNvPr>
              <p:cNvSpPr txBox="1"/>
              <p:nvPr/>
            </p:nvSpPr>
            <p:spPr>
              <a:xfrm>
                <a:off x="10435244" y="3011653"/>
                <a:ext cx="140762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CF8EDA-426A-4714-B608-9FAC61642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5244" y="3011653"/>
                <a:ext cx="140762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DCF56F-4AB4-8E2B-F13E-9EB735E61F9D}"/>
                  </a:ext>
                </a:extLst>
              </p:cNvPr>
              <p:cNvSpPr txBox="1"/>
              <p:nvPr/>
            </p:nvSpPr>
            <p:spPr>
              <a:xfrm>
                <a:off x="10392270" y="4420464"/>
                <a:ext cx="14543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8E6759-81B2-422B-B96C-80ECD0065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2270" y="4420464"/>
                <a:ext cx="145437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BE6B6E-4F89-5494-C818-4089673797DA}"/>
                  </a:ext>
                </a:extLst>
              </p:cNvPr>
              <p:cNvSpPr txBox="1"/>
              <p:nvPr/>
            </p:nvSpPr>
            <p:spPr>
              <a:xfrm>
                <a:off x="477616" y="264512"/>
                <a:ext cx="5049651" cy="6374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eqArr>
                                <m:eqArrPr>
                                  <m:ctrlP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eqArr>
                                    <m:eqArrPr>
                                      <m:ctrlP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_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),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000" i="1" smtClean="0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b="0" i="1" smtClean="0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𝑟𝑒𝑗𝑒𝑐𝑡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,_,</m:t>
                                              </m:r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),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𝑟𝑒𝑗𝑒𝑐𝑡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</m:eqArr>
                                </m:e>
                                <m:e>
                                  <m:eqArr>
                                    <m:eqArrPr>
                                      <m:ctrlPr>
                                        <a:rPr lang="en-US" sz="200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,0),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,_,</m:t>
                                              </m:r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),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</m:eqArr>
                                </m:e>
                                <m:e>
                                  <m:eqArr>
                                    <m:eqArrPr>
                                      <m:ctrlP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,0),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(</m:t>
                                                  </m:r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b="0" i="1" smtClean="0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2000" b="0" i="1" smtClean="0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_</m:t>
                                              </m:r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),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2000" i="1">
                                                          <a:solidFill>
                                                            <a:srgbClr val="00B05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000" i="1">
                                                          <a:solidFill>
                                                            <a:srgbClr val="00B05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𝑞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000" i="1">
                                                          <a:solidFill>
                                                            <a:srgbClr val="00B05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𝑎𝑐𝑐𝑒𝑝𝑡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,_,</m:t>
                                                  </m:r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(</m:t>
                                                  </m:r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b="0" i="1" smtClean="0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2000" b="0" i="1" smtClean="0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),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2000" i="1">
                                                          <a:solidFill>
                                                            <a:srgbClr val="00B05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000" i="1">
                                                          <a:solidFill>
                                                            <a:srgbClr val="00B05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𝑞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000" i="1">
                                                          <a:solidFill>
                                                            <a:srgbClr val="00B05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5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</m:eqArr>
                                    </m:e>
                                  </m:eqArr>
                                </m:e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),</m:t>
                                      </m:r>
                                      <m:d>
                                        <m:dPr>
                                          <m:ctrlP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_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),</m:t>
                                      </m:r>
                                      <m:d>
                                        <m:dPr>
                                          <m:ctrlP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5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_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</m:eqArr>
                            </m:e>
                            <m:e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),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),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),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𝑟𝑒𝑗𝑒𝑐𝑡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_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),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_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),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),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d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BE6B6E-4F89-5494-C818-408967379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616" y="264512"/>
                <a:ext cx="5049651" cy="637482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16B1E6-D1BF-42BC-8EB5-AFDDBE3126A8}"/>
                  </a:ext>
                </a:extLst>
              </p:cNvPr>
              <p:cNvSpPr txBox="1"/>
              <p:nvPr/>
            </p:nvSpPr>
            <p:spPr>
              <a:xfrm>
                <a:off x="9836429" y="3474085"/>
                <a:ext cx="20046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_,</m:t>
                          </m:r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16B1E6-D1BF-42BC-8EB5-AFDDBE312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429" y="3474085"/>
                <a:ext cx="200465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431936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919767" y="1169350"/>
                <a:ext cx="49964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lv-LV" b="0" dirty="0"/>
                  <a:t>Build a TM </a:t>
                </a:r>
                <a:r>
                  <a:rPr lang="lv-LV" b="0" dirty="0" err="1"/>
                  <a:t>that</a:t>
                </a:r>
                <a:r>
                  <a:rPr lang="lv-LV" b="0" dirty="0"/>
                  <a:t> </a:t>
                </a:r>
                <a:r>
                  <a:rPr lang="lv-LV" b="0" dirty="0" err="1"/>
                  <a:t>recognizes</a:t>
                </a:r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lv-LV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67" y="1169350"/>
                <a:ext cx="4996432" cy="369332"/>
              </a:xfrm>
              <a:prstGeom prst="rect">
                <a:avLst/>
              </a:prstGeom>
              <a:blipFill>
                <a:blip r:embed="rId2"/>
                <a:stretch>
                  <a:fillRect l="-1098" t="-10000" b="-26667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E545B4C-0CC5-4CF3-994E-3BB3F4953B87}"/>
                  </a:ext>
                </a:extLst>
              </p:cNvPr>
              <p:cNvSpPr txBox="1"/>
              <p:nvPr/>
            </p:nvSpPr>
            <p:spPr>
              <a:xfrm>
                <a:off x="1213338" y="2303585"/>
                <a:ext cx="226933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01011201011∈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01010201011∉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E545B4C-0CC5-4CF3-994E-3BB3F4953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338" y="2303585"/>
                <a:ext cx="2269339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9882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1248</TotalTime>
  <Words>4223</Words>
  <Application>Microsoft Office PowerPoint</Application>
  <PresentationFormat>Widescreen</PresentationFormat>
  <Paragraphs>1606</Paragraphs>
  <Slides>95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1" baseType="lpstr">
      <vt:lpstr>Arial</vt:lpstr>
      <vt:lpstr>Calibri</vt:lpstr>
      <vt:lpstr>Calibri Light</vt:lpstr>
      <vt:lpstr>Cambria Math</vt:lpstr>
      <vt:lpstr>Courier New</vt:lpstr>
      <vt:lpstr>Office Theme</vt:lpstr>
      <vt:lpstr>Theory of Algorithms</vt:lpstr>
      <vt:lpstr>Lectures</vt:lpstr>
      <vt:lpstr>Grading</vt:lpstr>
      <vt:lpstr>Useful links</vt:lpstr>
      <vt:lpstr>Topics covered</vt:lpstr>
      <vt:lpstr>Some examples of problems</vt:lpstr>
      <vt:lpstr>Alphabets, words, languages</vt:lpstr>
      <vt:lpstr>Alphabets, words, languages</vt:lpstr>
      <vt:lpstr>Alphabets, words, languages</vt:lpstr>
      <vt:lpstr>Alphabets, words, languages</vt:lpstr>
      <vt:lpstr>Alphabets, words, languages</vt:lpstr>
      <vt:lpstr>Alphabets, words, languages</vt:lpstr>
      <vt:lpstr>Alphabets, words, languages</vt:lpstr>
      <vt:lpstr>Alphabets, words, languages</vt:lpstr>
      <vt:lpstr>Alphabets, words, languages</vt:lpstr>
      <vt:lpstr>Alphabets, words, languages</vt:lpstr>
      <vt:lpstr>Some examples of decision problems</vt:lpstr>
      <vt:lpstr>Some examples of decision problems</vt:lpstr>
      <vt:lpstr>Encoding larger alphabets</vt:lpstr>
      <vt:lpstr>Turing machine</vt:lpstr>
      <vt:lpstr>Turing machine</vt:lpstr>
      <vt:lpstr>PowerPoint Presentation</vt:lpstr>
      <vt:lpstr>Example of a TM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Algorithms</dc:title>
  <dc:creator>-</dc:creator>
  <cp:lastModifiedBy>kingdel</cp:lastModifiedBy>
  <cp:revision>64</cp:revision>
  <dcterms:created xsi:type="dcterms:W3CDTF">2021-02-09T05:34:59Z</dcterms:created>
  <dcterms:modified xsi:type="dcterms:W3CDTF">2026-02-11T13:46:38Z</dcterms:modified>
</cp:coreProperties>
</file>