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74" r:id="rId3"/>
    <p:sldId id="362" r:id="rId4"/>
    <p:sldId id="261" r:id="rId5"/>
    <p:sldId id="346" r:id="rId6"/>
    <p:sldId id="347" r:id="rId7"/>
    <p:sldId id="349" r:id="rId8"/>
    <p:sldId id="350" r:id="rId9"/>
    <p:sldId id="351" r:id="rId10"/>
    <p:sldId id="262" r:id="rId11"/>
    <p:sldId id="353" r:id="rId12"/>
    <p:sldId id="352" r:id="rId13"/>
    <p:sldId id="354" r:id="rId14"/>
    <p:sldId id="356" r:id="rId15"/>
    <p:sldId id="357" r:id="rId16"/>
    <p:sldId id="358" r:id="rId17"/>
    <p:sldId id="275" r:id="rId18"/>
    <p:sldId id="359" r:id="rId19"/>
    <p:sldId id="270" r:id="rId20"/>
    <p:sldId id="257" r:id="rId21"/>
    <p:sldId id="309" r:id="rId22"/>
    <p:sldId id="310" r:id="rId23"/>
    <p:sldId id="320" r:id="rId24"/>
    <p:sldId id="337" r:id="rId25"/>
    <p:sldId id="311" r:id="rId26"/>
    <p:sldId id="322" r:id="rId27"/>
    <p:sldId id="266" r:id="rId28"/>
    <p:sldId id="271" r:id="rId29"/>
    <p:sldId id="272" r:id="rId30"/>
    <p:sldId id="361" r:id="rId31"/>
    <p:sldId id="341" r:id="rId32"/>
    <p:sldId id="342" r:id="rId33"/>
    <p:sldId id="276" r:id="rId34"/>
    <p:sldId id="267" r:id="rId35"/>
    <p:sldId id="268" r:id="rId36"/>
    <p:sldId id="269" r:id="rId37"/>
  </p:sldIdLst>
  <p:sldSz cx="12192000" cy="6858000"/>
  <p:notesSz cx="6858000" cy="9144000"/>
  <p:defaultTextStyle>
    <a:defPPr>
      <a:defRPr lang="lv-L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0" autoAdjust="0"/>
    <p:restoredTop sz="96283" autoAdjust="0"/>
  </p:normalViewPr>
  <p:slideViewPr>
    <p:cSldViewPr snapToGrid="0">
      <p:cViewPr varScale="1">
        <p:scale>
          <a:sx n="104" d="100"/>
          <a:sy n="104" d="100"/>
        </p:scale>
        <p:origin x="786" y="102"/>
      </p:cViewPr>
      <p:guideLst/>
    </p:cSldViewPr>
  </p:slideViewPr>
  <p:outlineViewPr>
    <p:cViewPr>
      <p:scale>
        <a:sx n="33" d="100"/>
        <a:sy n="33" d="100"/>
      </p:scale>
      <p:origin x="0" y="-51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0EDFAD-7A8D-439B-AA6E-D3F3715EF7F3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E20EC-1FB6-40D3-8CE1-83CFE98B1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801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26.03.2024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637306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26.03.2024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98725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26.03.2024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863210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26.03.2024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61188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26.03.2024</a:t>
            </a:fld>
            <a:endParaRPr lang="lv-L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74924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26.03.2024</a:t>
            </a:fld>
            <a:endParaRPr lang="lv-L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834113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26.03.2024</a:t>
            </a:fld>
            <a:endParaRPr lang="lv-L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224566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26.03.2024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403635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v-LV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26.03.2024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382899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26.03.2024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30007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26.03.2024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16619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E83A2-8B17-4E7E-82E4-47DABC86ADD3}" type="datetimeFigureOut">
              <a:rPr lang="lv-LV" smtClean="0"/>
              <a:t>26.03.2024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94491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v-L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NULL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NULL"/><Relationship Id="rId17" Type="http://schemas.openxmlformats.org/officeDocument/2006/relationships/image" Target="../media/image38.png"/><Relationship Id="rId2" Type="http://schemas.openxmlformats.org/officeDocument/2006/relationships/image" Target="../media/image7.png"/><Relationship Id="rId16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NULL"/><Relationship Id="rId5" Type="http://schemas.openxmlformats.org/officeDocument/2006/relationships/image" Target="../media/image10.png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../media/image9.png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4.png"/><Relationship Id="rId7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48.png"/><Relationship Id="rId7" Type="http://schemas.openxmlformats.org/officeDocument/2006/relationships/image" Target="../media/image82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0.png"/><Relationship Id="rId4" Type="http://schemas.openxmlformats.org/officeDocument/2006/relationships/image" Target="../media/image49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noProof="0" dirty="0"/>
              <a:t>Theory of Algorithms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Diagonalization, [un]decidability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382BD7-EB1E-4629-87ED-0367AA3B538D}"/>
              </a:ext>
            </a:extLst>
          </p:cNvPr>
          <p:cNvSpPr/>
          <p:nvPr/>
        </p:nvSpPr>
        <p:spPr>
          <a:xfrm>
            <a:off x="4459857" y="6349366"/>
            <a:ext cx="78270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lv-LV" dirty="0"/>
              <a:t>[</a:t>
            </a:r>
            <a:r>
              <a:rPr lang="en-US" dirty="0"/>
              <a:t>Michael </a:t>
            </a:r>
            <a:r>
              <a:rPr lang="en-US" dirty="0" err="1"/>
              <a:t>Sipser</a:t>
            </a:r>
            <a:r>
              <a:rPr lang="en-US" dirty="0"/>
              <a:t>. </a:t>
            </a:r>
            <a:r>
              <a:rPr lang="en-US" b="1" dirty="0"/>
              <a:t>Introduction to the Theory of Computation.</a:t>
            </a:r>
            <a:r>
              <a:rPr lang="lv-LV" dirty="0"/>
              <a:t> </a:t>
            </a:r>
            <a:r>
              <a:rPr lang="lv-LV" dirty="0" err="1"/>
              <a:t>Chapter</a:t>
            </a:r>
            <a:r>
              <a:rPr lang="lv-LV" dirty="0"/>
              <a:t> 4]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02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Undecidability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There are languages not decidable by a TM</a:t>
            </a:r>
          </a:p>
          <a:p>
            <a:r>
              <a:rPr lang="en-US" noProof="0" dirty="0"/>
              <a:t>We will see an explicit language not decidable by a TM</a:t>
            </a:r>
          </a:p>
          <a:p>
            <a:r>
              <a:rPr lang="en-US" noProof="0" dirty="0"/>
              <a:t>Diagonalization method</a:t>
            </a:r>
          </a:p>
        </p:txBody>
      </p:sp>
    </p:spTree>
    <p:extLst>
      <p:ext uri="{BB962C8B-B14F-4D97-AF65-F5344CB8AC3E}">
        <p14:creationId xmlns:p14="http://schemas.microsoft.com/office/powerpoint/2010/main" val="2273314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Sizes of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800" dirty="0"/>
                  <a:t>	— the set of natural numbers {1,2,3,…}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800" dirty="0"/>
                  <a:t>	— the set of integers {…,-3,-2,-1,0,1,2,3,…}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/>
                  <a:t>	— the set of real numbers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sz="2800" dirty="0"/>
                  <a:t>	— the set of rational numbers</a:t>
                </a:r>
              </a:p>
              <a:p>
                <a:pPr marL="0" indent="0">
                  <a:buNone/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is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prime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2,3,5,7,… </m:t>
                        </m:r>
                      </m:e>
                    </m:d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is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prime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≥3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3,5,7,… </m:t>
                        </m:r>
                      </m:e>
                    </m:d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is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𝑒𝑣𝑒𝑛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𝑛𝑢𝑚𝑏𝑒𝑟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={2,4,6,8,…}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is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𝑜𝑑𝑑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𝑎𝑛𝑑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≥3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3,5,7,9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,…}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is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𝑜𝑑𝑑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1,3,5,7,9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,…}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endParaRPr lang="en-US" noProof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081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731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5057-13DA-4581-B3CB-C50853EB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Enumerating pairs of numbers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E71B7D0-2FE1-4B3B-8780-0D13630C26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8866405"/>
              </p:ext>
            </p:extLst>
          </p:nvPr>
        </p:nvGraphicFramePr>
        <p:xfrm>
          <a:off x="838200" y="1889185"/>
          <a:ext cx="10515600" cy="3703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7797772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05270306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50590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68977966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21542324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13170601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76005449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15154449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657794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35501789"/>
                    </a:ext>
                  </a:extLst>
                </a:gridCol>
              </a:tblGrid>
              <a:tr h="30728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x \ 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853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(1,1)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(1,2)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(1,3)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(1,4)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503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(2,1)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(2,2)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(2,3)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90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(3,1)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(3,2)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(3,3)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994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(4,1)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(4,2)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260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(5,1)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0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3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252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61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1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196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5057-13DA-4581-B3CB-C50853EB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Enumerating pairs of numbers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E71B7D0-2FE1-4B3B-8780-0D13630C26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3205667"/>
              </p:ext>
            </p:extLst>
          </p:nvPr>
        </p:nvGraphicFramePr>
        <p:xfrm>
          <a:off x="838200" y="1889185"/>
          <a:ext cx="10515600" cy="3703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7797772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05270306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50590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68977966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21542324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13170601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76005449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15154449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657794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35501789"/>
                    </a:ext>
                  </a:extLst>
                </a:gridCol>
              </a:tblGrid>
              <a:tr h="30728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x \ 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853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(1,1)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(1,2)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(1,3)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(1,4)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503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(2,1)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(2,2)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(2,3)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90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(3,1)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(3,2)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(3,3)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994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(4,1)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(4,2)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260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(5,1)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0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3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252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61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1548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25CD49-2798-E24E-AD7E-A494AB34F221}"/>
              </a:ext>
            </a:extLst>
          </p:cNvPr>
          <p:cNvCxnSpPr/>
          <p:nvPr/>
        </p:nvCxnSpPr>
        <p:spPr>
          <a:xfrm>
            <a:off x="2412000" y="2448000"/>
            <a:ext cx="10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A9763A-3392-A060-BDA6-27C448A433B7}"/>
              </a:ext>
            </a:extLst>
          </p:cNvPr>
          <p:cNvCxnSpPr>
            <a:cxnSpLocks/>
          </p:cNvCxnSpPr>
          <p:nvPr/>
        </p:nvCxnSpPr>
        <p:spPr>
          <a:xfrm flipH="1">
            <a:off x="2411996" y="2447996"/>
            <a:ext cx="1044002" cy="36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C8A1776-5ED7-C941-9F19-AC68841F2F96}"/>
              </a:ext>
            </a:extLst>
          </p:cNvPr>
          <p:cNvCxnSpPr>
            <a:cxnSpLocks/>
          </p:cNvCxnSpPr>
          <p:nvPr/>
        </p:nvCxnSpPr>
        <p:spPr>
          <a:xfrm flipV="1">
            <a:off x="2412000" y="2808000"/>
            <a:ext cx="0" cy="36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6B067E-DE75-03E5-8381-3CB5F0775313}"/>
              </a:ext>
            </a:extLst>
          </p:cNvPr>
          <p:cNvCxnSpPr>
            <a:cxnSpLocks/>
          </p:cNvCxnSpPr>
          <p:nvPr/>
        </p:nvCxnSpPr>
        <p:spPr>
          <a:xfrm flipH="1">
            <a:off x="2401455" y="2447999"/>
            <a:ext cx="2098545" cy="72931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ECEFB7E-6141-FE93-85AA-1CB8A8C5C2DE}"/>
              </a:ext>
            </a:extLst>
          </p:cNvPr>
          <p:cNvCxnSpPr>
            <a:cxnSpLocks/>
          </p:cNvCxnSpPr>
          <p:nvPr/>
        </p:nvCxnSpPr>
        <p:spPr>
          <a:xfrm flipH="1">
            <a:off x="4500000" y="2448000"/>
            <a:ext cx="10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A44C3EF-CF11-F08C-8E98-89A382500E39}"/>
              </a:ext>
            </a:extLst>
          </p:cNvPr>
          <p:cNvCxnSpPr>
            <a:cxnSpLocks/>
          </p:cNvCxnSpPr>
          <p:nvPr/>
        </p:nvCxnSpPr>
        <p:spPr>
          <a:xfrm flipH="1">
            <a:off x="2401455" y="2448000"/>
            <a:ext cx="3151692" cy="11172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1E4BD93-1286-C235-6BD1-781C0887F72E}"/>
              </a:ext>
            </a:extLst>
          </p:cNvPr>
          <p:cNvCxnSpPr>
            <a:cxnSpLocks/>
          </p:cNvCxnSpPr>
          <p:nvPr/>
        </p:nvCxnSpPr>
        <p:spPr>
          <a:xfrm flipH="1">
            <a:off x="2411994" y="2447996"/>
            <a:ext cx="4176006" cy="14757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61848A4-4018-3FE1-3322-4347C07A2804}"/>
              </a:ext>
            </a:extLst>
          </p:cNvPr>
          <p:cNvCxnSpPr>
            <a:cxnSpLocks/>
          </p:cNvCxnSpPr>
          <p:nvPr/>
        </p:nvCxnSpPr>
        <p:spPr>
          <a:xfrm flipV="1">
            <a:off x="2412000" y="3563722"/>
            <a:ext cx="0" cy="36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2ED8AA1-70F6-754E-A262-91FACCC14590}"/>
              </a:ext>
            </a:extLst>
          </p:cNvPr>
          <p:cNvCxnSpPr>
            <a:cxnSpLocks/>
          </p:cNvCxnSpPr>
          <p:nvPr/>
        </p:nvCxnSpPr>
        <p:spPr>
          <a:xfrm flipH="1">
            <a:off x="6588000" y="2449569"/>
            <a:ext cx="10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FE53601-C2E5-4199-B1F7-2ED14F9F47D2}"/>
              </a:ext>
            </a:extLst>
          </p:cNvPr>
          <p:cNvCxnSpPr>
            <a:cxnSpLocks/>
          </p:cNvCxnSpPr>
          <p:nvPr/>
        </p:nvCxnSpPr>
        <p:spPr>
          <a:xfrm flipH="1">
            <a:off x="2388088" y="2449566"/>
            <a:ext cx="5257283" cy="18396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317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5057-13DA-4581-B3CB-C50853EB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Enumerating pairs of numbers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E71B7D0-2FE1-4B3B-8780-0D13630C26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4739480"/>
              </p:ext>
            </p:extLst>
          </p:nvPr>
        </p:nvGraphicFramePr>
        <p:xfrm>
          <a:off x="838200" y="1889185"/>
          <a:ext cx="10515600" cy="3703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7797772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05270306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50590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68977966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21542324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13170601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76005449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15154449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657794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35501789"/>
                    </a:ext>
                  </a:extLst>
                </a:gridCol>
              </a:tblGrid>
              <a:tr h="30728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x \ 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853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(1,1)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(1,2)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(1,3)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(1,4)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503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(2,1)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(2,2)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(2,3)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90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(3,1)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(3,2)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(3,3)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994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(4,1)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(4,2)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260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(5,1)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0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3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252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61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1548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25CD49-2798-E24E-AD7E-A494AB34F221}"/>
              </a:ext>
            </a:extLst>
          </p:cNvPr>
          <p:cNvCxnSpPr/>
          <p:nvPr/>
        </p:nvCxnSpPr>
        <p:spPr>
          <a:xfrm>
            <a:off x="2412000" y="2448000"/>
            <a:ext cx="10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A9763A-3392-A060-BDA6-27C448A433B7}"/>
              </a:ext>
            </a:extLst>
          </p:cNvPr>
          <p:cNvCxnSpPr>
            <a:cxnSpLocks/>
          </p:cNvCxnSpPr>
          <p:nvPr/>
        </p:nvCxnSpPr>
        <p:spPr>
          <a:xfrm flipH="1">
            <a:off x="2411996" y="2447996"/>
            <a:ext cx="1044002" cy="36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C8A1776-5ED7-C941-9F19-AC68841F2F96}"/>
              </a:ext>
            </a:extLst>
          </p:cNvPr>
          <p:cNvCxnSpPr>
            <a:cxnSpLocks/>
          </p:cNvCxnSpPr>
          <p:nvPr/>
        </p:nvCxnSpPr>
        <p:spPr>
          <a:xfrm flipH="1">
            <a:off x="2412000" y="2447996"/>
            <a:ext cx="2088000" cy="360004"/>
          </a:xfrm>
          <a:prstGeom prst="line">
            <a:avLst/>
          </a:prstGeom>
          <a:ln w="38100">
            <a:solidFill>
              <a:srgbClr val="FF000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6B067E-DE75-03E5-8381-3CB5F0775313}"/>
              </a:ext>
            </a:extLst>
          </p:cNvPr>
          <p:cNvCxnSpPr>
            <a:cxnSpLocks/>
          </p:cNvCxnSpPr>
          <p:nvPr/>
        </p:nvCxnSpPr>
        <p:spPr>
          <a:xfrm flipH="1">
            <a:off x="2401455" y="2447999"/>
            <a:ext cx="2098545" cy="72931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ECEFB7E-6141-FE93-85AA-1CB8A8C5C2DE}"/>
              </a:ext>
            </a:extLst>
          </p:cNvPr>
          <p:cNvCxnSpPr>
            <a:cxnSpLocks/>
          </p:cNvCxnSpPr>
          <p:nvPr/>
        </p:nvCxnSpPr>
        <p:spPr>
          <a:xfrm flipH="1">
            <a:off x="2411994" y="2448000"/>
            <a:ext cx="3132006" cy="729309"/>
          </a:xfrm>
          <a:prstGeom prst="line">
            <a:avLst/>
          </a:prstGeom>
          <a:ln w="38100">
            <a:solidFill>
              <a:srgbClr val="FF000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A44C3EF-CF11-F08C-8E98-89A382500E39}"/>
              </a:ext>
            </a:extLst>
          </p:cNvPr>
          <p:cNvCxnSpPr>
            <a:cxnSpLocks/>
          </p:cNvCxnSpPr>
          <p:nvPr/>
        </p:nvCxnSpPr>
        <p:spPr>
          <a:xfrm flipH="1">
            <a:off x="2401455" y="2448000"/>
            <a:ext cx="3151692" cy="11172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1E4BD93-1286-C235-6BD1-781C0887F72E}"/>
              </a:ext>
            </a:extLst>
          </p:cNvPr>
          <p:cNvCxnSpPr>
            <a:cxnSpLocks/>
          </p:cNvCxnSpPr>
          <p:nvPr/>
        </p:nvCxnSpPr>
        <p:spPr>
          <a:xfrm flipH="1">
            <a:off x="2411994" y="2447996"/>
            <a:ext cx="4176006" cy="14757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61848A4-4018-3FE1-3322-4347C07A2804}"/>
              </a:ext>
            </a:extLst>
          </p:cNvPr>
          <p:cNvCxnSpPr>
            <a:cxnSpLocks/>
          </p:cNvCxnSpPr>
          <p:nvPr/>
        </p:nvCxnSpPr>
        <p:spPr>
          <a:xfrm flipH="1">
            <a:off x="2412000" y="2447996"/>
            <a:ext cx="4176000" cy="1115726"/>
          </a:xfrm>
          <a:prstGeom prst="line">
            <a:avLst/>
          </a:prstGeom>
          <a:ln w="38100">
            <a:solidFill>
              <a:srgbClr val="FF000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2ED8AA1-70F6-754E-A262-91FACCC14590}"/>
              </a:ext>
            </a:extLst>
          </p:cNvPr>
          <p:cNvCxnSpPr>
            <a:cxnSpLocks/>
          </p:cNvCxnSpPr>
          <p:nvPr/>
        </p:nvCxnSpPr>
        <p:spPr>
          <a:xfrm flipH="1">
            <a:off x="2411994" y="2449569"/>
            <a:ext cx="5220006" cy="1474153"/>
          </a:xfrm>
          <a:prstGeom prst="line">
            <a:avLst/>
          </a:prstGeom>
          <a:ln w="38100">
            <a:solidFill>
              <a:srgbClr val="FF000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FE53601-C2E5-4199-B1F7-2ED14F9F47D2}"/>
              </a:ext>
            </a:extLst>
          </p:cNvPr>
          <p:cNvCxnSpPr>
            <a:cxnSpLocks/>
          </p:cNvCxnSpPr>
          <p:nvPr/>
        </p:nvCxnSpPr>
        <p:spPr>
          <a:xfrm flipH="1">
            <a:off x="2388088" y="2449566"/>
            <a:ext cx="5257283" cy="18396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273AB4-D72F-107D-1E1E-94AAEC18B88A}"/>
              </a:ext>
            </a:extLst>
          </p:cNvPr>
          <p:cNvSpPr txBox="1"/>
          <p:nvPr/>
        </p:nvSpPr>
        <p:spPr>
          <a:xfrm>
            <a:off x="1540288" y="5889706"/>
            <a:ext cx="96353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Graded lexicographic order: order by sum, then lexicographically </a:t>
            </a:r>
            <a:endParaRPr lang="lv-LV" sz="2800" dirty="0"/>
          </a:p>
        </p:txBody>
      </p:sp>
    </p:spTree>
    <p:extLst>
      <p:ext uri="{BB962C8B-B14F-4D97-AF65-F5344CB8AC3E}">
        <p14:creationId xmlns:p14="http://schemas.microsoft.com/office/powerpoint/2010/main" val="3607974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5057-13DA-4581-B3CB-C50853EB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Enumerating rational numbers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E71B7D0-2FE1-4B3B-8780-0D13630C26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8652046"/>
              </p:ext>
            </p:extLst>
          </p:nvPr>
        </p:nvGraphicFramePr>
        <p:xfrm>
          <a:off x="838200" y="1889185"/>
          <a:ext cx="10515600" cy="3703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7797772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05270306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50590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68977966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21542324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13170601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76005449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15154449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657794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35501789"/>
                    </a:ext>
                  </a:extLst>
                </a:gridCol>
              </a:tblGrid>
              <a:tr h="30728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x \ 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853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/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503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 / </a:t>
                      </a:r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 /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90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994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260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5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0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3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252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61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1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590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5057-13DA-4581-B3CB-C50853EB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Enumerating rational numbers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E71B7D0-2FE1-4B3B-8780-0D13630C26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3947833"/>
              </p:ext>
            </p:extLst>
          </p:nvPr>
        </p:nvGraphicFramePr>
        <p:xfrm>
          <a:off x="838200" y="1889185"/>
          <a:ext cx="10515600" cy="3703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7797772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05270306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50590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68977966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21542324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13170601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76005449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15154449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657794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35501789"/>
                    </a:ext>
                  </a:extLst>
                </a:gridCol>
              </a:tblGrid>
              <a:tr h="30728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x \ 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853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/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503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 / </a:t>
                      </a:r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strike="sngStrike" dirty="0"/>
                        <a:t>2</a:t>
                      </a:r>
                      <a:r>
                        <a:rPr lang="en-US" strike="sngStrike" dirty="0"/>
                        <a:t> / </a:t>
                      </a:r>
                      <a:r>
                        <a:rPr lang="lv-LV" strike="sngStrike" dirty="0"/>
                        <a:t>2</a:t>
                      </a:r>
                      <a:endParaRPr lang="en-US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/>
                        <a:t>2 /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90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strike="sngStrike" dirty="0"/>
                        <a:t>3</a:t>
                      </a:r>
                      <a:r>
                        <a:rPr lang="en-US" strike="sngStrike" dirty="0"/>
                        <a:t> / </a:t>
                      </a:r>
                      <a:r>
                        <a:rPr lang="lv-LV" strike="sngStrike" dirty="0"/>
                        <a:t>3</a:t>
                      </a:r>
                      <a:endParaRPr lang="en-US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994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strike="sngStrike" dirty="0"/>
                        <a:t>4</a:t>
                      </a:r>
                      <a:r>
                        <a:rPr lang="en-US" strike="sngStrike" dirty="0"/>
                        <a:t> / </a:t>
                      </a:r>
                      <a:r>
                        <a:rPr lang="lv-LV" strike="sngStrike" dirty="0"/>
                        <a:t>2</a:t>
                      </a:r>
                      <a:endParaRPr lang="en-US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260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5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0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3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252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61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1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4398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5057-13DA-4581-B3CB-C50853EB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Enumerating rational numbers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E71B7D0-2FE1-4B3B-8780-0D13630C26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89185"/>
          <a:ext cx="10515600" cy="3703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7797772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05270306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50590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68977966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21542324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13170601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76005449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15154449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657794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35501789"/>
                    </a:ext>
                  </a:extLst>
                </a:gridCol>
              </a:tblGrid>
              <a:tr h="30728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x \ 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853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/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503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 / </a:t>
                      </a:r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strike="sngStrike" dirty="0"/>
                        <a:t>2</a:t>
                      </a:r>
                      <a:r>
                        <a:rPr lang="en-US" strike="sngStrike" dirty="0"/>
                        <a:t> / </a:t>
                      </a:r>
                      <a:r>
                        <a:rPr lang="lv-LV" strike="sngStrike" dirty="0"/>
                        <a:t>2</a:t>
                      </a:r>
                      <a:endParaRPr lang="en-US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/>
                        <a:t>2 /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90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strike="sngStrike" dirty="0"/>
                        <a:t>3</a:t>
                      </a:r>
                      <a:r>
                        <a:rPr lang="en-US" strike="sngStrike" dirty="0"/>
                        <a:t> / </a:t>
                      </a:r>
                      <a:r>
                        <a:rPr lang="lv-LV" strike="sngStrike" dirty="0"/>
                        <a:t>3</a:t>
                      </a:r>
                      <a:endParaRPr lang="en-US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994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strike="sngStrike" dirty="0"/>
                        <a:t>4</a:t>
                      </a:r>
                      <a:r>
                        <a:rPr lang="en-US" strike="sngStrike" dirty="0"/>
                        <a:t> / </a:t>
                      </a:r>
                      <a:r>
                        <a:rPr lang="lv-LV" strike="sngStrike" dirty="0"/>
                        <a:t>2</a:t>
                      </a:r>
                      <a:endParaRPr lang="en-US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260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5</a:t>
                      </a:r>
                      <a:r>
                        <a:rPr lang="en-US" dirty="0"/>
                        <a:t> / </a:t>
                      </a:r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0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3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252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61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1548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B3B079-72F6-B74E-53DC-66635F5B657C}"/>
              </a:ext>
            </a:extLst>
          </p:cNvPr>
          <p:cNvCxnSpPr/>
          <p:nvPr/>
        </p:nvCxnSpPr>
        <p:spPr>
          <a:xfrm>
            <a:off x="2412000" y="2448000"/>
            <a:ext cx="10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8DF77D-2842-71E7-204B-6BF19EC06160}"/>
              </a:ext>
            </a:extLst>
          </p:cNvPr>
          <p:cNvCxnSpPr>
            <a:cxnSpLocks/>
          </p:cNvCxnSpPr>
          <p:nvPr/>
        </p:nvCxnSpPr>
        <p:spPr>
          <a:xfrm flipH="1">
            <a:off x="2411996" y="2447996"/>
            <a:ext cx="1044002" cy="36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F92A06-8DEC-8081-BDD7-BB48B0422FEB}"/>
              </a:ext>
            </a:extLst>
          </p:cNvPr>
          <p:cNvCxnSpPr>
            <a:cxnSpLocks/>
          </p:cNvCxnSpPr>
          <p:nvPr/>
        </p:nvCxnSpPr>
        <p:spPr>
          <a:xfrm flipV="1">
            <a:off x="2412000" y="2808000"/>
            <a:ext cx="0" cy="36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B92D19-834B-62AF-B1F8-772618BD55A3}"/>
              </a:ext>
            </a:extLst>
          </p:cNvPr>
          <p:cNvCxnSpPr>
            <a:cxnSpLocks/>
          </p:cNvCxnSpPr>
          <p:nvPr/>
        </p:nvCxnSpPr>
        <p:spPr>
          <a:xfrm flipH="1">
            <a:off x="2401455" y="2447999"/>
            <a:ext cx="2098545" cy="72931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35CF53-ECE3-968D-A018-6D41D0A9470C}"/>
              </a:ext>
            </a:extLst>
          </p:cNvPr>
          <p:cNvCxnSpPr>
            <a:cxnSpLocks/>
          </p:cNvCxnSpPr>
          <p:nvPr/>
        </p:nvCxnSpPr>
        <p:spPr>
          <a:xfrm flipH="1">
            <a:off x="4500000" y="2448000"/>
            <a:ext cx="10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B4B9B21-CCF5-671D-0EA6-128D53916478}"/>
              </a:ext>
            </a:extLst>
          </p:cNvPr>
          <p:cNvCxnSpPr>
            <a:cxnSpLocks/>
          </p:cNvCxnSpPr>
          <p:nvPr/>
        </p:nvCxnSpPr>
        <p:spPr>
          <a:xfrm flipH="1">
            <a:off x="2401455" y="2448000"/>
            <a:ext cx="3151692" cy="11172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E72A8F-7CB8-8FCA-B85C-EA7E054E2F1F}"/>
              </a:ext>
            </a:extLst>
          </p:cNvPr>
          <p:cNvCxnSpPr>
            <a:cxnSpLocks/>
          </p:cNvCxnSpPr>
          <p:nvPr/>
        </p:nvCxnSpPr>
        <p:spPr>
          <a:xfrm flipH="1">
            <a:off x="2411994" y="2447996"/>
            <a:ext cx="4176006" cy="14757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C3F241-E583-6AA4-39EE-52C432A50579}"/>
              </a:ext>
            </a:extLst>
          </p:cNvPr>
          <p:cNvCxnSpPr>
            <a:cxnSpLocks/>
          </p:cNvCxnSpPr>
          <p:nvPr/>
        </p:nvCxnSpPr>
        <p:spPr>
          <a:xfrm flipV="1">
            <a:off x="2412000" y="3563722"/>
            <a:ext cx="0" cy="36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737299-C21C-FD9C-6299-B97469E47702}"/>
              </a:ext>
            </a:extLst>
          </p:cNvPr>
          <p:cNvCxnSpPr>
            <a:cxnSpLocks/>
          </p:cNvCxnSpPr>
          <p:nvPr/>
        </p:nvCxnSpPr>
        <p:spPr>
          <a:xfrm flipH="1">
            <a:off x="6588000" y="2449569"/>
            <a:ext cx="10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F73FC7-66B1-F057-2DFA-AA6295550245}"/>
              </a:ext>
            </a:extLst>
          </p:cNvPr>
          <p:cNvCxnSpPr>
            <a:cxnSpLocks/>
          </p:cNvCxnSpPr>
          <p:nvPr/>
        </p:nvCxnSpPr>
        <p:spPr>
          <a:xfrm flipH="1">
            <a:off x="2388088" y="2449566"/>
            <a:ext cx="5257283" cy="18396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465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4F3A3-8260-4800-AC9C-14AD8D114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Enumerating rational numbers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676FC6-9B16-4BE9-8127-2A6835D67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07" y="1331365"/>
            <a:ext cx="6789707" cy="484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593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F235-FAF0-A1B2-A401-889E40CB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Enumerating triplets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D357A-69AD-19D2-95A4-79042007A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(1,1,1)	(1,1,4)	(1,3,2)	(2,1,1)	(2,2,1)	…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833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5057-13DA-4581-B3CB-C50853EB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Enumerating triplets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E71B7D0-2FE1-4B3B-8780-0D13630C26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8923619"/>
              </p:ext>
            </p:extLst>
          </p:nvPr>
        </p:nvGraphicFramePr>
        <p:xfrm>
          <a:off x="838200" y="1889185"/>
          <a:ext cx="10515600" cy="3703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7797772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05270306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50590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68977966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21542324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13170601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76005449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15154449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657794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35501789"/>
                    </a:ext>
                  </a:extLst>
                </a:gridCol>
              </a:tblGrid>
              <a:tr h="30728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x \ 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lv-LV" dirty="0"/>
                        <a:t>1</a:t>
                      </a:r>
                      <a:r>
                        <a:rPr lang="en-US" dirty="0"/>
                        <a:t>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853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(1,1,3)</a:t>
                      </a:r>
                      <a:endParaRPr lang="lv-LV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(1,2,2)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(1,3,1)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503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/>
                        <a:t>(2,1,2)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(2,1,3)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/>
                        <a:t>(2,2,2)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90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/>
                        <a:t>(3,1,3)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994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/>
                        <a:t>(4,1,2)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260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0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3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252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61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1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4060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5057-13DA-4581-B3CB-C50853EB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Enumerating triplets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E71B7D0-2FE1-4B3B-8780-0D13630C26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89185"/>
          <a:ext cx="10515600" cy="3703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7797772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05270306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50590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68977966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21542324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13170601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76005449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15154449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657794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35501789"/>
                    </a:ext>
                  </a:extLst>
                </a:gridCol>
              </a:tblGrid>
              <a:tr h="30728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x \ 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lv-LV" dirty="0"/>
                        <a:t>1</a:t>
                      </a:r>
                      <a:r>
                        <a:rPr lang="en-US" dirty="0"/>
                        <a:t>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853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(1,1,3)</a:t>
                      </a:r>
                      <a:endParaRPr lang="lv-LV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(1,2,2)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(1,3,1)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503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/>
                        <a:t>(2,1,2)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(2,1,3)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/>
                        <a:t>(2,2,2)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90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/>
                        <a:t>(3,1,3)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994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/>
                        <a:t>(4,1,2)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260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0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3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252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61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1548"/>
                  </a:ext>
                </a:extLst>
              </a:tr>
            </a:tbl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90D8E1A-D23E-E515-FD5A-3D14F0FFB31C}"/>
              </a:ext>
            </a:extLst>
          </p:cNvPr>
          <p:cNvCxnSpPr/>
          <p:nvPr/>
        </p:nvCxnSpPr>
        <p:spPr>
          <a:xfrm>
            <a:off x="2412000" y="2448000"/>
            <a:ext cx="10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233F48-AFA4-7A3E-40E4-8FE07091E526}"/>
              </a:ext>
            </a:extLst>
          </p:cNvPr>
          <p:cNvCxnSpPr>
            <a:cxnSpLocks/>
          </p:cNvCxnSpPr>
          <p:nvPr/>
        </p:nvCxnSpPr>
        <p:spPr>
          <a:xfrm flipH="1">
            <a:off x="2411996" y="2447996"/>
            <a:ext cx="1044002" cy="36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5AF9E5D-7141-CAFB-8B83-3A3568B6C620}"/>
              </a:ext>
            </a:extLst>
          </p:cNvPr>
          <p:cNvCxnSpPr>
            <a:cxnSpLocks/>
          </p:cNvCxnSpPr>
          <p:nvPr/>
        </p:nvCxnSpPr>
        <p:spPr>
          <a:xfrm flipV="1">
            <a:off x="2412000" y="2808000"/>
            <a:ext cx="0" cy="36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8CD1FDC-C79E-FEB0-3FE8-B74A6A2139B9}"/>
              </a:ext>
            </a:extLst>
          </p:cNvPr>
          <p:cNvCxnSpPr>
            <a:cxnSpLocks/>
          </p:cNvCxnSpPr>
          <p:nvPr/>
        </p:nvCxnSpPr>
        <p:spPr>
          <a:xfrm flipH="1">
            <a:off x="2401455" y="2447999"/>
            <a:ext cx="2098545" cy="72931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24C2F9-5516-5AD4-9BCC-D5B4CD26975D}"/>
              </a:ext>
            </a:extLst>
          </p:cNvPr>
          <p:cNvCxnSpPr>
            <a:cxnSpLocks/>
          </p:cNvCxnSpPr>
          <p:nvPr/>
        </p:nvCxnSpPr>
        <p:spPr>
          <a:xfrm flipH="1">
            <a:off x="4500000" y="2448000"/>
            <a:ext cx="10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FDABE30-8B07-3894-DF6C-DDD42870525C}"/>
              </a:ext>
            </a:extLst>
          </p:cNvPr>
          <p:cNvCxnSpPr>
            <a:cxnSpLocks/>
          </p:cNvCxnSpPr>
          <p:nvPr/>
        </p:nvCxnSpPr>
        <p:spPr>
          <a:xfrm flipH="1">
            <a:off x="2401455" y="2448000"/>
            <a:ext cx="3151692" cy="11172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77B704-81DA-938F-7AAC-38D1EA0B65E7}"/>
              </a:ext>
            </a:extLst>
          </p:cNvPr>
          <p:cNvCxnSpPr>
            <a:cxnSpLocks/>
          </p:cNvCxnSpPr>
          <p:nvPr/>
        </p:nvCxnSpPr>
        <p:spPr>
          <a:xfrm flipH="1">
            <a:off x="2411994" y="2447996"/>
            <a:ext cx="4176006" cy="14757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79D271-E6AA-0D80-1425-7305D1F9BB0B}"/>
              </a:ext>
            </a:extLst>
          </p:cNvPr>
          <p:cNvCxnSpPr>
            <a:cxnSpLocks/>
          </p:cNvCxnSpPr>
          <p:nvPr/>
        </p:nvCxnSpPr>
        <p:spPr>
          <a:xfrm flipV="1">
            <a:off x="2412000" y="3563722"/>
            <a:ext cx="0" cy="36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0332BF0-903D-8E31-41F2-2E3AF12F9546}"/>
              </a:ext>
            </a:extLst>
          </p:cNvPr>
          <p:cNvCxnSpPr>
            <a:cxnSpLocks/>
          </p:cNvCxnSpPr>
          <p:nvPr/>
        </p:nvCxnSpPr>
        <p:spPr>
          <a:xfrm flipH="1">
            <a:off x="6588000" y="2449569"/>
            <a:ext cx="10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F87E6E4-105C-A0B5-A5EE-2212B723D2D3}"/>
              </a:ext>
            </a:extLst>
          </p:cNvPr>
          <p:cNvCxnSpPr>
            <a:cxnSpLocks/>
          </p:cNvCxnSpPr>
          <p:nvPr/>
        </p:nvCxnSpPr>
        <p:spPr>
          <a:xfrm flipH="1">
            <a:off x="2388088" y="2449566"/>
            <a:ext cx="5257283" cy="18396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87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F235-FAF0-A1B2-A401-889E40CB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Enumerating arbitrary-sized tuples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D357A-69AD-19D2-95A4-79042007A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(1)    (1,1,1,1,1)    (3,2)    (100)    (3,1,4,1,5,9,2,6)    (3141,5926)    …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075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5057-13DA-4581-B3CB-C50853EB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Enumerating arbitrary-sized tuples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E71B7D0-2FE1-4B3B-8780-0D13630C26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4052641"/>
              </p:ext>
            </p:extLst>
          </p:nvPr>
        </p:nvGraphicFramePr>
        <p:xfrm>
          <a:off x="838200" y="1889185"/>
          <a:ext cx="10515600" cy="3703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7797772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05270306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50590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68977966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21542324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13170601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76005449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15154449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657794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35501789"/>
                    </a:ext>
                  </a:extLst>
                </a:gridCol>
              </a:tblGrid>
              <a:tr h="3072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853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(3)</a:t>
                      </a:r>
                      <a:endParaRPr lang="lv-LV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503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/>
                        <a:t>(1,2)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/>
                        <a:t>(1,3)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90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/>
                        <a:t>(1,2,1)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994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(1,1,1,1)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/>
                        <a:t>(1,1,1,2)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260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(1,1,1,1,1)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0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3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252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61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1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9690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5057-13DA-4581-B3CB-C50853EB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Enumerating arbitrary-sized tuples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E71B7D0-2FE1-4B3B-8780-0D13630C26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89185"/>
          <a:ext cx="10515600" cy="3703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7797772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05270306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50590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68977966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21542324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13170601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76005449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15154449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65779498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35501789"/>
                    </a:ext>
                  </a:extLst>
                </a:gridCol>
              </a:tblGrid>
              <a:tr h="3072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853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(3)</a:t>
                      </a:r>
                      <a:endParaRPr lang="lv-LV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503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/>
                        <a:t>(1,2)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/>
                        <a:t>(1,3)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90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/>
                        <a:t>(1,2,1)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994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(1,1,1,1)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/>
                        <a:t>(1,1,1,2)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260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(1,1,1,1,1)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0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3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252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lv-LV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61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1548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F145B3-0411-D7BF-881D-9E85B641D3FA}"/>
              </a:ext>
            </a:extLst>
          </p:cNvPr>
          <p:cNvCxnSpPr/>
          <p:nvPr/>
        </p:nvCxnSpPr>
        <p:spPr>
          <a:xfrm>
            <a:off x="2412000" y="2448000"/>
            <a:ext cx="10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055A52-375C-B4EE-A6B3-8276711525A4}"/>
              </a:ext>
            </a:extLst>
          </p:cNvPr>
          <p:cNvCxnSpPr>
            <a:cxnSpLocks/>
          </p:cNvCxnSpPr>
          <p:nvPr/>
        </p:nvCxnSpPr>
        <p:spPr>
          <a:xfrm flipH="1">
            <a:off x="2411996" y="2447996"/>
            <a:ext cx="1044002" cy="36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EC8415-A130-5383-5AD2-7EE1D919E1C6}"/>
              </a:ext>
            </a:extLst>
          </p:cNvPr>
          <p:cNvCxnSpPr>
            <a:cxnSpLocks/>
          </p:cNvCxnSpPr>
          <p:nvPr/>
        </p:nvCxnSpPr>
        <p:spPr>
          <a:xfrm flipV="1">
            <a:off x="2412000" y="2808000"/>
            <a:ext cx="0" cy="36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74DB6D3-8FDE-5B21-3D55-C751598D05A1}"/>
              </a:ext>
            </a:extLst>
          </p:cNvPr>
          <p:cNvCxnSpPr>
            <a:cxnSpLocks/>
          </p:cNvCxnSpPr>
          <p:nvPr/>
        </p:nvCxnSpPr>
        <p:spPr>
          <a:xfrm flipH="1">
            <a:off x="2401455" y="2447999"/>
            <a:ext cx="2098545" cy="72931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B9B44E-E928-9699-2D85-9B595536ED8A}"/>
              </a:ext>
            </a:extLst>
          </p:cNvPr>
          <p:cNvCxnSpPr>
            <a:cxnSpLocks/>
          </p:cNvCxnSpPr>
          <p:nvPr/>
        </p:nvCxnSpPr>
        <p:spPr>
          <a:xfrm flipH="1">
            <a:off x="4500000" y="2448000"/>
            <a:ext cx="10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3BFAAA-FA08-B92A-64D4-0EC83F281614}"/>
              </a:ext>
            </a:extLst>
          </p:cNvPr>
          <p:cNvCxnSpPr>
            <a:cxnSpLocks/>
          </p:cNvCxnSpPr>
          <p:nvPr/>
        </p:nvCxnSpPr>
        <p:spPr>
          <a:xfrm flipH="1">
            <a:off x="2401455" y="2448000"/>
            <a:ext cx="3151692" cy="11172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989990-F613-751D-B1F7-B17EBCFEE94B}"/>
              </a:ext>
            </a:extLst>
          </p:cNvPr>
          <p:cNvCxnSpPr>
            <a:cxnSpLocks/>
          </p:cNvCxnSpPr>
          <p:nvPr/>
        </p:nvCxnSpPr>
        <p:spPr>
          <a:xfrm flipH="1">
            <a:off x="2411994" y="2447996"/>
            <a:ext cx="4176006" cy="14757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6A5594-95A3-FE09-4EB1-F2694ED050CC}"/>
              </a:ext>
            </a:extLst>
          </p:cNvPr>
          <p:cNvCxnSpPr>
            <a:cxnSpLocks/>
          </p:cNvCxnSpPr>
          <p:nvPr/>
        </p:nvCxnSpPr>
        <p:spPr>
          <a:xfrm flipV="1">
            <a:off x="2412000" y="3563722"/>
            <a:ext cx="0" cy="36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57AD5D-A173-7DB1-8B9A-DA69962F381C}"/>
              </a:ext>
            </a:extLst>
          </p:cNvPr>
          <p:cNvCxnSpPr>
            <a:cxnSpLocks/>
          </p:cNvCxnSpPr>
          <p:nvPr/>
        </p:nvCxnSpPr>
        <p:spPr>
          <a:xfrm flipH="1">
            <a:off x="6588000" y="2449569"/>
            <a:ext cx="10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9D113BE-EE86-2F21-172F-A75AE5BA9703}"/>
              </a:ext>
            </a:extLst>
          </p:cNvPr>
          <p:cNvCxnSpPr>
            <a:cxnSpLocks/>
          </p:cNvCxnSpPr>
          <p:nvPr/>
        </p:nvCxnSpPr>
        <p:spPr>
          <a:xfrm flipH="1">
            <a:off x="2388088" y="2449566"/>
            <a:ext cx="5257283" cy="18396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172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Enumerating Turing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Countable</a:t>
            </a:r>
          </a:p>
          <a:p>
            <a:endParaRPr lang="en-US" noProof="0" dirty="0"/>
          </a:p>
          <a:p>
            <a:r>
              <a:rPr lang="en-US" noProof="0" dirty="0"/>
              <a:t>All TM of size (description length) 1,</a:t>
            </a:r>
          </a:p>
          <a:p>
            <a:r>
              <a:rPr lang="en-US" noProof="0" dirty="0"/>
              <a:t>All TM of size 2,</a:t>
            </a:r>
          </a:p>
          <a:p>
            <a:r>
              <a:rPr lang="en-US" noProof="0" dirty="0"/>
              <a:t>All TM of size 3,</a:t>
            </a:r>
          </a:p>
          <a:p>
            <a:r>
              <a:rPr lang="en-US" noProof="0" dirty="0"/>
              <a:t>All TM of size 4,</a:t>
            </a:r>
          </a:p>
          <a:p>
            <a:r>
              <a:rPr lang="en-US" noProof="0" dirty="0"/>
              <a:t>…</a:t>
            </a: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76398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60F78-8077-88DA-2167-BA0E022B7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Enumerating real numbers and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58622-CB2F-0E9B-8643-0643E5A5C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ℝ</a:t>
            </a:r>
          </a:p>
          <a:p>
            <a:r>
              <a:rPr lang="en-US" dirty="0"/>
              <a:t>set of languages</a:t>
            </a:r>
          </a:p>
          <a:p>
            <a:r>
              <a:rPr lang="en-US" dirty="0"/>
              <a:t>set of infinite sequences</a:t>
            </a:r>
          </a:p>
          <a:p>
            <a:pPr marL="0" indent="0">
              <a:buNone/>
            </a:pPr>
            <a:r>
              <a:rPr lang="en-US" dirty="0"/>
              <a:t>are not enumerable!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See wiki:   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Cantor’s diagonal argument</a:t>
            </a:r>
          </a:p>
          <a:p>
            <a:pPr marL="0" indent="0" algn="ctr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Implication:    |set of languages| &gt; |set of TMs|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182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19B357-E374-498C-8AFA-90F43DEC9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92" y="1366720"/>
            <a:ext cx="7648575" cy="1514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3584B2-DA4E-4DA1-BAE1-1F5FCF448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80" y="2743082"/>
            <a:ext cx="6019800" cy="276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0386A5-F7D2-4941-94A3-0590BF457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77" y="3571757"/>
            <a:ext cx="7591425" cy="1371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DFD238-CDF7-43FF-BD5F-93E2BBD12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325" y="4947669"/>
            <a:ext cx="4819650" cy="285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24B7B7-930A-4EBC-B4D0-B5667CBEEBA0}"/>
                  </a:ext>
                </a:extLst>
              </p:cNvPr>
              <p:cNvSpPr txBox="1"/>
              <p:nvPr/>
            </p:nvSpPr>
            <p:spPr>
              <a:xfrm>
                <a:off x="8998241" y="1518217"/>
                <a:ext cx="22113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accepts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lv-LV" dirty="0"/>
              </a:p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24B7B7-930A-4EBC-B4D0-B5667CBEE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8241" y="1518217"/>
                <a:ext cx="2211375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0428E4-BEA3-408A-86FE-1D7C12CD4F7C}"/>
                  </a:ext>
                </a:extLst>
              </p:cNvPr>
              <p:cNvSpPr txBox="1"/>
              <p:nvPr/>
            </p:nvSpPr>
            <p:spPr>
              <a:xfrm>
                <a:off x="8061510" y="2208779"/>
                <a:ext cx="413049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either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rejects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loops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on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lv-LV" dirty="0"/>
              </a:p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lv-LV" dirty="0"/>
                  <a:t> or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lv-LV" dirty="0"/>
                  <a:t> is undefined</a:t>
                </a:r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0428E4-BEA3-408A-86FE-1D7C12CD4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510" y="2208779"/>
                <a:ext cx="4130490" cy="646331"/>
              </a:xfrm>
              <a:prstGeom prst="rect">
                <a:avLst/>
              </a:prstGeom>
              <a:blipFill rotWithShape="0">
                <a:blip r:embed="rId7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93657A-218E-466A-B7CA-73D185350CC6}"/>
                  </a:ext>
                </a:extLst>
              </p:cNvPr>
              <p:cNvSpPr txBox="1"/>
              <p:nvPr/>
            </p:nvSpPr>
            <p:spPr>
              <a:xfrm>
                <a:off x="8528648" y="3835880"/>
                <a:ext cx="22113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accepts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lv-LV" dirty="0"/>
              </a:p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793657A-218E-466A-B7CA-73D185350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8648" y="3835880"/>
                <a:ext cx="2211375" cy="64633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09DF14-EC98-40EE-8F4F-B947F7B77293}"/>
                  </a:ext>
                </a:extLst>
              </p:cNvPr>
              <p:cNvSpPr txBox="1"/>
              <p:nvPr/>
            </p:nvSpPr>
            <p:spPr>
              <a:xfrm>
                <a:off x="8537411" y="4460527"/>
                <a:ext cx="210615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rejects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lv-LV" dirty="0"/>
              </a:p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209DF14-EC98-40EE-8F4F-B947F7B77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7411" y="4460527"/>
                <a:ext cx="2106154" cy="64633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4750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noProof="0" dirty="0"/>
          </a:p>
          <a:p>
            <a:pPr marL="0" indent="0">
              <a:buNone/>
            </a:pPr>
            <a:r>
              <a:rPr lang="en-US" noProof="0" dirty="0"/>
              <a:t>There are languages that are not Turing-decidable.</a:t>
            </a:r>
          </a:p>
          <a:p>
            <a:pPr lvl="1"/>
            <a:r>
              <a:rPr lang="en-US" noProof="0" dirty="0"/>
              <a:t>The number of languages is the same as |</a:t>
            </a:r>
            <a:r>
              <a:rPr lang="en-US" noProof="0" dirty="0">
                <a:latin typeface="Cambria Math" panose="02040503050406030204" pitchFamily="18" charset="0"/>
                <a:ea typeface="Cambria Math" panose="02040503050406030204" pitchFamily="18" charset="0"/>
              </a:rPr>
              <a:t>ℝ</a:t>
            </a:r>
            <a:r>
              <a:rPr lang="en-US" noProof="0" dirty="0"/>
              <a:t>|</a:t>
            </a:r>
          </a:p>
          <a:p>
            <a:pPr lvl="1"/>
            <a:r>
              <a:rPr lang="en-US" noProof="0" dirty="0">
                <a:ea typeface="Cambria Math" panose="02040503050406030204" pitchFamily="18" charset="0"/>
              </a:rPr>
              <a:t>The set of Turing machines is countable (number of TMs = |ℕ|)</a:t>
            </a:r>
          </a:p>
          <a:p>
            <a:pPr lvl="1"/>
            <a:r>
              <a:rPr lang="en-US" noProof="0" dirty="0">
                <a:ea typeface="Cambria Math" panose="02040503050406030204" pitchFamily="18" charset="0"/>
              </a:rPr>
              <a:t>Each TM can decide at most 1 language</a:t>
            </a:r>
            <a:endParaRPr lang="ru-RU" noProof="0" dirty="0">
              <a:ea typeface="Cambria Math" panose="02040503050406030204" pitchFamily="18" charset="0"/>
            </a:endParaRPr>
          </a:p>
          <a:p>
            <a:pPr lvl="1"/>
            <a:endParaRPr lang="en-US" noProof="0" dirty="0"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noProof="0" dirty="0"/>
              <a:t>There are languages that are not Turing-recognizable.</a:t>
            </a:r>
          </a:p>
          <a:p>
            <a:pPr lvl="1"/>
            <a:r>
              <a:rPr lang="en-US" noProof="0" dirty="0"/>
              <a:t>The number of languages is the same as |</a:t>
            </a:r>
            <a:r>
              <a:rPr lang="en-US" noProof="0" dirty="0">
                <a:latin typeface="Cambria Math" panose="02040503050406030204" pitchFamily="18" charset="0"/>
                <a:ea typeface="Cambria Math" panose="02040503050406030204" pitchFamily="18" charset="0"/>
              </a:rPr>
              <a:t>ℝ</a:t>
            </a:r>
            <a:r>
              <a:rPr lang="en-US" noProof="0" dirty="0"/>
              <a:t>|</a:t>
            </a:r>
          </a:p>
          <a:p>
            <a:pPr lvl="1"/>
            <a:r>
              <a:rPr lang="en-US" noProof="0" dirty="0">
                <a:ea typeface="Cambria Math" panose="02040503050406030204" pitchFamily="18" charset="0"/>
              </a:rPr>
              <a:t>The set of Turing machines is countable (number of TMs = |ℕ|)</a:t>
            </a:r>
          </a:p>
          <a:p>
            <a:pPr lvl="1"/>
            <a:r>
              <a:rPr lang="en-US" noProof="0" dirty="0">
                <a:ea typeface="Cambria Math" panose="02040503050406030204" pitchFamily="18" charset="0"/>
              </a:rPr>
              <a:t>Each TM can </a:t>
            </a:r>
            <a:r>
              <a:rPr lang="en-US" noProof="0" dirty="0"/>
              <a:t>recognize </a:t>
            </a:r>
            <a:r>
              <a:rPr lang="en-US" noProof="0" dirty="0">
                <a:ea typeface="Cambria Math" panose="02040503050406030204" pitchFamily="18" charset="0"/>
              </a:rPr>
              <a:t>at most 1 language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25099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05C219-A87F-407F-A0B6-025E2981B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84" y="800835"/>
            <a:ext cx="4543425" cy="4286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56878F-BDF5-4E6F-87D8-CC1FEF053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943" y="1774706"/>
            <a:ext cx="6877050" cy="323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20F7A1-5817-49EA-A3DE-E24CCFC82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943" y="3123125"/>
            <a:ext cx="5457825" cy="304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E60892C-CC55-45F5-B2FB-A2F1A8576212}"/>
              </a:ext>
            </a:extLst>
          </p:cNvPr>
          <p:cNvGrpSpPr/>
          <p:nvPr/>
        </p:nvGrpSpPr>
        <p:grpSpPr>
          <a:xfrm>
            <a:off x="968943" y="2482253"/>
            <a:ext cx="2324100" cy="257175"/>
            <a:chOff x="1359199" y="2477491"/>
            <a:chExt cx="2324100" cy="25717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C7DAF55-8AED-413E-A3FC-A92F62A4D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97349" y="2487016"/>
              <a:ext cx="1885950" cy="24765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4FFC3B5-6E94-4E5F-A125-C206E277F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59199" y="2477491"/>
              <a:ext cx="438150" cy="257175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046FA78-7D88-4A6B-84EA-FB2FB14CED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650" y="4358491"/>
            <a:ext cx="5305425" cy="400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D372DE-6208-47FC-8357-DBE3312DA8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943" y="4828457"/>
            <a:ext cx="7096125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620A01-00FC-4F17-A109-AC33223F4949}"/>
                  </a:ext>
                </a:extLst>
              </p:cNvPr>
              <p:cNvSpPr txBox="1"/>
              <p:nvPr/>
            </p:nvSpPr>
            <p:spPr>
              <a:xfrm>
                <a:off x="8065068" y="1558923"/>
                <a:ext cx="187019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lv-LV" dirty="0">
                    <a:latin typeface="Cambria Math" panose="02040503050406030204" pitchFamily="18" charset="0"/>
                  </a:rPr>
                  <a:t>Turing-decidable</a:t>
                </a:r>
                <a:endParaRPr lang="lv-LV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lv-LV" dirty="0"/>
                  <a:t> M(x)=1</a:t>
                </a:r>
              </a:p>
              <a:p>
                <a14:m>
                  <m:oMath xmlns:m="http://schemas.openxmlformats.org/officeDocument/2006/math">
                    <m:r>
                      <a:rPr lang="lv-LV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lv-LV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lv-LV" dirty="0"/>
                  <a:t> M(x)=0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620A01-00FC-4F17-A109-AC33223F4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5068" y="1558923"/>
                <a:ext cx="1870192" cy="1200329"/>
              </a:xfrm>
              <a:prstGeom prst="rect">
                <a:avLst/>
              </a:prstGeom>
              <a:blipFill>
                <a:blip r:embed="rId9"/>
                <a:stretch>
                  <a:fillRect l="-2606" t="-3553" r="-2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E4A2BE-71BE-4CCA-896B-291117756809}"/>
                  </a:ext>
                </a:extLst>
              </p:cNvPr>
              <p:cNvSpPr txBox="1"/>
              <p:nvPr/>
            </p:nvSpPr>
            <p:spPr>
              <a:xfrm>
                <a:off x="6559607" y="2966260"/>
                <a:ext cx="449795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lv-LV" b="0" dirty="0">
                    <a:latin typeface="Cambria Math" panose="02040503050406030204" pitchFamily="18" charset="0"/>
                  </a:rPr>
                  <a:t>Turing-recognizable</a:t>
                </a:r>
              </a:p>
              <a:p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lv-LV" dirty="0"/>
                  <a:t> M(x)=1</a:t>
                </a:r>
              </a:p>
              <a:p>
                <a14:m>
                  <m:oMath xmlns:m="http://schemas.openxmlformats.org/officeDocument/2006/math">
                    <m:r>
                      <a:rPr lang="lv-LV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lv-LV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lv-LV" dirty="0"/>
                  <a:t> either M(x)=0 or M(x) doesn’t halt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E4A2BE-71BE-4CCA-896B-291117756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607" y="2966260"/>
                <a:ext cx="4497959" cy="1200329"/>
              </a:xfrm>
              <a:prstGeom prst="rect">
                <a:avLst/>
              </a:prstGeom>
              <a:blipFill>
                <a:blip r:embed="rId10"/>
                <a:stretch>
                  <a:fillRect l="-1084" t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BCCC07-5856-4083-B9D7-B9DC780C36AC}"/>
                  </a:ext>
                </a:extLst>
              </p:cNvPr>
              <p:cNvSpPr txBox="1"/>
              <p:nvPr/>
            </p:nvSpPr>
            <p:spPr>
              <a:xfrm>
                <a:off x="8808586" y="5034293"/>
                <a:ext cx="25944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lv-LV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lv-LV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lv-LV" i="1" dirty="0" smtClean="0">
                          <a:latin typeface="Cambria Math" panose="02040503050406030204" pitchFamily="18" charset="0"/>
                        </a:rPr>
                        <m:t>= 10</m:t>
                      </m:r>
                      <m:sSup>
                        <m:sSupPr>
                          <m:ctrlPr>
                            <a:rPr lang="lv-LV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lv-LV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BCCC07-5856-4083-B9D7-B9DC780C3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586" y="5034293"/>
                <a:ext cx="2594493" cy="369332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7AFDFAE-E565-4277-96FD-A793EED64E99}"/>
                  </a:ext>
                </a:extLst>
              </p:cNvPr>
              <p:cNvSpPr/>
              <p:nvPr/>
            </p:nvSpPr>
            <p:spPr>
              <a:xfrm>
                <a:off x="8638014" y="5415464"/>
                <a:ext cx="32916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lv-LV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lv-LV" i="1" dirty="0">
                          <a:latin typeface="Cambria Math" panose="02040503050406030204" pitchFamily="18" charset="0"/>
                        </a:rPr>
                        <m:t>= 10</m:t>
                      </m:r>
                      <m:sSup>
                        <m:sSupPr>
                          <m:ctrlPr>
                            <a:rPr lang="lv-LV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⋅0</m:t>
                          </m:r>
                        </m:e>
                        <m:sup>
                          <m:r>
                            <a:rPr lang="lv-LV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lv-LV" i="1" dirty="0">
                          <a:latin typeface="Cambria Math" panose="02040503050406030204" pitchFamily="18" charset="0"/>
                        </a:rPr>
                        <m:t>−2⋅</m:t>
                      </m:r>
                      <m:sSup>
                        <m:sSupPr>
                          <m:ctrlPr>
                            <a:rPr lang="lv-LV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lv-LV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lv-LV" i="1" dirty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7AFDFAE-E565-4277-96FD-A793EED64E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014" y="5415464"/>
                <a:ext cx="3291607" cy="369332"/>
              </a:xfrm>
              <a:prstGeom prst="rect">
                <a:avLst/>
              </a:prstGeom>
              <a:blipFill>
                <a:blip r:embed="rId1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8924DBA-9B5C-44A6-A83B-1E9604A053A3}"/>
                  </a:ext>
                </a:extLst>
              </p:cNvPr>
              <p:cNvSpPr/>
              <p:nvPr/>
            </p:nvSpPr>
            <p:spPr>
              <a:xfrm>
                <a:off x="8638013" y="5784796"/>
                <a:ext cx="32916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lv-LV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lv-LV" i="1" dirty="0">
                          <a:latin typeface="Cambria Math" panose="02040503050406030204" pitchFamily="18" charset="0"/>
                        </a:rPr>
                        <m:t>= 10</m:t>
                      </m:r>
                      <m:sSup>
                        <m:sSupPr>
                          <m:ctrlPr>
                            <a:rPr lang="lv-LV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⋅1</m:t>
                          </m:r>
                        </m:e>
                        <m:sup>
                          <m:r>
                            <a:rPr lang="lv-LV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lv-LV" i="1" dirty="0">
                          <a:latin typeface="Cambria Math" panose="02040503050406030204" pitchFamily="18" charset="0"/>
                        </a:rPr>
                        <m:t>−2⋅</m:t>
                      </m:r>
                      <m:sSup>
                        <m:sSupPr>
                          <m:ctrlPr>
                            <a:rPr lang="lv-LV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lv-LV" i="1" dirty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8924DBA-9B5C-44A6-A83B-1E9604A053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013" y="5784796"/>
                <a:ext cx="3291607" cy="369332"/>
              </a:xfrm>
              <a:prstGeom prst="rect">
                <a:avLst/>
              </a:prstGeom>
              <a:blipFill>
                <a:blip r:embed="rId1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FDF46BA-F1DE-48F8-A08B-3FEFD144E1CE}"/>
                  </a:ext>
                </a:extLst>
              </p:cNvPr>
              <p:cNvSpPr/>
              <p:nvPr/>
            </p:nvSpPr>
            <p:spPr>
              <a:xfrm>
                <a:off x="8638012" y="6086663"/>
                <a:ext cx="346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lv-LV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lv-LV" i="1" dirty="0">
                          <a:latin typeface="Cambria Math" panose="02040503050406030204" pitchFamily="18" charset="0"/>
                        </a:rPr>
                        <m:t>= 10</m:t>
                      </m:r>
                      <m:sSup>
                        <m:sSupPr>
                          <m:ctrlPr>
                            <a:rPr lang="lv-LV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⋅1</m:t>
                          </m:r>
                        </m:e>
                        <m:sup>
                          <m:r>
                            <a:rPr lang="lv-LV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lv-LV" i="1" dirty="0">
                          <a:latin typeface="Cambria Math" panose="02040503050406030204" pitchFamily="18" charset="0"/>
                        </a:rPr>
                        <m:t>−2⋅</m:t>
                      </m:r>
                      <m:sSup>
                        <m:sSupPr>
                          <m:ctrlPr>
                            <a:rPr lang="lv-LV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lv-LV" i="1" dirty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FDF46BA-F1DE-48F8-A08B-3FEFD144E1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012" y="6086663"/>
                <a:ext cx="3464731" cy="369332"/>
              </a:xfrm>
              <a:prstGeom prst="rect">
                <a:avLst/>
              </a:prstGeom>
              <a:blipFill>
                <a:blip r:embed="rId1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71440A5-B254-4E57-AF1D-38108E9CDE96}"/>
                  </a:ext>
                </a:extLst>
              </p:cNvPr>
              <p:cNvSpPr/>
              <p:nvPr/>
            </p:nvSpPr>
            <p:spPr>
              <a:xfrm>
                <a:off x="4984095" y="6404725"/>
                <a:ext cx="327955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lv-LV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lv-LV" i="1" dirty="0">
                          <a:latin typeface="Cambria Math" panose="02040503050406030204" pitchFamily="18" charset="0"/>
                        </a:rPr>
                        <m:t>= 10</m:t>
                      </m:r>
                      <m:sSup>
                        <m:sSupPr>
                          <m:ctrlPr>
                            <a:rPr lang="lv-LV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lv-LV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lv-LV" i="1" dirty="0">
                          <a:latin typeface="Cambria Math" panose="02040503050406030204" pitchFamily="18" charset="0"/>
                        </a:rPr>
                        <m:t>−2⋅</m:t>
                      </m:r>
                      <m:sSup>
                        <m:sSupPr>
                          <m:ctrlPr>
                            <a:rPr lang="lv-LV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lv-LV" i="1" dirty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71440A5-B254-4E57-AF1D-38108E9CDE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095" y="6404725"/>
                <a:ext cx="3279552" cy="369332"/>
              </a:xfrm>
              <a:prstGeom prst="rect">
                <a:avLst/>
              </a:prstGeom>
              <a:blipFill>
                <a:blip r:embed="rId1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492CE69-3FA7-4122-8855-9B1AFE74C238}"/>
                  </a:ext>
                </a:extLst>
              </p:cNvPr>
              <p:cNvSpPr/>
              <p:nvPr/>
            </p:nvSpPr>
            <p:spPr>
              <a:xfrm>
                <a:off x="9873127" y="6390420"/>
                <a:ext cx="4106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492CE69-3FA7-4122-8855-9B1AFE74C2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3127" y="6390420"/>
                <a:ext cx="41068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ECD2B8C-F9A8-49AE-A839-AB61257A5A8F}"/>
                  </a:ext>
                </a:extLst>
              </p:cNvPr>
              <p:cNvSpPr txBox="1"/>
              <p:nvPr/>
            </p:nvSpPr>
            <p:spPr>
              <a:xfrm>
                <a:off x="6726116" y="402005"/>
                <a:ext cx="45596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lv-LV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lv-LV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lv-LV" i="1" dirty="0" smtClean="0">
                          <a:latin typeface="Cambria Math" panose="02040503050406030204" pitchFamily="18" charset="0"/>
                        </a:rPr>
                        <m:t>= 10</m:t>
                      </m:r>
                      <m:sSup>
                        <m:sSupPr>
                          <m:ctrlPr>
                            <a:rPr lang="lv-LV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lv-LV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lv-LV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lv-LV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ECD2B8C-F9A8-49AE-A839-AB61257A5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116" y="402005"/>
                <a:ext cx="4559676" cy="646331"/>
              </a:xfrm>
              <a:prstGeom prst="rect">
                <a:avLst/>
              </a:prstGeom>
              <a:blipFill>
                <a:blip r:embed="rId17"/>
                <a:stretch>
                  <a:fillRect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8E27F3D-A406-4D32-91E8-C301587CE8AF}"/>
              </a:ext>
            </a:extLst>
          </p:cNvPr>
          <p:cNvSpPr txBox="1"/>
          <p:nvPr/>
        </p:nvSpPr>
        <p:spPr>
          <a:xfrm>
            <a:off x="11103157" y="553482"/>
            <a:ext cx="5998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X=0</a:t>
            </a:r>
          </a:p>
          <a:p>
            <a:r>
              <a:rPr lang="en-US" dirty="0"/>
              <a:t>Y=-2</a:t>
            </a:r>
          </a:p>
          <a:p>
            <a:r>
              <a:rPr lang="en-US" dirty="0"/>
              <a:t>Z=7</a:t>
            </a:r>
          </a:p>
        </p:txBody>
      </p:sp>
    </p:spTree>
    <p:extLst>
      <p:ext uri="{BB962C8B-B14F-4D97-AF65-F5344CB8AC3E}">
        <p14:creationId xmlns:p14="http://schemas.microsoft.com/office/powerpoint/2010/main" val="710786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164138-6AFF-487B-8B66-439E2D59F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641" y="904875"/>
            <a:ext cx="7629525" cy="50482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AE06D3-2146-4A9D-8250-7879BCAD7004}"/>
              </a:ext>
            </a:extLst>
          </p:cNvPr>
          <p:cNvSpPr txBox="1"/>
          <p:nvPr/>
        </p:nvSpPr>
        <p:spPr>
          <a:xfrm>
            <a:off x="6096000" y="2294626"/>
            <a:ext cx="1150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000" b="1" dirty="0">
                <a:solidFill>
                  <a:schemeClr val="accent6"/>
                </a:solidFill>
              </a:rPr>
              <a:t>recursive</a:t>
            </a:r>
            <a:endParaRPr lang="en-US" sz="2000" b="1" dirty="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5247DA-C00C-4C42-B983-ADBB9AD2E853}"/>
              </a:ext>
            </a:extLst>
          </p:cNvPr>
          <p:cNvSpPr txBox="1"/>
          <p:nvPr/>
        </p:nvSpPr>
        <p:spPr>
          <a:xfrm>
            <a:off x="7275466" y="1762697"/>
            <a:ext cx="1471044" cy="5640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lv-LV" sz="2000" b="1" dirty="0">
                <a:solidFill>
                  <a:schemeClr val="accent6"/>
                </a:solidFill>
              </a:rPr>
              <a:t>recursively</a:t>
            </a:r>
          </a:p>
          <a:p>
            <a:pPr>
              <a:lnSpc>
                <a:spcPts val="1800"/>
              </a:lnSpc>
            </a:pPr>
            <a:r>
              <a:rPr lang="lv-LV" sz="2000" b="1" dirty="0">
                <a:solidFill>
                  <a:schemeClr val="accent6"/>
                </a:solidFill>
              </a:rPr>
              <a:t>enumerable</a:t>
            </a:r>
            <a:endParaRPr lang="en-US" sz="20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935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2E6745-8727-4B02-907A-6781971FA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60" y="1503557"/>
            <a:ext cx="4314825" cy="4476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569948-4100-4EF8-87D8-9898009F9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84" y="2151257"/>
            <a:ext cx="2324100" cy="4000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A9256E-7C5D-4107-80E8-2B2AA5A28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235" y="2151257"/>
            <a:ext cx="5810250" cy="1133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541AE5-0AB8-4038-8AE6-1BB35397E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4282" y="3284732"/>
            <a:ext cx="6238875" cy="321945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C9F9170-B548-462B-A84D-1449878DC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 decidable problem</a:t>
            </a:r>
          </a:p>
        </p:txBody>
      </p:sp>
    </p:spTree>
    <p:extLst>
      <p:ext uri="{BB962C8B-B14F-4D97-AF65-F5344CB8AC3E}">
        <p14:creationId xmlns:p14="http://schemas.microsoft.com/office/powerpoint/2010/main" val="1985736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5D5D-773D-43B1-9ACA-BBDCB7886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 decidable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881C77-230D-4AF8-9672-9543D9A21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036" y="1782433"/>
            <a:ext cx="3248025" cy="342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33D026-5600-4D24-B75D-D88D939D3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08849"/>
            <a:ext cx="2400300" cy="30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10B439-B746-45B6-8EB5-8DE7CD724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720" y="3514725"/>
            <a:ext cx="6286500" cy="2571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081805-6612-4FD0-B559-C5A9B413D7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915" y="463220"/>
            <a:ext cx="4038600" cy="263842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0556A05-F8EF-402A-A5F5-3122C09E02A6}"/>
              </a:ext>
            </a:extLst>
          </p:cNvPr>
          <p:cNvSpPr/>
          <p:nvPr/>
        </p:nvSpPr>
        <p:spPr>
          <a:xfrm>
            <a:off x="9693215" y="1173192"/>
            <a:ext cx="235789" cy="232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E0409D-DE4F-404E-8B5D-748559EB0C78}"/>
              </a:ext>
            </a:extLst>
          </p:cNvPr>
          <p:cNvSpPr/>
          <p:nvPr/>
        </p:nvSpPr>
        <p:spPr>
          <a:xfrm>
            <a:off x="10734136" y="1574231"/>
            <a:ext cx="235789" cy="232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85F8C39-5B86-4315-AF4F-C02D7DBA95D0}"/>
              </a:ext>
            </a:extLst>
          </p:cNvPr>
          <p:cNvSpPr/>
          <p:nvPr/>
        </p:nvSpPr>
        <p:spPr>
          <a:xfrm>
            <a:off x="8526581" y="1632460"/>
            <a:ext cx="235789" cy="232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F7AAAF-50A7-436D-9738-0C8BF1CEFEFE}"/>
              </a:ext>
            </a:extLst>
          </p:cNvPr>
          <p:cNvSpPr/>
          <p:nvPr/>
        </p:nvSpPr>
        <p:spPr>
          <a:xfrm>
            <a:off x="10708257" y="2580690"/>
            <a:ext cx="235789" cy="232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5A6A4C2-CC75-4632-84BE-B3569B2F52F8}"/>
              </a:ext>
            </a:extLst>
          </p:cNvPr>
          <p:cNvSpPr/>
          <p:nvPr/>
        </p:nvSpPr>
        <p:spPr>
          <a:xfrm>
            <a:off x="8526580" y="2626969"/>
            <a:ext cx="235789" cy="232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8D9071-840F-4723-BBA6-5EE938CD33A0}"/>
              </a:ext>
            </a:extLst>
          </p:cNvPr>
          <p:cNvSpPr/>
          <p:nvPr/>
        </p:nvSpPr>
        <p:spPr>
          <a:xfrm>
            <a:off x="7806905" y="1173192"/>
            <a:ext cx="1242203" cy="8798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299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81A77A-FA83-4CFA-9C6C-900314267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96" y="2370198"/>
            <a:ext cx="4867275" cy="4667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2D9F59-68EA-4256-B642-8068A8028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434" y="3357337"/>
            <a:ext cx="2286000" cy="40957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721E0D3-B834-43F0-9A57-44AB51269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An undecidable problem</a:t>
            </a:r>
          </a:p>
        </p:txBody>
      </p:sp>
    </p:spTree>
    <p:extLst>
      <p:ext uri="{BB962C8B-B14F-4D97-AF65-F5344CB8AC3E}">
        <p14:creationId xmlns:p14="http://schemas.microsoft.com/office/powerpoint/2010/main" val="2150834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81A77A-FA83-4CFA-9C6C-900314267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97" y="584529"/>
            <a:ext cx="4867275" cy="4667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2D9F59-68EA-4256-B642-8068A8028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97" y="1157601"/>
            <a:ext cx="2286000" cy="4095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039A25-22C0-4A75-A54B-760A4F71A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272" y="1827743"/>
            <a:ext cx="2952750" cy="400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DD1B4A-3913-4881-9D71-BACFE3D85D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906" y="2427885"/>
            <a:ext cx="8010525" cy="1381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CE8680-D01F-435D-BF97-34BAA7B106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906" y="3916842"/>
            <a:ext cx="6372225" cy="904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FA8812-C9F9-40AE-997E-2BD654629E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906" y="5086036"/>
            <a:ext cx="622935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1452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34" y="294569"/>
            <a:ext cx="3695700" cy="323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8" y="1078353"/>
            <a:ext cx="6296025" cy="16097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" y="2965626"/>
            <a:ext cx="6400800" cy="2219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462500"/>
            <a:ext cx="6401693" cy="12574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6296" y="1245040"/>
            <a:ext cx="3800475" cy="6381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6296" y="3484738"/>
            <a:ext cx="3619500" cy="5905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0319" y="5462500"/>
            <a:ext cx="5671681" cy="4762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0246" y="7294"/>
            <a:ext cx="268605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718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Diagonalization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6353175" cy="2019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565658"/>
            <a:ext cx="5534025" cy="24860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175" y="3138996"/>
            <a:ext cx="6600825" cy="3543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72" y="4192588"/>
            <a:ext cx="6334125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3274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34025" cy="24860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93" y="2787340"/>
            <a:ext cx="5124450" cy="25050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350" y="1831316"/>
            <a:ext cx="6343650" cy="46101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2563" y="508440"/>
            <a:ext cx="3800475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621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721E0D3-B834-43F0-9A57-44AB51269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Halting problem</a:t>
            </a:r>
          </a:p>
        </p:txBody>
      </p:sp>
    </p:spTree>
    <p:extLst>
      <p:ext uri="{BB962C8B-B14F-4D97-AF65-F5344CB8AC3E}">
        <p14:creationId xmlns:p14="http://schemas.microsoft.com/office/powerpoint/2010/main" val="3855882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" y="128587"/>
            <a:ext cx="55721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873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535" y="4352924"/>
            <a:ext cx="5910114" cy="23907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2" y="128587"/>
            <a:ext cx="5572125" cy="5048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" y="1128712"/>
            <a:ext cx="2505075" cy="8667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41" y="2419350"/>
            <a:ext cx="6209365" cy="2514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981575"/>
            <a:ext cx="6238406" cy="16546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986454" y="679792"/>
                <a:ext cx="45618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lv-LV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v-LV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lv-LV" i="1">
                              <a:latin typeface="Cambria Math" panose="02040503050406030204" pitchFamily="18" charset="0"/>
                            </a:rPr>
                            <m:t>𝑇𝑀</m:t>
                          </m:r>
                        </m:sub>
                      </m:sSub>
                      <m:r>
                        <a:rPr lang="lv-LV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lv-LV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lv-LV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lv-LV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lv-LV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lv-LV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lv-LV" i="1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lv-LV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lv-LV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lv-LV">
                              <a:latin typeface="Cambria Math" panose="02040503050406030204" pitchFamily="18" charset="0"/>
                            </a:rPr>
                            <m:t>is</m:t>
                          </m:r>
                          <m:r>
                            <m:rPr>
                              <m:nor/>
                            </m:rPr>
                            <a:rPr lang="lv-LV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lv-LV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lv-LV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lv-LV">
                              <a:latin typeface="Cambria Math" panose="02040503050406030204" pitchFamily="18" charset="0"/>
                            </a:rPr>
                            <m:t>TM</m:t>
                          </m:r>
                          <m:r>
                            <m:rPr>
                              <m:nor/>
                            </m:rPr>
                            <a:rPr lang="lv-LV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lv-LV">
                              <a:latin typeface="Cambria Math" panose="02040503050406030204" pitchFamily="18" charset="0"/>
                            </a:rPr>
                            <m:t>and</m:t>
                          </m:r>
                          <m:r>
                            <m:rPr>
                              <m:nor/>
                            </m:rPr>
                            <a:rPr lang="lv-LV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lv-LV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lv-LV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lv-LV">
                              <a:latin typeface="Cambria Math" panose="02040503050406030204" pitchFamily="18" charset="0"/>
                            </a:rPr>
                            <m:t>accepts</m:t>
                          </m:r>
                          <m:r>
                            <m:rPr>
                              <m:nor/>
                            </m:rPr>
                            <a:rPr lang="lv-LV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lv-LV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454" y="679792"/>
                <a:ext cx="4561890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7415607" y="1216376"/>
                <a:ext cx="339548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lv-LV" dirty="0"/>
                  <a:t>Recall </a:t>
                </a:r>
                <a:r>
                  <a:rPr lang="lv-LV" dirty="0" err="1"/>
                  <a:t>that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lv-LV" dirty="0"/>
                  <a:t> </a:t>
                </a:r>
                <a:r>
                  <a:rPr lang="lv-LV" dirty="0" err="1"/>
                  <a:t>was</a:t>
                </a:r>
                <a:r>
                  <a:rPr lang="lv-LV" dirty="0"/>
                  <a:t> </a:t>
                </a:r>
                <a:r>
                  <a:rPr lang="lv-LV" dirty="0" err="1"/>
                  <a:t>not</a:t>
                </a:r>
                <a:r>
                  <a:rPr lang="lv-LV" dirty="0"/>
                  <a:t> </a:t>
                </a:r>
                <a:r>
                  <a:rPr lang="lv-LV" dirty="0" err="1"/>
                  <a:t>decidable</a:t>
                </a:r>
                <a:endParaRPr lang="lv-LV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607" y="1216376"/>
                <a:ext cx="3395481" cy="369332"/>
              </a:xfrm>
              <a:prstGeom prst="rect">
                <a:avLst/>
              </a:prstGeom>
              <a:blipFill>
                <a:blip r:embed="rId8"/>
                <a:stretch>
                  <a:fillRect l="-1436" t="-10000" r="-107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3943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19B357-E374-498C-8AFA-90F43DEC9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92" y="1366720"/>
            <a:ext cx="7648575" cy="1514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3584B2-DA4E-4DA1-BAE1-1F5FCF448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80" y="2743082"/>
            <a:ext cx="6019800" cy="276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0386A5-F7D2-4941-94A3-0590BF457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77" y="3571757"/>
            <a:ext cx="7591425" cy="1371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DFD238-CDF7-43FF-BD5F-93E2BBD12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325" y="4947669"/>
            <a:ext cx="4819650" cy="285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24B7B7-930A-4EBC-B4D0-B5667CBEEBA0}"/>
                  </a:ext>
                </a:extLst>
              </p:cNvPr>
              <p:cNvSpPr txBox="1"/>
              <p:nvPr/>
            </p:nvSpPr>
            <p:spPr>
              <a:xfrm>
                <a:off x="8998241" y="1518217"/>
                <a:ext cx="22113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accepts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lv-LV" dirty="0"/>
              </a:p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24B7B7-930A-4EBC-B4D0-B5667CBEE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8241" y="1518217"/>
                <a:ext cx="2211375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0428E4-BEA3-408A-86FE-1D7C12CD4F7C}"/>
                  </a:ext>
                </a:extLst>
              </p:cNvPr>
              <p:cNvSpPr txBox="1"/>
              <p:nvPr/>
            </p:nvSpPr>
            <p:spPr>
              <a:xfrm>
                <a:off x="8061510" y="2208779"/>
                <a:ext cx="413049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either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rejects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loops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on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lv-LV" dirty="0"/>
              </a:p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lv-LV" dirty="0"/>
                  <a:t> or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lv-LV" dirty="0"/>
                  <a:t> is undefined</a:t>
                </a:r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0428E4-BEA3-408A-86FE-1D7C12CD4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510" y="2208779"/>
                <a:ext cx="4130490" cy="646331"/>
              </a:xfrm>
              <a:prstGeom prst="rect">
                <a:avLst/>
              </a:prstGeom>
              <a:blipFill rotWithShape="0">
                <a:blip r:embed="rId7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93657A-218E-466A-B7CA-73D185350CC6}"/>
                  </a:ext>
                </a:extLst>
              </p:cNvPr>
              <p:cNvSpPr txBox="1"/>
              <p:nvPr/>
            </p:nvSpPr>
            <p:spPr>
              <a:xfrm>
                <a:off x="8528648" y="3835880"/>
                <a:ext cx="22113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accepts</m:t>
                      </m:r>
                      <m:r>
                        <m:rPr>
                          <m:nor/>
                        </m:rPr>
                        <a:rPr lang="lv-LV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lv-LV" dirty="0"/>
              </a:p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793657A-218E-466A-B7CA-73D185350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8648" y="3835880"/>
                <a:ext cx="2211375" cy="64633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09DF14-EC98-40EE-8F4F-B947F7B77293}"/>
                  </a:ext>
                </a:extLst>
              </p:cNvPr>
              <p:cNvSpPr txBox="1"/>
              <p:nvPr/>
            </p:nvSpPr>
            <p:spPr>
              <a:xfrm>
                <a:off x="8537411" y="4460527"/>
                <a:ext cx="210615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rejects</m:t>
                    </m:r>
                    <m:r>
                      <m:rPr>
                        <m:nor/>
                      </m:rPr>
                      <a:rPr lang="lv-LV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lv-LV" dirty="0"/>
              </a:p>
              <a:p>
                <a:r>
                  <a:rPr lang="lv-LV" b="0" dirty="0"/>
                  <a:t>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209DF14-EC98-40EE-8F4F-B947F7B77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7411" y="4460527"/>
                <a:ext cx="2106154" cy="64633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67952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01" y="0"/>
            <a:ext cx="9544050" cy="10953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76" y="2606035"/>
            <a:ext cx="9515475" cy="15430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464733" y="1456267"/>
                <a:ext cx="3589957" cy="9562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lv-LV" i="1" dirty="0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,0,00,101,…}</m:t>
                      </m:r>
                    </m:oMath>
                  </m:oMathPara>
                </a14:m>
                <a:endParaRPr lang="lv-LV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lv-LV" b="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lv-LV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lv-LV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lv-LV" b="0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={1,01,10,11,000,…}</m:t>
                      </m:r>
                    </m:oMath>
                  </m:oMathPara>
                </a14:m>
                <a:endParaRPr lang="lv-LV" dirty="0"/>
              </a:p>
              <a:p>
                <a:endParaRPr lang="lv-LV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4733" y="1456267"/>
                <a:ext cx="3589957" cy="9562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54128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4463" y="1554053"/>
            <a:ext cx="8265065" cy="4351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96" y="94891"/>
            <a:ext cx="9544050" cy="1095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618932" y="2237415"/>
                <a:ext cx="1320105" cy="4019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∪</m:t>
                      </m:r>
                      <m:bar>
                        <m:barPr>
                          <m:pos m:val="top"/>
                          <m:ctrlPr>
                            <a:rPr lang="lv-LV" b="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lv-LV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lv-LV" b="0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lv-LV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8932" y="2237415"/>
                <a:ext cx="1320105" cy="40197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338733" y="3005667"/>
                <a:ext cx="2558329" cy="424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lv-LV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bar>
                            <m:barPr>
                              <m:pos m:val="top"/>
                              <m:ctrlPr>
                                <a:rPr lang="lv-LV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lv-LV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8733" y="3005667"/>
                <a:ext cx="2558329" cy="42421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49926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20" y="3029848"/>
            <a:ext cx="9610725" cy="26098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938867" y="1092200"/>
                <a:ext cx="27907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lv-LV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lv-LV" i="1" dirty="0" smtClean="0"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lv-LV" dirty="0"/>
                  <a:t> </a:t>
                </a:r>
                <a:r>
                  <a:rPr lang="en-US" dirty="0"/>
                  <a:t>is</a:t>
                </a:r>
                <a:r>
                  <a:rPr lang="lv-LV" dirty="0"/>
                  <a:t> </a:t>
                </a:r>
                <a:r>
                  <a:rPr lang="lv-LV" dirty="0" err="1"/>
                  <a:t>not</a:t>
                </a:r>
                <a:r>
                  <a:rPr lang="lv-LV" dirty="0"/>
                  <a:t> </a:t>
                </a:r>
                <a:r>
                  <a:rPr lang="lv-LV" dirty="0" err="1"/>
                  <a:t>Turing-decidable</a:t>
                </a:r>
                <a:endParaRPr lang="lv-LV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867" y="1092200"/>
                <a:ext cx="2790700" cy="369332"/>
              </a:xfrm>
              <a:prstGeom prst="rect">
                <a:avLst/>
              </a:prstGeom>
              <a:blipFill>
                <a:blip r:embed="rId3"/>
                <a:stretch>
                  <a:fillRect t="-8197" r="-152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989745" y="1720716"/>
                <a:ext cx="26889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lv-LV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lv-LV" i="1" dirty="0" smtClean="0"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lv-LV" dirty="0"/>
                  <a:t> </a:t>
                </a:r>
                <a:r>
                  <a:rPr lang="en-US" dirty="0"/>
                  <a:t>i</a:t>
                </a:r>
                <a:r>
                  <a:rPr lang="lv-LV" dirty="0"/>
                  <a:t>s </a:t>
                </a:r>
                <a:r>
                  <a:rPr lang="lv-LV" dirty="0" err="1"/>
                  <a:t>Turing-recognizable</a:t>
                </a:r>
                <a:endParaRPr lang="lv-LV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745" y="1720716"/>
                <a:ext cx="2688941" cy="369332"/>
              </a:xfrm>
              <a:prstGeom prst="rect">
                <a:avLst/>
              </a:prstGeom>
              <a:blipFill>
                <a:blip r:embed="rId4"/>
                <a:stretch>
                  <a:fillRect t="-8197" r="-158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3696" y="934584"/>
            <a:ext cx="5964637" cy="68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39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2028</Words>
  <Application>Microsoft Office PowerPoint</Application>
  <PresentationFormat>Widescreen</PresentationFormat>
  <Paragraphs>1092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Office Theme</vt:lpstr>
      <vt:lpstr>Theory of Algorithms</vt:lpstr>
      <vt:lpstr>Undecidability</vt:lpstr>
      <vt:lpstr>Sizes of sets</vt:lpstr>
      <vt:lpstr>Enumerating pairs of numbers</vt:lpstr>
      <vt:lpstr>Enumerating pairs of numbers</vt:lpstr>
      <vt:lpstr>Enumerating pairs of numbers</vt:lpstr>
      <vt:lpstr>Enumerating rational numbers</vt:lpstr>
      <vt:lpstr>Enumerating rational numbers</vt:lpstr>
      <vt:lpstr>Enumerating rational numbers</vt:lpstr>
      <vt:lpstr>Enumerating rational numbers</vt:lpstr>
      <vt:lpstr>Enumerating triplets</vt:lpstr>
      <vt:lpstr>Enumerating triplets</vt:lpstr>
      <vt:lpstr>Enumerating triplets</vt:lpstr>
      <vt:lpstr>Enumerating arbitrary-sized tuples</vt:lpstr>
      <vt:lpstr>Enumerating arbitrary-sized tuples</vt:lpstr>
      <vt:lpstr>Enumerating arbitrary-sized tuples</vt:lpstr>
      <vt:lpstr>Enumerating Turing machines</vt:lpstr>
      <vt:lpstr>Enumerating real numbers and languages</vt:lpstr>
      <vt:lpstr>PowerPoint Presentation</vt:lpstr>
      <vt:lpstr>Implications</vt:lpstr>
      <vt:lpstr>PowerPoint Presentation</vt:lpstr>
      <vt:lpstr>PowerPoint Presentation</vt:lpstr>
      <vt:lpstr>A decidable problem</vt:lpstr>
      <vt:lpstr>A decidable problem</vt:lpstr>
      <vt:lpstr>An undecidable problem</vt:lpstr>
      <vt:lpstr>PowerPoint Presentation</vt:lpstr>
      <vt:lpstr>PowerPoint Presentation</vt:lpstr>
      <vt:lpstr>Diagonalization</vt:lpstr>
      <vt:lpstr>PowerPoint Presentation</vt:lpstr>
      <vt:lpstr>Halting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Algorithms</dc:title>
  <dc:creator>Kaspars</dc:creator>
  <cp:lastModifiedBy>kingdel</cp:lastModifiedBy>
  <cp:revision>38</cp:revision>
  <dcterms:created xsi:type="dcterms:W3CDTF">2021-03-02T04:59:17Z</dcterms:created>
  <dcterms:modified xsi:type="dcterms:W3CDTF">2024-03-26T18:50:32Z</dcterms:modified>
</cp:coreProperties>
</file>